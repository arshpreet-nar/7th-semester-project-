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b35ac005140d3" /><Relationship Type="http://schemas.openxmlformats.org/officeDocument/2006/relationships/extended-properties" Target="/docProps/app.xml" Id="R82ceefe10a9b4b87" /><Relationship Type="http://schemas.openxmlformats.org/officeDocument/2006/relationships/officeDocument" Target="/ppt/presentation.xml" Id="R6d6b77fedd62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f073bdf08457c"/>
  </p:sldMasterIdLst>
  <p:notesMasterIdLst>
    <p:notesMasterId xmlns:r="http://schemas.openxmlformats.org/officeDocument/2006/relationships" r:id="R2e3994d304d54d72"/>
  </p:notesMasterIdLst>
  <p:sldIdLst>
    <p:sldId xmlns:r="http://schemas.openxmlformats.org/officeDocument/2006/relationships" id="256" r:id="R649fbbaeab934e38"/>
    <p:sldId xmlns:r="http://schemas.openxmlformats.org/officeDocument/2006/relationships" id="257" r:id="R3d6ef34fa4444e4e"/>
    <p:sldId xmlns:r="http://schemas.openxmlformats.org/officeDocument/2006/relationships" id="258" r:id="Rb532ef352bbc40d3"/>
    <p:sldId xmlns:r="http://schemas.openxmlformats.org/officeDocument/2006/relationships" id="259" r:id="Rdf5458c685e142e2"/>
    <p:sldId xmlns:r="http://schemas.openxmlformats.org/officeDocument/2006/relationships" id="260" r:id="Rc50c126f47904430"/>
    <p:sldId xmlns:r="http://schemas.openxmlformats.org/officeDocument/2006/relationships" id="261" r:id="R204ad3ac3bdb4251"/>
    <p:sldId xmlns:r="http://schemas.openxmlformats.org/officeDocument/2006/relationships" id="262" r:id="R09c241c3bae84728"/>
    <p:sldId xmlns:r="http://schemas.openxmlformats.org/officeDocument/2006/relationships" id="263" r:id="R79bb8fcde5f74c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ba0042756c4b91" /><Relationship Type="http://schemas.openxmlformats.org/officeDocument/2006/relationships/slideMaster" Target="/ppt/slideMasters/slideMaster1.xml" Id="Re63f073bdf08457c" /><Relationship Type="http://schemas.openxmlformats.org/officeDocument/2006/relationships/notesMaster" Target="/ppt/notesMasters/notesMaster1.xml" Id="R2e3994d304d54d72" /><Relationship Type="http://schemas.openxmlformats.org/officeDocument/2006/relationships/presProps" Target="/ppt/presProps.xml" Id="R49e8ed8aac3d4f8b" /><Relationship Type="http://schemas.openxmlformats.org/officeDocument/2006/relationships/tableStyles" Target="/ppt/tableStyles.xml" Id="R1539b960a68f45cb" /><Relationship Type="http://schemas.openxmlformats.org/officeDocument/2006/relationships/slide" Target="/ppt/slides/slide1.xml" Id="R649fbbaeab934e38" /><Relationship Type="http://schemas.openxmlformats.org/officeDocument/2006/relationships/slide" Target="/ppt/slides/slide2.xml" Id="R3d6ef34fa4444e4e" /><Relationship Type="http://schemas.openxmlformats.org/officeDocument/2006/relationships/slide" Target="/ppt/slides/slide3.xml" Id="Rb532ef352bbc40d3" /><Relationship Type="http://schemas.openxmlformats.org/officeDocument/2006/relationships/slide" Target="/ppt/slides/slide4.xml" Id="Rdf5458c685e142e2" /><Relationship Type="http://schemas.openxmlformats.org/officeDocument/2006/relationships/slide" Target="/ppt/slides/slide5.xml" Id="Rc50c126f47904430" /><Relationship Type="http://schemas.openxmlformats.org/officeDocument/2006/relationships/slide" Target="/ppt/slides/slide6.xml" Id="R204ad3ac3bdb4251" /><Relationship Type="http://schemas.openxmlformats.org/officeDocument/2006/relationships/slide" Target="/ppt/slides/slide7.xml" Id="R09c241c3bae84728" /><Relationship Type="http://schemas.openxmlformats.org/officeDocument/2006/relationships/slide" Target="/ppt/slides/slide8.xml" Id="R79bb8fcde5f7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ea64fa644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6721b0eba4903" /><Relationship Type="http://schemas.openxmlformats.org/officeDocument/2006/relationships/notesMaster" Target="/ppt/notesMasters/notesMaster1.xml" Id="R311cc025ce7f4b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a0d810c2b4b6a" /><Relationship Type="http://schemas.openxmlformats.org/officeDocument/2006/relationships/notesMaster" Target="/ppt/notesMasters/notesMaster1.xml" Id="Rb8251f69cf66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031e880394397" /><Relationship Type="http://schemas.openxmlformats.org/officeDocument/2006/relationships/notesMaster" Target="/ppt/notesMasters/notesMaster1.xml" Id="R7ed53297881d46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73608665764a73" /><Relationship Type="http://schemas.openxmlformats.org/officeDocument/2006/relationships/notesMaster" Target="/ppt/notesMasters/notesMaster1.xml" Id="R8ba8d23a69874e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00ca0ee5d4667" /><Relationship Type="http://schemas.openxmlformats.org/officeDocument/2006/relationships/notesMaster" Target="/ppt/notesMasters/notesMaster1.xml" Id="R496f4be941ad4f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d08d8ee0ee4a45" /><Relationship Type="http://schemas.openxmlformats.org/officeDocument/2006/relationships/notesMaster" Target="/ppt/notesMasters/notesMaster1.xml" Id="R066c9654034b47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3aa24744a45f6" /><Relationship Type="http://schemas.openxmlformats.org/officeDocument/2006/relationships/notesMaster" Target="/ppt/notesMasters/notesMaster1.xml" Id="Rc335c3ceda3a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ef48fabed4895" /><Relationship Type="http://schemas.openxmlformats.org/officeDocument/2006/relationships/notesMaster" Target="/ppt/notesMasters/notesMaster1.xml" Id="R0ab55b2e5768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dataset samples and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Image source: project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garbage_classification_model.ipynb. The notebook uses MobileNetV2, data augmentation, class weights, EarlyStopping, and ReduceLROnPlateau.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models/training_history.png. Validation dataset count comes from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Example image source: garbage_classification/testing/paper.jpg.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render.yaml, runtime.txt, .python-version, Procfile, requirements.txt,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 build log supplied for this project, render.yaml, runtime.txt, .python-version,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86b7d8a004c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b0f48e43442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5c98b0ba049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a1773a0cd46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f2d69182b41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0e22d9509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01CD4-A227-4F8F-A67E-373070233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5C7E2C-CD25-4BA4-9FF9-AEAA1B553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95D2FE-2EB7-4283-870F-EAA124B74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59ABA0-F243-44C9-974F-962B35D6F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6877BF-9FED-49D5-9D8B-3CBBBE14A3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33867D-4BFA-4334-B5DC-38817EC94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DF58CE-95D0-4E07-99EA-BCF1D4044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F005BB-3C5C-4F0F-B381-39C32171E7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9A3150-C3AC-4EC3-BBC6-C847AFB32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CBB75A-D820-4C1D-A056-B869A9C96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ebe5632bd4fe1" /><Relationship Type="http://schemas.openxmlformats.org/officeDocument/2006/relationships/slideLayout" Target="/ppt/slideLayouts/slideLayout1.xml" Id="R22eeb1abed5a4f26" /><Relationship Type="http://schemas.openxmlformats.org/officeDocument/2006/relationships/slideLayout" Target="/ppt/slideLayouts/slideLayout2.xml" Id="Rc93530d4e9184061" /><Relationship Type="http://schemas.openxmlformats.org/officeDocument/2006/relationships/slideLayout" Target="/ppt/slideLayouts/slideLayout3.xml" Id="Rdd506f6136824001" /><Relationship Type="http://schemas.openxmlformats.org/officeDocument/2006/relationships/slideLayout" Target="/ppt/slideLayouts/slideLayout4.xml" Id="Reec08eb2d3894814" /><Relationship Type="http://schemas.openxmlformats.org/officeDocument/2006/relationships/slideLayout" Target="/ppt/slideLayouts/slideLayout5.xml" Id="R202b10beda184572" /><Relationship Type="http://schemas.openxmlformats.org/officeDocument/2006/relationships/slideLayout" Target="/ppt/slideLayouts/slideLayout6.xml" Id="Ra5d2b1d97fc34b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eb1abed5a4f26"/>
    <p:sldLayoutId xmlns:r="http://schemas.openxmlformats.org/officeDocument/2006/relationships" id="2147483650" r:id="Rc93530d4e9184061"/>
    <p:sldLayoutId xmlns:r="http://schemas.openxmlformats.org/officeDocument/2006/relationships" id="2147483651" r:id="Rdd506f6136824001"/>
    <p:sldLayoutId xmlns:r="http://schemas.openxmlformats.org/officeDocument/2006/relationships" id="2147483652" r:id="Reec08eb2d3894814"/>
    <p:sldLayoutId xmlns:r="http://schemas.openxmlformats.org/officeDocument/2006/relationships" id="2147483653" r:id="R202b10beda184572"/>
    <p:sldLayoutId xmlns:r="http://schemas.openxmlformats.org/officeDocument/2006/relationships" id="2147483654" r:id="Ra5d2b1d97fc3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80dd0584f43bd" /><Relationship Type="http://schemas.openxmlformats.org/officeDocument/2006/relationships/image" Target="/ppt/media/image.jpeg" Id="R48482af074ee43b4" /><Relationship Type="http://schemas.openxmlformats.org/officeDocument/2006/relationships/image" Target="/ppt/media/image2.jpeg" Id="R722692fa0a024267" /><Relationship Type="http://schemas.openxmlformats.org/officeDocument/2006/relationships/image" Target="/ppt/media/image3.jpeg" Id="R8e7ee48c714d4f59" /><Relationship Type="http://schemas.openxmlformats.org/officeDocument/2006/relationships/image" Target="/ppt/media/image4.jpeg" Id="R5d03dcadd3ee41d0" /><Relationship Type="http://schemas.openxmlformats.org/officeDocument/2006/relationships/notesSlide" Target="/ppt/notesSlides/notesSlide1.xml" Id="R203a14e80000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07484e7fe4578" /><Relationship Type="http://schemas.openxmlformats.org/officeDocument/2006/relationships/image" Target="/ppt/media/image5.jpeg" Id="R5f1e8fa6c0f64eaf" /><Relationship Type="http://schemas.openxmlformats.org/officeDocument/2006/relationships/notesSlide" Target="/ppt/notesSlides/notesSlide2.xml" Id="Re198efeb12b5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d28feb1fc4504" /><Relationship Type="http://schemas.openxmlformats.org/officeDocument/2006/relationships/chart" Target="/ppt/slides/charts/chart1.xml" Id="R6110264c14694ec0" /><Relationship Type="http://schemas.openxmlformats.org/officeDocument/2006/relationships/notesSlide" Target="/ppt/notesSlides/notesSlide3.xml" Id="R40e9644204bf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b8233407043c4" /><Relationship Type="http://schemas.openxmlformats.org/officeDocument/2006/relationships/image" Target="/ppt/media/image6.jpeg" Id="R6dee69d86f6b47c5" /><Relationship Type="http://schemas.openxmlformats.org/officeDocument/2006/relationships/notesSlide" Target="/ppt/notesSlides/notesSlide4.xml" Id="R80a78b9f3a2d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fef377b3e4379" /><Relationship Type="http://schemas.openxmlformats.org/officeDocument/2006/relationships/image" Target="/ppt/media/image.png" Id="Rd681ddbf466041d9" /><Relationship Type="http://schemas.openxmlformats.org/officeDocument/2006/relationships/notesSlide" Target="/ppt/notesSlides/notesSlide5.xml" Id="R106b904f4897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1a3700ba941a9" /><Relationship Type="http://schemas.openxmlformats.org/officeDocument/2006/relationships/image" Target="/ppt/media/image7.jpeg" Id="Ra18516df8c294d8f" /><Relationship Type="http://schemas.openxmlformats.org/officeDocument/2006/relationships/notesSlide" Target="/ppt/notesSlides/notesSlide6.xml" Id="Rf38cd4775dff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2a806143547b2" /><Relationship Type="http://schemas.openxmlformats.org/officeDocument/2006/relationships/notesSlide" Target="/ppt/notesSlides/notesSlide7.xml" Id="R4a67fec9504d49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1b6c997ed43a4" /><Relationship Type="http://schemas.openxmlformats.org/officeDocument/2006/relationships/notesSlide" Target="/ppt/notesSlides/notesSlide8.xml" Id="Rff7f0753cfcd41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159A8A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5EE"/>
        </a:solidFill>
      </c:spPr>
    </c:plotArea>
    <c:plotVisOnly val="1"/>
  </c:chart>
  <c:spPr>
    <a:solidFill xmlns:a="http://schemas.openxmlformats.org/drawingml/2006/main">
      <a:srgbClr val="F8F5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9B4D9-4BF2-44B8-809B-A0C8420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8A302-6E4A-4FDF-A77F-30596826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3EA79-E03E-490B-A8F1-F98F63A0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DEEP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C3920-C08B-4FED-80CD-3E9FF945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Garbage</a:t>
            </a:r>
          </a:p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7C29F-AFEC-4C46-B694-D1F273A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 classification with MobileNetV2, TensorFlow, Flask, and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40888-5C18-4A22-A6A0-FF6619C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47A6A-B64E-4F4A-8662-DCDD970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waste classes    /    15,515 images    /    94.68% validation accuracy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AC5F-FBDC-43AD-B01E-A173E6B17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2af074ee43b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8AF43-76FF-4EAF-8DB1-BBEC9EE6E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692fa0a024267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CFDC-C1E7-49D1-8D29-8C59D8865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ee48c714d4f59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07D06-084C-45B5-9DDC-FEC1D7C94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3dcadd3ee41d0"/>
          <a:srcRect xmlns:a="http://schemas.openxmlformats.org/drawingml/2006/main" l="14474" t="0" r="14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602188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FA47E-1234-47F7-A3D1-5B8EE5F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A2C11-2EAA-452E-9ECC-C766AD8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Convert a trained waste-classification model into a usable browser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91F8D-0F13-4322-85DC-BFA9398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8E95E-BF0A-4868-9B10-61B8183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project takes a user-uploaded image and identifies the most likely waste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3FBC3-E559-4977-9886-A21969FA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3616-4DE3-4C7C-95CA-F620959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Classify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20D1B-2EFE-4F8E-AA08-9361FD81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Recognize 12 categories, including plastic, glass, paper, metal, shoes, and clothes.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CD057-A4E3-48FB-B6B6-B49F520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28C3D-5773-4AAA-9D59-D8FCAF4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3D670-554C-468C-882F-E8B27CB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Show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3DAB2-8C4C-4855-BA54-A5FFD73E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Return the top five predicted labels so users can judge the model's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4A328-8AF4-4316-BB06-F876E2D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9220B-4083-459A-8205-F8CB56A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F21F4-2654-4E75-BF7F-869E6C53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Make it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D4295-4028-478C-8899-5ADFBE3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Serve saved Keras models through a Flask web application that accepts common image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508F9-E80D-407B-9046-8D2BD35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BB547-583D-4A90-A4D7-1C25D1086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e8fa6c0f64eaf"/>
          <a:srcRect xmlns:a="http://schemas.openxmlformats.org/drawingml/2006/main" l="15567" t="0" r="15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33550"/>
            <a:ext cx="409575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9FA26-DF31-450E-9F17-B404AF6E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E4AB9-8202-459E-84DA-D59D8B6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example: trash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947AF-F3D8-46E5-A666-85905D3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954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4F59D-535D-40A6-B456-B8E78E2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Training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6AF66-0CF7-4E7F-9F48-157F0FC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15,515 labelled images stored in one folder per waste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0BC9F-40AF-4492-8BAD-72B1B0CE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04BE-6C34-4C49-8A3E-2CC2AF6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classes are imbalanced. Class weights were used during training to reduce the influence of overrepresented categories.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87E0A29-A1B8-4A5F-9944-8EEDDD32B97A}"/>
              </a:ext>
            </a:extLst>
          </p:cNvPr>
          <p:cNvGraphicFramePr/>
          <p:nvPr/>
        </p:nvGraphicFramePr>
        <p:xfrm>
          <a:off xmlns:a="http://schemas.openxmlformats.org/drawingml/2006/main" x="742950" y="23431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0264c14694ec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91-DC7A-4F61-A2BA-25D46A7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67684-7A56-44E8-9A69-9068D22B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C5A1F-0388-4A82-BA6A-4D1F6C2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Largest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0BB3E-3D9E-498C-9174-7F044DC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Clothes  5,325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B0AA-6007-4A57-B085-08E40B3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Smallest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AB00-4CCE-4446-9165-D4E4E29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Brown-glass  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07389-4561-4555-886F-1104979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20% of the dataset is reserved for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5D99F-B951-4900-8C79-DDC670F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7908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0F7EE-DB31-4F39-A079-EC74958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Model training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CCAE-4D84-41AB-BAF4-BA68F72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MobileNetV2 transfer learning with augmentation, class weighting, and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0C83E-1C33-427D-B0FE-74769CAD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6361F-1252-48DB-837F-DDFB64AA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66F5-FB2F-4B32-ABA9-95D37E1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60676-678A-4EA9-BD2F-12C423B4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folders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EE591-1FA5-4B3E-B249-057A886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12 labelled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65C07-EC40-4153-B597-5F41A538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D953-15D8-464A-9365-07FBD89A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C89DD-A4A8-4070-908F-0C74B13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24F09-95EA-41D1-A75F-39515DAE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A9A0C-C7A3-4526-94D3-2D386A2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Flip, rotation, zoom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28ACC-F3DB-4406-9627-9818ADB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E20C2-AAB6-4F8E-BA09-2C0A5DCB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B3FA6-DD1A-4D5F-806B-69AE672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32871-4347-4723-8811-4F76284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5463C-CF44-4AD7-A337-68F0B7A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ImageNet base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BFD33-3A38-47B7-9BF6-82FC18F4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63BAB-0BB5-4F42-80F8-76BDE7D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F5ADF-420D-448D-B8A0-796AD92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68553-DF97-4256-B2F7-5019DA6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3BD9C-B420-48F7-9D19-DD6C9C83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Last layers trainable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4D7C0-D803-4BB9-900E-377DE208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588C2-A15E-44A3-957A-0C59789D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CB965-C995-4918-8AFD-7C9DC12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B4B46-AE09-45D9-8AA9-631B79E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Keras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ED47A-A782-4087-882D-34B11CB7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Saved .keras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6F90D-F0F1-452D-8F1C-8F8763E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224 x 224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2FEF3-D4B6-47FF-BD14-9F26F26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input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DA334-867F-4467-9823-07A0ED3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79119-6E67-437F-B75E-AFCDD5F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EC95C-AB98-4221-8D90-4B018D20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+ 5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0DAFA5-356E-4639-9229-B20FAFF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and fine-tune epochs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1B721-C8DF-48CC-9628-D9BA9C43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0FA0E-EA04-4988-ACDC-6262C32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split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53282-119C-4B4A-966C-31F2E1C5A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e69d86f6b47c5"/>
          <a:srcRect xmlns:a="http://schemas.openxmlformats.org/drawingml/2006/main" l="0" t="20120" r="0" b="20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3340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7CE305-33DE-442D-BCED-F92FB62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A73FE8-AC3B-495D-9ACE-82720B8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7604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B739B-2E2C-4CFF-A403-A9B1692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B007-8565-49A0-A8AA-0FED027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best saved model reaches 94.68% validation accuracy with a 0.172 validation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C144D-93B0-4418-B0E8-2E6B1720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6F0DA-B74F-4018-A40F-E6845A53A5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1ddbf466041d9"/>
          <a:stretch xmlns:a="http://schemas.openxmlformats.org/drawingml/2006/main"/>
        </p:blipFill>
        <p:spPr>
          <a:xfrm xmlns:a="http://schemas.openxmlformats.org/drawingml/2006/main">
            <a:off x="533400" y="2308860"/>
            <a:ext cx="6743700" cy="2697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5D68-327E-44D6-AC88-31FB6333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324E7-1AF5-4652-9C6D-88BE8BA7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54807-D864-47F8-B551-DB4A71E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FB30F-070A-477C-95DE-58B1029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A82D1-403B-4E29-93F4-8F531F91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B263-2AF1-45B6-B4F4-C87410C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D1616-C07A-498E-B69A-6C55D29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3,103 validation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705D6-AC11-4634-85BC-654E87A6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history includes 16 recorded epochs.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EAB17-993B-4514-B2E6-F73984D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950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06688-19C8-4F59-B2E1-FE70B10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Web application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0F10D-80CB-4F17-8B3E-9ABC907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Flask loads the saved model once and returns ranked probabilities for every valid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36339-DF95-4376-AAD9-0723FE5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4270-5FF6-41CD-9A9E-149844FBA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516df8c294d8f"/>
          <a:srcRect xmlns:a="http://schemas.openxmlformats.org/drawingml/2006/main" l="0" t="13462" r="0" b="13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2228850" cy="2895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54CFC-1018-4A5F-8EF8-C6D3D39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Example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2CD52-3F8A-47C6-8266-330A649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JPG, PNG, BMP, or WEBP</a:t>
            </a:r>
          </a:p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Maximum file size: 8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8CA73-19C4-4DE5-B586-F801857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2C517-AB6A-4D50-AC73-3D59C63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18B4E-2D9F-4BC3-8249-BE1D37D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71789-D6F4-4EFB-9CAC-BF1F4CA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User chooses an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D46BD-7F50-4EED-8C49-5AA0122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F8DA6-8F73-42EC-AF40-3145763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80DE0-3BDD-4FD9-92CB-9B4B46B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894C-5D56-4229-9AA5-61174B7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92D9-E9E6-42A6-98F0-16A9CACB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Extension and size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3C39D-DC40-4CB5-A168-D87EE1AE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60B3E-0D1E-49E8-B01F-FA19A89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99077-2595-40E3-92F4-BD0BFFA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DD62E-F305-44BD-A1B3-F255ECE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47457-A971-4009-8179-F5E5F12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resize to 224 x 224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B23D0-BEA2-44FA-8CF3-DF46FB5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76973-E017-4789-A17B-2EAB040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AE0EA-0120-404E-8650-D3CA0A8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E7CF0-F78C-4B43-9B1B-BE1D202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3524C-B8A6-4502-A05E-16CD2A2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Keras model returns probabilities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4B823-A180-4022-A894-7C634AC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8608B-C6D8-436B-922A-51F5688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F76E7-8739-4CBD-A2EE-4AC402D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51592-171E-4FD4-85DB-95E5382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0B0EA-6293-44E0-87C5-56F8523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Top five labels and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F8B68-CACD-4974-95B8-0F5CB29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app defaults to best_garbage_classifier.keras and lets the user select either saved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3A4AC-92F2-4C1E-8B3A-F8A2714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032AB-2E02-4C83-AF94-597E16FB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81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Core stack: Flask  |  TensorFlow / Keras  |  Pillow  |  NumPy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31F7C-E86A-4A11-8E90-D41A010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7152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D526-EC74-46A6-A100-1F97807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Live deployment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FD95-5308-4B63-AE7D-B29BA23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repository contains the service definition and start command for a public Python web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6217F-A749-4247-BE7C-670632E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CDD72-3A9A-4920-AFBC-8CDAF4AF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6915-831E-4B89-B23D-EC8F284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E0A7-D24A-466F-B1E7-0491400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5E773-4B9E-4750-984D-3ED4C0E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Source code, models,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1A46E-4F9B-4AF5-B60F-1611F17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3994C-3037-417A-9ACA-E0742A8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CABA5-C1FC-4100-9123-D39BD6B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14670-7A01-4EAA-96FD-69DD921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CE4D-1248-4022-8976-29D61EC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pip install -r requirements.txt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271D4-00E1-403A-96CF-F234478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5E183-1D15-4674-B881-7803C379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FCE6F-E6CF-47E9-937B-00B0FC5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2AF84-DFB8-4A0C-B246-B894791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Gunicorn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41E40-6075-4037-BAC4-CBD45F9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Starts Flask on Render's assigned 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BC07B-4008-48CE-86E2-1AA5C96A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45CFB-31A2-4E1B-AD74-5D446CFC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6EB7B-D7A7-42D2-94CE-395F424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6C73D-E37D-4BB6-8D05-E07622D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Public web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8B111-87A6-4F08-B857-7F938BD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Browser uploads an image for classification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63284-AB7C-4102-9324-9F5B1851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Deployment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8CC30-F804-4263-95AB-A4C1155F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render.yaml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52837-401C-41A4-AF0D-D3DE96A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Defines build command, Gunicorn start command, and Python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7F735-66FA-4128-8559-AB3A67F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runtime.txt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1BEEA-29E8-4330-B426-312D1A1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Records Python 3.11.9 for compatible deployment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A3E15-5035-4AEE-8380-667D60D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.python-version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510D3-EC52-4ABC-9355-5692F1E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Pins the project runtime to Python 3.11.9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F9C8E-48C8-4A42-8DB7-53149F93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Procfile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1B24B-ECF6-496A-A147-186A899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Provides a process command for compatible hosts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6D251-B027-416B-846F-C3C6CEEB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7524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E855E-D622-45EF-967C-4A07CCC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deployment issue and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410CA-0FDD-4AB6-A7BD-947E46C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 Python 3.11.9 because the default Python 3.14.3 build cannot install the requested TensorFlow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127C5-87B0-4FEF-B462-D5FF152D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12C2B-D7FB-47AF-9D85-24455A0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F6A88-7A32-4D2D-8321-F274BA9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the build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B4956-F5FF-40E6-8307-1EA4A58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selected Python 3.14.3 by default. The package installer then reported that no compatible tensorflow&gt;=2.15 distribution was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9C5A5-66C1-4C8A-A895-DAC93E8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Observed build error:</a:t>
            </a:r>
          </a:p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No matching distribution found for tensorflow&gt;=2.15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3EF04-63BD-40A5-A709-6282E496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314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A1660-F15F-4D15-9811-616E7D2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Configured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D077-D809-43AD-A1E0-1EA4120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1. Set the Render environment variable PYTHON_VERSION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2. Keep runtime.txt and .python-version set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3. Clear the build cache, then deploy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F6385-92E2-4380-85D2-F7DEEE3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73815-3CA4-40A0-B18F-A5D5A4F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result after redeploy: TensorFlow installs on Python 3.11.9, and Gunicorn starts the Flask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CFB06-9857-4E4A-9FEF-094E7E0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6017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2026-10-11T18:52:49.1870000Z</dcterms:created>
  <dcterms:modified xsi:type="dcterms:W3CDTF">2026-10-11T18:52:49.1880000Z</dcterms:modified>
</coreProperties>
</file>