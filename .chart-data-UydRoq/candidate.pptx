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c0e1f540a174fb2" /><Relationship Type="http://schemas.openxmlformats.org/officeDocument/2006/relationships/extended-properties" Target="/docProps/app.xml" Id="Rc2c03afa747a4db0" /><Relationship Type="http://schemas.openxmlformats.org/officeDocument/2006/relationships/officeDocument" Target="/ppt/presentation.xml" Id="Ra8fe0b2bd871421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5905cd1c01740c1"/>
  </p:sldMasterIdLst>
  <p:notesMasterIdLst>
    <p:notesMasterId xmlns:r="http://schemas.openxmlformats.org/officeDocument/2006/relationships" r:id="R2f1a4fb652414610"/>
  </p:notesMasterIdLst>
  <p:sldIdLst>
    <p:sldId xmlns:r="http://schemas.openxmlformats.org/officeDocument/2006/relationships" id="256" r:id="R60a740c54e0c4ad2"/>
    <p:sldId xmlns:r="http://schemas.openxmlformats.org/officeDocument/2006/relationships" id="257" r:id="Re10419d12a914db3"/>
    <p:sldId xmlns:r="http://schemas.openxmlformats.org/officeDocument/2006/relationships" id="258" r:id="R72ec18973a074658"/>
    <p:sldId xmlns:r="http://schemas.openxmlformats.org/officeDocument/2006/relationships" id="259" r:id="Rec6a7130f9e44e16"/>
    <p:sldId xmlns:r="http://schemas.openxmlformats.org/officeDocument/2006/relationships" id="260" r:id="R3f37feb9022b42c1"/>
    <p:sldId xmlns:r="http://schemas.openxmlformats.org/officeDocument/2006/relationships" id="261" r:id="R154405cf8ce24238"/>
    <p:sldId xmlns:r="http://schemas.openxmlformats.org/officeDocument/2006/relationships" id="262" r:id="R4c142bd246e64b6f"/>
    <p:sldId xmlns:r="http://schemas.openxmlformats.org/officeDocument/2006/relationships" id="263" r:id="R8240f2dcb013499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a2ce8afe39a42be" /><Relationship Type="http://schemas.openxmlformats.org/officeDocument/2006/relationships/slideMaster" Target="/ppt/slideMasters/slideMaster1.xml" Id="R35905cd1c01740c1" /><Relationship Type="http://schemas.openxmlformats.org/officeDocument/2006/relationships/notesMaster" Target="/ppt/notesMasters/notesMaster1.xml" Id="R2f1a4fb652414610" /><Relationship Type="http://schemas.openxmlformats.org/officeDocument/2006/relationships/presProps" Target="/ppt/presProps.xml" Id="Rba2c40fbfae346dd" /><Relationship Type="http://schemas.openxmlformats.org/officeDocument/2006/relationships/tableStyles" Target="/ppt/tableStyles.xml" Id="Rc353d008958c47e5" /><Relationship Type="http://schemas.openxmlformats.org/officeDocument/2006/relationships/slide" Target="/ppt/slides/slide1.xml" Id="R60a740c54e0c4ad2" /><Relationship Type="http://schemas.openxmlformats.org/officeDocument/2006/relationships/slide" Target="/ppt/slides/slide2.xml" Id="Re10419d12a914db3" /><Relationship Type="http://schemas.openxmlformats.org/officeDocument/2006/relationships/slide" Target="/ppt/slides/slide3.xml" Id="R72ec18973a074658" /><Relationship Type="http://schemas.openxmlformats.org/officeDocument/2006/relationships/slide" Target="/ppt/slides/slide4.xml" Id="Rec6a7130f9e44e16" /><Relationship Type="http://schemas.openxmlformats.org/officeDocument/2006/relationships/slide" Target="/ppt/slides/slide5.xml" Id="R3f37feb9022b42c1" /><Relationship Type="http://schemas.openxmlformats.org/officeDocument/2006/relationships/slide" Target="/ppt/slides/slide6.xml" Id="R154405cf8ce24238" /><Relationship Type="http://schemas.openxmlformats.org/officeDocument/2006/relationships/slide" Target="/ppt/slides/slide7.xml" Id="R4c142bd246e64b6f" /><Relationship Type="http://schemas.openxmlformats.org/officeDocument/2006/relationships/slide" Target="/ppt/slides/slide8.xml" Id="R8240f2dcb013499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0090fe2f604461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f56becffc3a4353" /><Relationship Type="http://schemas.openxmlformats.org/officeDocument/2006/relationships/notesMaster" Target="/ppt/notesMasters/notesMaster1.xml" Id="R618ee1a88a324d3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8f6ab59f8b34c98" /><Relationship Type="http://schemas.openxmlformats.org/officeDocument/2006/relationships/notesMaster" Target="/ppt/notesMasters/notesMaster1.xml" Id="Re184dc3ac7074b5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a710f378953471a" /><Relationship Type="http://schemas.openxmlformats.org/officeDocument/2006/relationships/notesMaster" Target="/ppt/notesMasters/notesMaster1.xml" Id="Rb59c325696f9407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2876faadac4443e" /><Relationship Type="http://schemas.openxmlformats.org/officeDocument/2006/relationships/notesMaster" Target="/ppt/notesMasters/notesMaster1.xml" Id="R2e61ecd99485432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cd86bc8c4d24aa1" /><Relationship Type="http://schemas.openxmlformats.org/officeDocument/2006/relationships/notesMaster" Target="/ppt/notesMasters/notesMaster1.xml" Id="R13216ad65fb9425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6e42bc605544a3f" /><Relationship Type="http://schemas.openxmlformats.org/officeDocument/2006/relationships/notesMaster" Target="/ppt/notesMasters/notesMaster1.xml" Id="R2c5d278408724c8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432c1748cdc4f63" /><Relationship Type="http://schemas.openxmlformats.org/officeDocument/2006/relationships/notesMaster" Target="/ppt/notesMasters/notesMaster1.xml" Id="Re07cb59d238346b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79ba48a245a4171" /><Relationship Type="http://schemas.openxmlformats.org/officeDocument/2006/relationships/notesMaster" Target="/ppt/notesMasters/notesMaster1.xml" Id="R02150ac137db4d2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project dataset samples and models/metadata.json.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app.py and templates/index.html. Image source: project dataset.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models/metadata.json and garbage_classification_model.ipynb.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garbage_classification_model.ipynb. The notebook uses MobileNetV2, data augmentation, class weights, EarlyStopping, and ReduceLROnPlateau.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models/metadata.json and models/training_history.png. Validation dataset count comes from garbage_classification_model.ipynb.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app.py and templates/index.html. Example image source: garbage_classification/testing/paper.jpg.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render.yaml, runtime.txt, .python-version, Procfile, requirements.txt, and README.md.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Render build log supplied for this project, render.yaml, runtime.txt, .python-version, and README.md.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48e978eb1e64c4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7a982f68bfb4cc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fa744be1f794d4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851527ab08446b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9ad4c2b2462437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b148e6de6df430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88E5672-07F8-4CAF-9225-A72A0928E4E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E1F13628-7764-4F74-8CC9-F56E9694AF7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1876FE20-8266-4C50-A2C1-E0EBB47FB49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3C97A05-7BBB-4428-A992-1D40DA2CF5F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7F125A33-3FF0-496E-9B8C-20410923B99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A7532C1-A1DC-4158-9400-23C9EFCE5EE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C41A2CE-B0CB-44D3-A2FC-FA79D7283ED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2EF5C48C-A933-4E6A-BDEC-BF6EC45E29E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3025700-B723-4E7D-89E5-BF1226C3A51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1F31106-D682-4905-8692-CCB33F2C44E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21d8ad7e5cb4c88" /><Relationship Type="http://schemas.openxmlformats.org/officeDocument/2006/relationships/slideLayout" Target="/ppt/slideLayouts/slideLayout1.xml" Id="Rda3083caebf9437f" /><Relationship Type="http://schemas.openxmlformats.org/officeDocument/2006/relationships/slideLayout" Target="/ppt/slideLayouts/slideLayout2.xml" Id="R17c1d184b8924b97" /><Relationship Type="http://schemas.openxmlformats.org/officeDocument/2006/relationships/slideLayout" Target="/ppt/slideLayouts/slideLayout3.xml" Id="Ra1d643c3f0a7438b" /><Relationship Type="http://schemas.openxmlformats.org/officeDocument/2006/relationships/slideLayout" Target="/ppt/slideLayouts/slideLayout4.xml" Id="Rc822d0f6327c4b78" /><Relationship Type="http://schemas.openxmlformats.org/officeDocument/2006/relationships/slideLayout" Target="/ppt/slideLayouts/slideLayout5.xml" Id="Rf39ac276e15b4ff9" /><Relationship Type="http://schemas.openxmlformats.org/officeDocument/2006/relationships/slideLayout" Target="/ppt/slideLayouts/slideLayout6.xml" Id="R123692424710443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a3083caebf9437f"/>
    <p:sldLayoutId xmlns:r="http://schemas.openxmlformats.org/officeDocument/2006/relationships" id="2147483650" r:id="R17c1d184b8924b97"/>
    <p:sldLayoutId xmlns:r="http://schemas.openxmlformats.org/officeDocument/2006/relationships" id="2147483651" r:id="Ra1d643c3f0a7438b"/>
    <p:sldLayoutId xmlns:r="http://schemas.openxmlformats.org/officeDocument/2006/relationships" id="2147483652" r:id="Rc822d0f6327c4b78"/>
    <p:sldLayoutId xmlns:r="http://schemas.openxmlformats.org/officeDocument/2006/relationships" id="2147483653" r:id="Rf39ac276e15b4ff9"/>
    <p:sldLayoutId xmlns:r="http://schemas.openxmlformats.org/officeDocument/2006/relationships" id="2147483654" r:id="R123692424710443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01fbe7ae1a44fe0" /><Relationship Type="http://schemas.openxmlformats.org/officeDocument/2006/relationships/image" Target="/ppt/media/image.jpeg" Id="Rf7b33da688b843e6" /><Relationship Type="http://schemas.openxmlformats.org/officeDocument/2006/relationships/image" Target="/ppt/media/image2.jpeg" Id="R4794180ba5f34402" /><Relationship Type="http://schemas.openxmlformats.org/officeDocument/2006/relationships/image" Target="/ppt/media/image3.jpeg" Id="R1be2c313376547a7" /><Relationship Type="http://schemas.openxmlformats.org/officeDocument/2006/relationships/image" Target="/ppt/media/image4.jpeg" Id="R7f17973fd56a4ed8" /><Relationship Type="http://schemas.openxmlformats.org/officeDocument/2006/relationships/notesSlide" Target="/ppt/notesSlides/notesSlide1.xml" Id="R4d1832a7175b4b9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7b5dda3915f4dee" /><Relationship Type="http://schemas.openxmlformats.org/officeDocument/2006/relationships/image" Target="/ppt/media/image5.jpeg" Id="R20888a51f8fd49b5" /><Relationship Type="http://schemas.openxmlformats.org/officeDocument/2006/relationships/notesSlide" Target="/ppt/notesSlides/notesSlide2.xml" Id="R7b430576cc324cb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68ab88b845643a5" /><Relationship Type="http://schemas.openxmlformats.org/officeDocument/2006/relationships/chart" Target="/ppt/slides/charts/chart1.xml" Id="Rbd1cea3fc59c44ae" /><Relationship Type="http://schemas.openxmlformats.org/officeDocument/2006/relationships/notesSlide" Target="/ppt/notesSlides/notesSlide3.xml" Id="R8d2892e48cf54ae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73bf21543234bb5" /><Relationship Type="http://schemas.openxmlformats.org/officeDocument/2006/relationships/image" Target="/ppt/media/image6.jpeg" Id="R5b7b99891eee4fea" /><Relationship Type="http://schemas.openxmlformats.org/officeDocument/2006/relationships/notesSlide" Target="/ppt/notesSlides/notesSlide4.xml" Id="R42a89d16db1642b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c7e7a45a470476b" /><Relationship Type="http://schemas.openxmlformats.org/officeDocument/2006/relationships/image" Target="/ppt/media/image.png" Id="R5419dcfc35224910" /><Relationship Type="http://schemas.openxmlformats.org/officeDocument/2006/relationships/notesSlide" Target="/ppt/notesSlides/notesSlide5.xml" Id="R940080305ceb4b0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4341dc9f7364a45" /><Relationship Type="http://schemas.openxmlformats.org/officeDocument/2006/relationships/image" Target="/ppt/media/image7.jpeg" Id="Rae6ce1e0c96a4233" /><Relationship Type="http://schemas.openxmlformats.org/officeDocument/2006/relationships/notesSlide" Target="/ppt/notesSlides/notesSlide6.xml" Id="R4edac3c399624b3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0aad3eed60f4fd0" /><Relationship Type="http://schemas.openxmlformats.org/officeDocument/2006/relationships/notesSlide" Target="/ppt/notesSlides/notesSlide7.xml" Id="Rccc657fa7b8e4f0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03a49c5a37e4961" /><Relationship Type="http://schemas.openxmlformats.org/officeDocument/2006/relationships/notesSlide" Target="/ppt/notesSlides/notesSlide8.xml" Id="R2ac43dbbc3454c1e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varyColors val="0"/>
        <c:ser>
          <c:idx val="0"/>
          <c:order val="0"/>
          <c:tx>
            <c:v>Images</c:v>
          </c:tx>
          <c:spPr>
            <a:solidFill xmlns:a="http://schemas.openxmlformats.org/drawingml/2006/main">
              <a:srgbClr val="159A8A"/>
            </a:solidFill>
          </c:spPr>
          <c:invertIfNegative val="0"/>
          <c:cat>
            <c:strRef>
              <c:f>'Chart Data'!$A$2:$A$13</c:f>
              <c:strCache>
                <c:ptCount val="12"/>
                <c:pt idx="0">
                  <c:v>clothes</c:v>
                </c:pt>
                <c:pt idx="1">
                  <c:v>shoes</c:v>
                </c:pt>
                <c:pt idx="2">
                  <c:v>paper</c:v>
                </c:pt>
                <c:pt idx="3">
                  <c:v>biological</c:v>
                </c:pt>
                <c:pt idx="4">
                  <c:v>battery</c:v>
                </c:pt>
                <c:pt idx="5">
                  <c:v>cardboard</c:v>
                </c:pt>
                <c:pt idx="6">
                  <c:v>plastic</c:v>
                </c:pt>
                <c:pt idx="7">
                  <c:v>white-glass</c:v>
                </c:pt>
                <c:pt idx="8">
                  <c:v>metal</c:v>
                </c:pt>
                <c:pt idx="9">
                  <c:v>trash</c:v>
                </c:pt>
                <c:pt idx="10">
                  <c:v>green-glass</c:v>
                </c:pt>
                <c:pt idx="11">
                  <c:v>brown-glass</c:v>
                </c:pt>
              </c:strCache>
            </c:strRef>
          </c:cat>
          <c:val>
            <c:numRef>
              <c:f>'Chart Data'!$B$2:$B$13</c:f>
              <c:numCache>
                <c:formatCode>General</c:formatCode>
                <c:ptCount val="12"/>
                <c:pt idx="0">
                  <c:v>5325</c:v>
                </c:pt>
                <c:pt idx="1">
                  <c:v>1977</c:v>
                </c:pt>
                <c:pt idx="2">
                  <c:v>1050</c:v>
                </c:pt>
                <c:pt idx="3">
                  <c:v>985</c:v>
                </c:pt>
                <c:pt idx="4">
                  <c:v>945</c:v>
                </c:pt>
                <c:pt idx="5">
                  <c:v>891</c:v>
                </c:pt>
                <c:pt idx="6">
                  <c:v>865</c:v>
                </c:pt>
                <c:pt idx="7">
                  <c:v>775</c:v>
                </c:pt>
                <c:pt idx="8">
                  <c:v>769</c:v>
                </c:pt>
                <c:pt idx="9">
                  <c:v>697</c:v>
                </c:pt>
                <c:pt idx="10">
                  <c:v>629</c:v>
                </c:pt>
                <c:pt idx="11">
                  <c:v>607</c:v>
                </c:pt>
              </c:numCache>
            </c:numRef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majorGridlines>
          <c:spPr>
            <a:ln xmlns:a="http://schemas.openxmlformats.org/drawingml/2006/main" w="9525">
              <a:solidFill>
                <a:srgbClr val="D8E1DC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8F5EE"/>
        </a:solidFill>
      </c:spPr>
    </c:plotArea>
    <c:plotVisOnly val="1"/>
  </c:chart>
  <c:spPr>
    <a:solidFill xmlns:a="http://schemas.openxmlformats.org/drawingml/2006/main">
      <a:srgbClr val="F8F5EE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5DC5C7-4419-49FE-8495-D59496344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EF88A1-0D7A-48B0-9EF0-30240732A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0"/>
            <a:ext cx="1047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3EAB20-DD92-4F2C-83CD-73C964EF0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176B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176B5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76B52"/>
                </a:solidFill>
                <a:latin typeface="Arial"/>
                <a:ea typeface="Arial"/>
                <a:cs typeface="Arial"/>
              </a:rPr>
              <a:t>DEEP LEARNING PROJECT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46F123-C015-4B8F-A912-6D6D7EA6B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85875"/>
            <a:ext cx="533400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125" b="1">
                <a:solidFill>
                  <a:srgbClr val="1723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4125" b="1">
                <a:solidFill>
                  <a:srgbClr val="17231F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17231F"/>
                </a:solidFill>
                <a:latin typeface="Arial"/>
                <a:ea typeface="Arial"/>
                <a:cs typeface="Arial"/>
              </a:rPr>
              <a:t>Garbage</a:t>
            </a:r>
          </a:p>
          <a:p xmlns:a="http://schemas.openxmlformats.org/drawingml/2006/main">
            <a:pPr>
              <a:defRPr sz="4125" b="1">
                <a:solidFill>
                  <a:srgbClr val="17231F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17231F"/>
                </a:solidFill>
                <a:latin typeface="Arial"/>
                <a:ea typeface="Arial"/>
                <a:cs typeface="Arial"/>
              </a:rPr>
              <a:t>Classification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362154-98B2-45A7-99CE-11A1D519F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67075"/>
            <a:ext cx="48387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>
                <a:solidFill>
                  <a:srgbClr val="48605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>
                <a:solidFill>
                  <a:srgbClr val="486058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486058"/>
                </a:solidFill>
                <a:latin typeface="Arial"/>
                <a:ea typeface="Arial"/>
                <a:cs typeface="Arial"/>
              </a:rPr>
              <a:t>Image classification with MobileNetV2, TensorFlow, Flask, and Render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D6905D-E638-42E4-ACF0-D2B8E7E6E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29100"/>
            <a:ext cx="4591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7E2A8B-B277-41E8-9388-8E6E94AD0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571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176B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176B5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6B52"/>
                </a:solidFill>
                <a:latin typeface="Arial"/>
                <a:ea typeface="Arial"/>
                <a:cs typeface="Arial"/>
              </a:rPr>
              <a:t>12 waste classes    /    15,515 images    /    94.68% validation accuracy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2194DC-DF72-401A-9F26-6C83995D5C3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b33da688b843e6"/>
          <a:srcRect xmlns:a="http://schemas.openxmlformats.org/drawingml/2006/main" l="17857" t="0" r="1785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05600" y="723900"/>
            <a:ext cx="2095500" cy="2095500"/>
          </a:xfrm>
          <a:prstGeom xmlns:a="http://schemas.openxmlformats.org/drawingml/2006/main" prst="roundRect">
            <a:avLst>
              <a:gd name="adj" fmla="val 3636"/>
            </a:avLst>
          </a:prstGeom>
        </p:spPr>
      </p:pic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FABFEE-0981-40B2-97CB-3E0862D0F8D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94180ba5f34402"/>
          <a:srcRect xmlns:a="http://schemas.openxmlformats.org/drawingml/2006/main" l="0" t="12548" r="0" b="1254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991600" y="723900"/>
            <a:ext cx="2095500" cy="2095500"/>
          </a:xfrm>
          <a:prstGeom xmlns:a="http://schemas.openxmlformats.org/drawingml/2006/main" prst="roundRect">
            <a:avLst>
              <a:gd name="adj" fmla="val 3636"/>
            </a:avLst>
          </a:prstGeom>
        </p:spPr>
      </p:pic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78BB4B-0EE0-473F-AFD2-F88F76D6D02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e2c313376547a7"/>
          <a:srcRect xmlns:a="http://schemas.openxmlformats.org/drawingml/2006/main" l="16727" t="0" r="1672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05600" y="3009900"/>
            <a:ext cx="2095500" cy="2095500"/>
          </a:xfrm>
          <a:prstGeom xmlns:a="http://schemas.openxmlformats.org/drawingml/2006/main" prst="roundRect">
            <a:avLst>
              <a:gd name="adj" fmla="val 3636"/>
            </a:avLst>
          </a:prstGeom>
        </p:spPr>
      </p:pic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075380-91F3-43B2-B6B5-5E7CF4FFEF5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17973fd56a4ed8"/>
          <a:srcRect xmlns:a="http://schemas.openxmlformats.org/drawingml/2006/main" l="14474" t="0" r="1447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991600" y="3009900"/>
            <a:ext cx="2095500" cy="2095500"/>
          </a:xfrm>
          <a:prstGeom xmlns:a="http://schemas.openxmlformats.org/drawingml/2006/main" prst="roundRect">
            <a:avLst>
              <a:gd name="adj" fmla="val 3636"/>
            </a:avLst>
          </a:prstGeom>
        </p:spPr>
      </p:pic>
    </p:spTree>
    <p:extLst>
      <p:ext uri="{BB962C8B-B14F-4D97-AF65-F5344CB8AC3E}">
        <p14:creationId xmlns:p14="http://schemas.microsoft.com/office/powerpoint/2010/main" val="148836861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C0E3EE5-18DC-48C7-B291-944C2AE77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8953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75" b="1">
                <a:solidFill>
                  <a:srgbClr val="1723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75" b="1">
                <a:solidFill>
                  <a:srgbClr val="17231F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7231F"/>
                </a:solidFill>
                <a:latin typeface="Arial"/>
                <a:ea typeface="Arial"/>
                <a:cs typeface="Arial"/>
              </a:rPr>
              <a:t>Project objective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5B9F18-C562-49AE-8D06-C242F8DCE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71550"/>
            <a:ext cx="895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>
                <a:solidFill>
                  <a:srgbClr val="48605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>
                <a:solidFill>
                  <a:srgbClr val="486058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86058"/>
                </a:solidFill>
                <a:latin typeface="Arial"/>
                <a:ea typeface="Arial"/>
                <a:cs typeface="Arial"/>
              </a:rPr>
              <a:t>Convert a trained waste-classification model into a usable browser experience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F0D42E-9641-4B50-9F09-A04F94B71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14450"/>
            <a:ext cx="800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BE18B8-A2D3-4D10-93CD-C2A7CB898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52625"/>
            <a:ext cx="50006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1723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17231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231F"/>
                </a:solidFill>
                <a:latin typeface="Arial"/>
                <a:ea typeface="Arial"/>
                <a:cs typeface="Arial"/>
              </a:rPr>
              <a:t>The project takes a user-uploaded image and identifies the most likely waste category.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9ED42A-E0F5-4EFE-813D-861B3DFF1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43250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E76F5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E76F5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E76F5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DDBEE3-97A7-44B6-814A-700BA50FC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33725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1723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17231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231F"/>
                </a:solidFill>
                <a:latin typeface="Arial"/>
                <a:ea typeface="Arial"/>
                <a:cs typeface="Arial"/>
              </a:rPr>
              <a:t>Classify waste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B9671D-39BB-4927-BD99-74B186309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429000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>
                <a:solidFill>
                  <a:srgbClr val="48605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>
                <a:solidFill>
                  <a:srgbClr val="486058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486058"/>
                </a:solidFill>
                <a:latin typeface="Arial"/>
                <a:ea typeface="Arial"/>
                <a:cs typeface="Arial"/>
              </a:rPr>
              <a:t>Recognize 12 categories, including plastic, glass, paper, metal, shoes, and clothes.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29FCF5-F5C0-4F8C-9CB4-6B1A907F4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10025"/>
            <a:ext cx="4905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B558BD-F076-47B9-9637-5216715A3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43375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E76F5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E76F5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E76F5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1FFADE-8318-49ED-9BF7-C14EE230D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13385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1723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17231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231F"/>
                </a:solidFill>
                <a:latin typeface="Arial"/>
                <a:ea typeface="Arial"/>
                <a:cs typeface="Arial"/>
              </a:rPr>
              <a:t>Show confidence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C2071B-CE91-4884-87DD-11FB9B710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429125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>
                <a:solidFill>
                  <a:srgbClr val="48605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>
                <a:solidFill>
                  <a:srgbClr val="486058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486058"/>
                </a:solidFill>
                <a:latin typeface="Arial"/>
                <a:ea typeface="Arial"/>
                <a:cs typeface="Arial"/>
              </a:rPr>
              <a:t>Return the top five predicted labels so users can judge the model's certainty.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D5FBA5-F38C-4DC0-8DE1-67849E6B3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10150"/>
            <a:ext cx="4905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D35538-010B-4DF3-A1AC-4598E90CC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43500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E76F5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E76F5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E76F5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AFB706-DBAC-408B-A5E5-CEAA4BE7B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133975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1723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17231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231F"/>
                </a:solidFill>
                <a:latin typeface="Arial"/>
                <a:ea typeface="Arial"/>
                <a:cs typeface="Arial"/>
              </a:rPr>
              <a:t>Make it accessible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09E2A5-7199-49CA-9363-3AFD5705F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429250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>
                <a:solidFill>
                  <a:srgbClr val="48605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>
                <a:solidFill>
                  <a:srgbClr val="486058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486058"/>
                </a:solidFill>
                <a:latin typeface="Arial"/>
                <a:ea typeface="Arial"/>
                <a:cs typeface="Arial"/>
              </a:rPr>
              <a:t>Serve saved Keras models through a Flask web application that accepts common image files.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D5570AC-7ECF-4AF6-BC7D-3A7017786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10275"/>
            <a:ext cx="4905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DC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820BC12-D62B-4850-A30D-4B9687E9F62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888a51f8fd49b5"/>
          <a:srcRect xmlns:a="http://schemas.openxmlformats.org/drawingml/2006/main" l="15567" t="0" r="1556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05600" y="1733550"/>
            <a:ext cx="4095750" cy="3943350"/>
          </a:xfrm>
          <a:prstGeom xmlns:a="http://schemas.openxmlformats.org/drawingml/2006/main" prst="roundRect">
            <a:avLst>
              <a:gd name="adj" fmla="val 2899"/>
            </a:avLst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DF30205-326C-4A10-A74C-E11BC6579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219700"/>
            <a:ext cx="40957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76B52"/>
          </a:solidFill>
          <a:ln xmlns:a="http://schemas.openxmlformats.org/drawingml/2006/main" w="0">
            <a:solidFill>
              <a:srgbClr val="176B5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D0A9696-5788-40E6-9963-6E18BF2C3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53340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Dataset example: trash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C52780C-B14D-4B7C-A617-46D226D20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>
                <a:solidFill>
                  <a:srgbClr val="48605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00">
                <a:solidFill>
                  <a:srgbClr val="486058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48605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7798921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58694E-001A-417A-8A7A-CDC4F62AB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8953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75" b="1">
                <a:solidFill>
                  <a:srgbClr val="1723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75" b="1">
                <a:solidFill>
                  <a:srgbClr val="17231F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7231F"/>
                </a:solidFill>
                <a:latin typeface="Arial"/>
                <a:ea typeface="Arial"/>
                <a:cs typeface="Arial"/>
              </a:rPr>
              <a:t>Training dataset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21ADB9-2F48-4BA8-942A-738A21DCC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71550"/>
            <a:ext cx="895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>
                <a:solidFill>
                  <a:srgbClr val="48605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>
                <a:solidFill>
                  <a:srgbClr val="486058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86058"/>
                </a:solidFill>
                <a:latin typeface="Arial"/>
                <a:ea typeface="Arial"/>
                <a:cs typeface="Arial"/>
              </a:rPr>
              <a:t>15,515 labelled images stored in one folder per waste class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CC915B-9B91-4ECC-A855-C7DF4EF92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14450"/>
            <a:ext cx="800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31E9EB-25E7-4082-9B4B-6FA3741A8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571625"/>
            <a:ext cx="4953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>
                <a:solidFill>
                  <a:srgbClr val="48605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>
                <a:solidFill>
                  <a:srgbClr val="486058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486058"/>
                </a:solidFill>
                <a:latin typeface="Arial"/>
                <a:ea typeface="Arial"/>
                <a:cs typeface="Arial"/>
              </a:rPr>
              <a:t>The classes are imbalanced. Class weights were used during training to reduce the influence of overrepresented categories.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09936C6E-662F-42E4-AD43-4E71D785915E}"/>
              </a:ext>
            </a:extLst>
          </p:cNvPr>
          <p:cNvGraphicFramePr/>
          <p:nvPr/>
        </p:nvGraphicFramePr>
        <p:xfrm>
          <a:off xmlns:a="http://schemas.openxmlformats.org/drawingml/2006/main" x="742950" y="2343150"/>
          <a:ext xmlns:a="http://schemas.openxmlformats.org/drawingml/2006/main" cx="7029450" cy="3714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d1cea3fc59c44ae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B80C6B-4847-4E97-A7D1-76C5BEBB5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495550"/>
            <a:ext cx="2667000" cy="2266950"/>
          </a:xfrm>
          <a:prstGeom xmlns:a="http://schemas.openxmlformats.org/drawingml/2006/main" prst="roundRect">
            <a:avLst>
              <a:gd name="adj" fmla="val 33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D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90C5B7-D352-4D1F-8C09-4AFC78FCA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7622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1723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17231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231F"/>
                </a:solidFill>
                <a:latin typeface="Arial"/>
                <a:ea typeface="Arial"/>
                <a:cs typeface="Arial"/>
              </a:rPr>
              <a:t>Dataset highlights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E3EC6E-F1F0-49F4-85B0-94ABCB29C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27660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>
                <a:solidFill>
                  <a:srgbClr val="48605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>
                <a:solidFill>
                  <a:srgbClr val="486058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486058"/>
                </a:solidFill>
                <a:latin typeface="Arial"/>
                <a:ea typeface="Arial"/>
                <a:cs typeface="Arial"/>
              </a:rPr>
              <a:t>Largest class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BCC099-668C-478D-96E3-0734A56C7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495675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176B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176B52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6B52"/>
                </a:solidFill>
                <a:latin typeface="Arial"/>
                <a:ea typeface="Arial"/>
                <a:cs typeface="Arial"/>
              </a:rPr>
              <a:t>Clothes  5,325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569349-5B8B-4C76-809C-8948784C9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01955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>
                <a:solidFill>
                  <a:srgbClr val="48605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>
                <a:solidFill>
                  <a:srgbClr val="486058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486058"/>
                </a:solidFill>
                <a:latin typeface="Arial"/>
                <a:ea typeface="Arial"/>
                <a:cs typeface="Arial"/>
              </a:rPr>
              <a:t>Smallest class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B50612-D37A-4A0B-8773-03FA1DFD7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23862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E76F5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E76F5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76F51"/>
                </a:solidFill>
                <a:latin typeface="Arial"/>
                <a:ea typeface="Arial"/>
                <a:cs typeface="Arial"/>
              </a:rPr>
              <a:t>Brown-glass  607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B4BCFC-07E2-403B-B137-A85703D60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5105400"/>
            <a:ext cx="26193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>
                <a:solidFill>
                  <a:srgbClr val="48605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>
                <a:solidFill>
                  <a:srgbClr val="486058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86058"/>
                </a:solidFill>
                <a:latin typeface="Arial"/>
                <a:ea typeface="Arial"/>
                <a:cs typeface="Arial"/>
              </a:rPr>
              <a:t>20% of the dataset is reserved for validation.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4F826E-9C80-4433-8AE6-9F82D24F8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>
                <a:solidFill>
                  <a:srgbClr val="48605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00">
                <a:solidFill>
                  <a:srgbClr val="486058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48605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71685258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87076D7-034C-4691-962A-C9FB127C5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8953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75" b="1">
                <a:solidFill>
                  <a:srgbClr val="1723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75" b="1">
                <a:solidFill>
                  <a:srgbClr val="17231F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7231F"/>
                </a:solidFill>
                <a:latin typeface="Arial"/>
                <a:ea typeface="Arial"/>
                <a:cs typeface="Arial"/>
              </a:rPr>
              <a:t>Model training pipeline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9A6EDE-CC08-4AA4-8C17-5E79C574B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71550"/>
            <a:ext cx="895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>
                <a:solidFill>
                  <a:srgbClr val="48605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>
                <a:solidFill>
                  <a:srgbClr val="486058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86058"/>
                </a:solidFill>
                <a:latin typeface="Arial"/>
                <a:ea typeface="Arial"/>
                <a:cs typeface="Arial"/>
              </a:rPr>
              <a:t>MobileNetV2 transfer learning with augmentation, class weighting, and fine-tuning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85C2B8-93E6-4C82-81D5-8080915CE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14450"/>
            <a:ext cx="800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9102B1-DB71-43C6-B6B1-72CEE7F29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333625"/>
            <a:ext cx="163830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D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E3EFDD-BBD3-4C27-AADF-575360C00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333625"/>
            <a:ext cx="1638300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6B52"/>
          </a:solidFill>
          <a:ln xmlns:a="http://schemas.openxmlformats.org/drawingml/2006/main" w="0">
            <a:solidFill>
              <a:srgbClr val="176B5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1106EF-86EB-4B12-BF7E-079044996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59080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1723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17231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231F"/>
                </a:solidFill>
                <a:latin typeface="Arial"/>
                <a:ea typeface="Arial"/>
                <a:cs typeface="Arial"/>
              </a:rPr>
              <a:t>Dataset folders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250C1F-A17D-4FAA-A58A-9214F8049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2981325"/>
            <a:ext cx="1371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>
                <a:solidFill>
                  <a:srgbClr val="48605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>
                <a:solidFill>
                  <a:srgbClr val="486058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486058"/>
                </a:solidFill>
                <a:latin typeface="Arial"/>
                <a:ea typeface="Arial"/>
                <a:cs typeface="Arial"/>
              </a:rPr>
              <a:t>12 labelled classes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E4D2B6-167B-4C11-B77C-93C2C58B8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809875"/>
            <a:ext cx="3238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4BE3B"/>
          </a:solidFill>
          <a:ln xmlns:a="http://schemas.openxmlformats.org/drawingml/2006/main" w="0">
            <a:solidFill>
              <a:srgbClr val="F4BE3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A001A9-A93D-4122-BEEC-6C2A0929B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333625"/>
            <a:ext cx="163830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D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3D335D-A9C6-46A7-A28C-4905BB14B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333625"/>
            <a:ext cx="1638300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9A8A"/>
          </a:solidFill>
          <a:ln xmlns:a="http://schemas.openxmlformats.org/drawingml/2006/main" w="0">
            <a:solidFill>
              <a:srgbClr val="159A8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6D466A-2B0F-4281-8FCD-4CBAD72E4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59080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1723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17231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231F"/>
                </a:solidFill>
                <a:latin typeface="Arial"/>
                <a:ea typeface="Arial"/>
                <a:cs typeface="Arial"/>
              </a:rPr>
              <a:t>Augmentation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DA3A43-9568-42E6-8F1F-24EFFEE0D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981325"/>
            <a:ext cx="1371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>
                <a:solidFill>
                  <a:srgbClr val="48605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>
                <a:solidFill>
                  <a:srgbClr val="486058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486058"/>
                </a:solidFill>
                <a:latin typeface="Arial"/>
                <a:ea typeface="Arial"/>
                <a:cs typeface="Arial"/>
              </a:rPr>
              <a:t>Flip, rotation, zoom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9DD236-6D0F-4E44-B364-D5A4C7E8B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809875"/>
            <a:ext cx="3238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4BE3B"/>
          </a:solidFill>
          <a:ln xmlns:a="http://schemas.openxmlformats.org/drawingml/2006/main" w="0">
            <a:solidFill>
              <a:srgbClr val="F4BE3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E486E9-E9AE-4E39-B7CB-2BAA49A88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425" y="2333625"/>
            <a:ext cx="163830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D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7A9FB68-8538-42B9-9062-E52B2AF30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425" y="2333625"/>
            <a:ext cx="1638300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6F51"/>
          </a:solidFill>
          <a:ln xmlns:a="http://schemas.openxmlformats.org/drawingml/2006/main" w="0">
            <a:solidFill>
              <a:srgbClr val="E76F5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43DA94-1D45-461F-80BA-73CCD3761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259080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1723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17231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231F"/>
                </a:solidFill>
                <a:latin typeface="Arial"/>
                <a:ea typeface="Arial"/>
                <a:cs typeface="Arial"/>
              </a:rPr>
              <a:t>MobileNetV2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85B5A67-9E86-4268-B768-FBD113F28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2981325"/>
            <a:ext cx="1371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>
                <a:solidFill>
                  <a:srgbClr val="48605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>
                <a:solidFill>
                  <a:srgbClr val="486058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486058"/>
                </a:solidFill>
                <a:latin typeface="Arial"/>
                <a:ea typeface="Arial"/>
                <a:cs typeface="Arial"/>
              </a:rPr>
              <a:t>ImageNet base model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E527AF0-448D-4B53-BDF3-35166DEE6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809875"/>
            <a:ext cx="3238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4BE3B"/>
          </a:solidFill>
          <a:ln xmlns:a="http://schemas.openxmlformats.org/drawingml/2006/main" w="0">
            <a:solidFill>
              <a:srgbClr val="F4BE3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5C0C348-32AB-48FB-A742-AF6CCAECE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333625"/>
            <a:ext cx="163830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D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11B460A-C006-436C-8BD4-762AA4FA9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333625"/>
            <a:ext cx="1638300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BE3B"/>
          </a:solidFill>
          <a:ln xmlns:a="http://schemas.openxmlformats.org/drawingml/2006/main" w="0">
            <a:solidFill>
              <a:srgbClr val="F4BE3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066BA5B-31A7-43AD-B348-2593615BE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59080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1723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17231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231F"/>
                </a:solidFill>
                <a:latin typeface="Arial"/>
                <a:ea typeface="Arial"/>
                <a:cs typeface="Arial"/>
              </a:rPr>
              <a:t>Fine-tuning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4A8AA9D-CCC6-4B3B-B91E-C2BCF56F5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981325"/>
            <a:ext cx="1371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>
                <a:solidFill>
                  <a:srgbClr val="48605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>
                <a:solidFill>
                  <a:srgbClr val="486058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486058"/>
                </a:solidFill>
                <a:latin typeface="Arial"/>
                <a:ea typeface="Arial"/>
                <a:cs typeface="Arial"/>
              </a:rPr>
              <a:t>Last layers trainable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E6F93E1-5554-42EC-9B34-528715B2F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809875"/>
            <a:ext cx="3238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4BE3B"/>
          </a:solidFill>
          <a:ln xmlns:a="http://schemas.openxmlformats.org/drawingml/2006/main" w="0">
            <a:solidFill>
              <a:srgbClr val="F4BE3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337D5DD-DBD2-4224-9B6A-3412AE460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2333625"/>
            <a:ext cx="163830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DC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BCB7BD4-B5DF-472D-9EA6-7D7FE89DE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2333625"/>
            <a:ext cx="1638300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6B52"/>
          </a:solidFill>
          <a:ln xmlns:a="http://schemas.openxmlformats.org/drawingml/2006/main" w="0">
            <a:solidFill>
              <a:srgbClr val="176B52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1DC3224-892C-4B3A-9176-5A9997CF1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59080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1723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17231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231F"/>
                </a:solidFill>
                <a:latin typeface="Arial"/>
                <a:ea typeface="Arial"/>
                <a:cs typeface="Arial"/>
              </a:rPr>
              <a:t>Keras models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F471965-3EBC-46D1-B061-93412B58C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2981325"/>
            <a:ext cx="1371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>
                <a:solidFill>
                  <a:srgbClr val="48605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>
                <a:solidFill>
                  <a:srgbClr val="486058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486058"/>
                </a:solidFill>
                <a:latin typeface="Arial"/>
                <a:ea typeface="Arial"/>
                <a:cs typeface="Arial"/>
              </a:rPr>
              <a:t>Saved .keras artifacts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57F54E4-04D3-4812-96EA-0DFD3D03A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505325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176B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176B52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6B52"/>
                </a:solidFill>
                <a:latin typeface="Arial"/>
                <a:ea typeface="Arial"/>
                <a:cs typeface="Arial"/>
              </a:rPr>
              <a:t>224 x 224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701F223-A309-4702-B71F-A2D785A44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5775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>
                <a:solidFill>
                  <a:srgbClr val="48605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>
                <a:solidFill>
                  <a:srgbClr val="486058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486058"/>
                </a:solidFill>
                <a:latin typeface="Arial"/>
                <a:ea typeface="Arial"/>
                <a:cs typeface="Arial"/>
              </a:rPr>
              <a:t>RGB input size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0544764-95E7-40BE-834D-A3CB9F79E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505325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176B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176B52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6B52"/>
                </a:solidFill>
                <a:latin typeface="Arial"/>
                <a:ea typeface="Arial"/>
                <a:cs typeface="Arial"/>
              </a:rPr>
              <a:t>32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73E5FA6-BEDE-4379-BDA9-02E581EE7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85775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>
                <a:solidFill>
                  <a:srgbClr val="48605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>
                <a:solidFill>
                  <a:srgbClr val="486058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486058"/>
                </a:solidFill>
                <a:latin typeface="Arial"/>
                <a:ea typeface="Arial"/>
                <a:cs typeface="Arial"/>
              </a:rPr>
              <a:t>Batch size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CE72274-CC8A-4A7F-A8B4-A648881A3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505325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176B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176B52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6B52"/>
                </a:solidFill>
                <a:latin typeface="Arial"/>
                <a:ea typeface="Arial"/>
                <a:cs typeface="Arial"/>
              </a:rPr>
              <a:t>12 + 5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1F9139F-7EE8-43C4-9D03-E182B792E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85775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>
                <a:solidFill>
                  <a:srgbClr val="48605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>
                <a:solidFill>
                  <a:srgbClr val="486058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486058"/>
                </a:solidFill>
                <a:latin typeface="Arial"/>
                <a:ea typeface="Arial"/>
                <a:cs typeface="Arial"/>
              </a:rPr>
              <a:t>Training and fine-tune epochs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A3706B6-103A-4B6A-8A9C-460BD43B0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505325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176B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176B52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6B52"/>
                </a:solidFill>
                <a:latin typeface="Arial"/>
                <a:ea typeface="Arial"/>
                <a:cs typeface="Arial"/>
              </a:rPr>
              <a:t>20%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185A6AA-F679-4F73-B679-F3921E360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85775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>
                <a:solidFill>
                  <a:srgbClr val="48605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>
                <a:solidFill>
                  <a:srgbClr val="486058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486058"/>
                </a:solidFill>
                <a:latin typeface="Arial"/>
                <a:ea typeface="Arial"/>
                <a:cs typeface="Arial"/>
              </a:rPr>
              <a:t>Validation split</a:t>
            </a:r>
          </a:p>
        </p:txBody>
      </p:sp>
      <p:pic>
        <p:nvPic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8181B70-23A7-45BF-B4EC-DE57ECA82A1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7b99891eee4fea"/>
          <a:srcRect xmlns:a="http://schemas.openxmlformats.org/drawingml/2006/main" l="0" t="20120" r="0" b="2012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15500" y="5334000"/>
            <a:ext cx="1028700" cy="819150"/>
          </a:xfrm>
          <a:prstGeom xmlns:a="http://schemas.openxmlformats.org/drawingml/2006/main" prst="roundRect">
            <a:avLst>
              <a:gd name="adj" fmla="val 9302"/>
            </a:avLst>
          </a:prstGeom>
        </p:spPr>
      </p:pic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9BF9028-F1E4-4860-95E5-6BB943BCA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6007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>
                <a:solidFill>
                  <a:srgbClr val="48605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>
                <a:solidFill>
                  <a:srgbClr val="486058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486058"/>
                </a:solidFill>
                <a:latin typeface="Arial"/>
                <a:ea typeface="Arial"/>
                <a:cs typeface="Arial"/>
              </a:rPr>
              <a:t>Example input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77062BB-D2BB-4884-911E-4C2C07C17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>
                <a:solidFill>
                  <a:srgbClr val="48605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00">
                <a:solidFill>
                  <a:srgbClr val="486058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48605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81822592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8C989A-7546-42B1-B77B-308A8ADB5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8953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75" b="1">
                <a:solidFill>
                  <a:srgbClr val="1723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75" b="1">
                <a:solidFill>
                  <a:srgbClr val="17231F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7231F"/>
                </a:solidFill>
                <a:latin typeface="Arial"/>
                <a:ea typeface="Arial"/>
                <a:cs typeface="Arial"/>
              </a:rPr>
              <a:t>Validation results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07C9A5-3E12-4A78-9AE8-E2C8A8686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71550"/>
            <a:ext cx="895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>
                <a:solidFill>
                  <a:srgbClr val="48605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>
                <a:solidFill>
                  <a:srgbClr val="486058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86058"/>
                </a:solidFill>
                <a:latin typeface="Arial"/>
                <a:ea typeface="Arial"/>
                <a:cs typeface="Arial"/>
              </a:rPr>
              <a:t>The best saved model reaches 94.68% validation accuracy with a 0.172 validation loss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5F45BA-EB4A-45C9-90C9-123B46E06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14450"/>
            <a:ext cx="800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80A34F-BB9F-492C-8B4C-9EA3A1F0148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19dcfc35224910"/>
          <a:stretch xmlns:a="http://schemas.openxmlformats.org/drawingml/2006/main"/>
        </p:blipFill>
        <p:spPr>
          <a:xfrm xmlns:a="http://schemas.openxmlformats.org/drawingml/2006/main">
            <a:off x="533400" y="2308860"/>
            <a:ext cx="6743700" cy="269748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B89044-4892-4758-BD10-7A233539A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1752600"/>
            <a:ext cx="314325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176B52"/>
          </a:solidFill>
          <a:ln xmlns:a="http://schemas.openxmlformats.org/drawingml/2006/main" w="0">
            <a:solidFill>
              <a:srgbClr val="176B5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5D856C-F440-4FDF-8B0C-EB95167C9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85975"/>
            <a:ext cx="2571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94.68%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671930-661B-4E98-8582-620C3266A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686050"/>
            <a:ext cx="257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FFFFFF"/>
                </a:solidFill>
                <a:latin typeface="Arial"/>
                <a:ea typeface="Arial"/>
                <a:cs typeface="Arial"/>
              </a:rPr>
              <a:t>validation accuracy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B12E20-9909-418D-B4F7-BEA9ABBBD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562350"/>
            <a:ext cx="314325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CE9E4"/>
          </a:solidFill>
          <a:ln xmlns:a="http://schemas.openxmlformats.org/drawingml/2006/main" w="0">
            <a:solidFill>
              <a:srgbClr val="FCE9E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3BD050-0147-4C29-A269-709101C15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895725"/>
            <a:ext cx="2571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E76F5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E76F5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E76F51"/>
                </a:solidFill>
                <a:latin typeface="Arial"/>
                <a:ea typeface="Arial"/>
                <a:cs typeface="Arial"/>
              </a:rPr>
              <a:t>0.172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068872-AEF8-415B-86D5-412C33443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45770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>
                <a:solidFill>
                  <a:srgbClr val="48605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>
                <a:solidFill>
                  <a:srgbClr val="486058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86058"/>
                </a:solidFill>
                <a:latin typeface="Arial"/>
                <a:ea typeface="Arial"/>
                <a:cs typeface="Arial"/>
              </a:rPr>
              <a:t>validation loss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BF3873-2B11-4747-A690-629C406F0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5476875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1723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7231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231F"/>
                </a:solidFill>
                <a:latin typeface="Arial"/>
                <a:ea typeface="Arial"/>
                <a:cs typeface="Arial"/>
              </a:rPr>
              <a:t>3,103 validation images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941CFD-0539-47C5-9E7A-F2720DF3A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581025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>
                <a:solidFill>
                  <a:srgbClr val="48605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>
                <a:solidFill>
                  <a:srgbClr val="486058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486058"/>
                </a:solidFill>
                <a:latin typeface="Arial"/>
                <a:ea typeface="Arial"/>
                <a:cs typeface="Arial"/>
              </a:rPr>
              <a:t>Training history includes 16 recorded epochs.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0872066-D40E-4176-B866-7DA076A36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>
                <a:solidFill>
                  <a:srgbClr val="48605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00">
                <a:solidFill>
                  <a:srgbClr val="486058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486058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46525356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13BC9E1-309A-4706-AF34-E106CC643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8953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75" b="1">
                <a:solidFill>
                  <a:srgbClr val="1723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75" b="1">
                <a:solidFill>
                  <a:srgbClr val="17231F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7231F"/>
                </a:solidFill>
                <a:latin typeface="Arial"/>
                <a:ea typeface="Arial"/>
                <a:cs typeface="Arial"/>
              </a:rPr>
              <a:t>Web application integration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174B60-F6F9-47FD-B71E-27443BF04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71550"/>
            <a:ext cx="895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>
                <a:solidFill>
                  <a:srgbClr val="48605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>
                <a:solidFill>
                  <a:srgbClr val="486058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86058"/>
                </a:solidFill>
                <a:latin typeface="Arial"/>
                <a:ea typeface="Arial"/>
                <a:cs typeface="Arial"/>
              </a:rPr>
              <a:t>Flask loads the saved model once and returns ranked probabilities for every valid upload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396138-F9F9-4493-9352-80220AB87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14450"/>
            <a:ext cx="800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220F9E-3113-45B7-928F-415EF6FA46C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6ce1e0c96a4233"/>
          <a:srcRect xmlns:a="http://schemas.openxmlformats.org/drawingml/2006/main" l="0" t="13462" r="0" b="1346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4850" y="1962150"/>
            <a:ext cx="2228850" cy="2895600"/>
          </a:xfrm>
          <a:prstGeom xmlns:a="http://schemas.openxmlformats.org/drawingml/2006/main" prst="roundRect">
            <a:avLst>
              <a:gd name="adj" fmla="val 5128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07189B-D52E-4F53-A3C1-2E013258F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029200"/>
            <a:ext cx="2228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1723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17231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231F"/>
                </a:solidFill>
                <a:latin typeface="Arial"/>
                <a:ea typeface="Arial"/>
                <a:cs typeface="Arial"/>
              </a:rPr>
              <a:t>Example upload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5CE95F-C956-4059-9A77-BF6061A6F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324475"/>
            <a:ext cx="2228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>
                <a:solidFill>
                  <a:srgbClr val="48605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>
                <a:solidFill>
                  <a:srgbClr val="486058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486058"/>
                </a:solidFill>
                <a:latin typeface="Arial"/>
                <a:ea typeface="Arial"/>
                <a:cs typeface="Arial"/>
              </a:rPr>
              <a:t>JPG, PNG, BMP, or WEBP</a:t>
            </a:r>
          </a:p>
          <a:p xmlns:a="http://schemas.openxmlformats.org/drawingml/2006/main">
            <a:pPr>
              <a:defRPr sz="1050">
                <a:solidFill>
                  <a:srgbClr val="486058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486058"/>
                </a:solidFill>
                <a:latin typeface="Arial"/>
                <a:ea typeface="Arial"/>
                <a:cs typeface="Arial"/>
              </a:rPr>
              <a:t>Maximum file size: 8 MB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4E2BF8-DC94-435F-9106-CE427900C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514600"/>
            <a:ext cx="135255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D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CC69CE-EB44-469F-9332-EC16801E6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514600"/>
            <a:ext cx="1352550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6B52"/>
          </a:solidFill>
          <a:ln xmlns:a="http://schemas.openxmlformats.org/drawingml/2006/main" w="0">
            <a:solidFill>
              <a:srgbClr val="176B5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B0A862-6C31-4ED8-B956-323F369E4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771775"/>
            <a:ext cx="1047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1723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17231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231F"/>
                </a:solidFill>
                <a:latin typeface="Arial"/>
                <a:ea typeface="Arial"/>
                <a:cs typeface="Arial"/>
              </a:rPr>
              <a:t>Upload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A81BC7-116C-40D3-9D83-4D72BE1EF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162300"/>
            <a:ext cx="1085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>
                <a:solidFill>
                  <a:srgbClr val="48605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>
                <a:solidFill>
                  <a:srgbClr val="486058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486058"/>
                </a:solidFill>
                <a:latin typeface="Arial"/>
                <a:ea typeface="Arial"/>
                <a:cs typeface="Arial"/>
              </a:rPr>
              <a:t>User chooses an image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202C73-A8EC-433B-8E70-89CEFBFD7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009900"/>
            <a:ext cx="2286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4BE3B"/>
          </a:solidFill>
          <a:ln xmlns:a="http://schemas.openxmlformats.org/drawingml/2006/main" w="0">
            <a:solidFill>
              <a:srgbClr val="F4BE3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DE0681-020D-4B46-BDA6-92B5411AD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514600"/>
            <a:ext cx="135255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D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571F5E-E8CC-4CDE-B807-E58B73006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514600"/>
            <a:ext cx="1352550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9A8A"/>
          </a:solidFill>
          <a:ln xmlns:a="http://schemas.openxmlformats.org/drawingml/2006/main" w="0">
            <a:solidFill>
              <a:srgbClr val="159A8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365779-B6B9-49B5-B608-DD9624533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771775"/>
            <a:ext cx="1047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1723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17231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231F"/>
                </a:solidFill>
                <a:latin typeface="Arial"/>
                <a:ea typeface="Arial"/>
                <a:cs typeface="Arial"/>
              </a:rPr>
              <a:t>Validate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7609DC-BEA0-4572-BE4D-52E9DE55C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162300"/>
            <a:ext cx="1085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>
                <a:solidFill>
                  <a:srgbClr val="48605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>
                <a:solidFill>
                  <a:srgbClr val="486058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486058"/>
                </a:solidFill>
                <a:latin typeface="Arial"/>
                <a:ea typeface="Arial"/>
                <a:cs typeface="Arial"/>
              </a:rPr>
              <a:t>Extension and size checks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776CF91-16F8-4300-AD2A-BD2AABFE9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009900"/>
            <a:ext cx="2286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4BE3B"/>
          </a:solidFill>
          <a:ln xmlns:a="http://schemas.openxmlformats.org/drawingml/2006/main" w="0">
            <a:solidFill>
              <a:srgbClr val="F4BE3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274D3C9-D76C-4268-A060-08E81D325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514600"/>
            <a:ext cx="135255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D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850794C-9F0B-403D-99B5-51DA0E267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514600"/>
            <a:ext cx="1352550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6F51"/>
          </a:solidFill>
          <a:ln xmlns:a="http://schemas.openxmlformats.org/drawingml/2006/main" w="0">
            <a:solidFill>
              <a:srgbClr val="E76F5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1975776-45D8-4950-8682-F470DD8A8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771775"/>
            <a:ext cx="1047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1723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17231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231F"/>
                </a:solidFill>
                <a:latin typeface="Arial"/>
                <a:ea typeface="Arial"/>
                <a:cs typeface="Arial"/>
              </a:rPr>
              <a:t>Preprocess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6D3C803-871A-4F2F-9EFA-8228A65D9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162300"/>
            <a:ext cx="1085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>
                <a:solidFill>
                  <a:srgbClr val="48605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>
                <a:solidFill>
                  <a:srgbClr val="486058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486058"/>
                </a:solidFill>
                <a:latin typeface="Arial"/>
                <a:ea typeface="Arial"/>
                <a:cs typeface="Arial"/>
              </a:rPr>
              <a:t>RGB resize to 224 x 224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D59B7EA-56E9-40F0-90EA-CAE87E7FE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009900"/>
            <a:ext cx="2286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4BE3B"/>
          </a:solidFill>
          <a:ln xmlns:a="http://schemas.openxmlformats.org/drawingml/2006/main" w="0">
            <a:solidFill>
              <a:srgbClr val="F4BE3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539C5C5-7C15-41C3-9C90-48B26E0EE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514600"/>
            <a:ext cx="135255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D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86767FB-46E2-4BB7-B601-5F781311B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514600"/>
            <a:ext cx="1352550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BE3B"/>
          </a:solidFill>
          <a:ln xmlns:a="http://schemas.openxmlformats.org/drawingml/2006/main" w="0">
            <a:solidFill>
              <a:srgbClr val="F4BE3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F46B67E-5359-4263-A8BF-2C1B82721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771775"/>
            <a:ext cx="1047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1723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17231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231F"/>
                </a:solidFill>
                <a:latin typeface="Arial"/>
                <a:ea typeface="Arial"/>
                <a:cs typeface="Arial"/>
              </a:rPr>
              <a:t>Predict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6948459-7A6E-4283-ADA4-967C2715B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162300"/>
            <a:ext cx="1085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>
                <a:solidFill>
                  <a:srgbClr val="48605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>
                <a:solidFill>
                  <a:srgbClr val="486058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486058"/>
                </a:solidFill>
                <a:latin typeface="Arial"/>
                <a:ea typeface="Arial"/>
                <a:cs typeface="Arial"/>
              </a:rPr>
              <a:t>Keras model returns probabilities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E0ED14C-E30A-4F30-A1CA-941C8FE96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3009900"/>
            <a:ext cx="2286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4BE3B"/>
          </a:solidFill>
          <a:ln xmlns:a="http://schemas.openxmlformats.org/drawingml/2006/main" w="0">
            <a:solidFill>
              <a:srgbClr val="F4BE3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D34BD50-1CD6-4F81-9CA7-0F28C3215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514600"/>
            <a:ext cx="135255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DC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9E5AD31-00AA-4659-BC53-B6472512A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514600"/>
            <a:ext cx="1352550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6B52"/>
          </a:solidFill>
          <a:ln xmlns:a="http://schemas.openxmlformats.org/drawingml/2006/main" w="0">
            <a:solidFill>
              <a:srgbClr val="176B52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776BC5E-E1AD-406D-92EF-F33C9F3CF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771775"/>
            <a:ext cx="1047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1723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17231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231F"/>
                </a:solidFill>
                <a:latin typeface="Arial"/>
                <a:ea typeface="Arial"/>
                <a:cs typeface="Arial"/>
              </a:rPr>
              <a:t>Display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CDCBDC0-F897-417E-8E05-ED23B9EF1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162300"/>
            <a:ext cx="1085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>
                <a:solidFill>
                  <a:srgbClr val="48605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>
                <a:solidFill>
                  <a:srgbClr val="486058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486058"/>
                </a:solidFill>
                <a:latin typeface="Arial"/>
                <a:ea typeface="Arial"/>
                <a:cs typeface="Arial"/>
              </a:rPr>
              <a:t>Top five labels and confidence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AB38602-05FD-4074-8249-D50B7DAD7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305300"/>
            <a:ext cx="7000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>
                <a:solidFill>
                  <a:srgbClr val="1723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>
                <a:solidFill>
                  <a:srgbClr val="17231F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7231F"/>
                </a:solidFill>
                <a:latin typeface="Arial"/>
                <a:ea typeface="Arial"/>
                <a:cs typeface="Arial"/>
              </a:rPr>
              <a:t>The app defaults to best_garbage_classifier.keras and lets the user select either saved model.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88FED0D-AF18-4318-BB25-BDE8DC073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5143500"/>
            <a:ext cx="5695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5F7FCB4-7494-441C-AAD4-15C694764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5381625"/>
            <a:ext cx="600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176B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176B5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6B52"/>
                </a:solidFill>
                <a:latin typeface="Arial"/>
                <a:ea typeface="Arial"/>
                <a:cs typeface="Arial"/>
              </a:rPr>
              <a:t>Core stack: Flask  |  TensorFlow / Keras  |  Pillow  |  NumPy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9403289-9AAE-464B-A848-4D1B34516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>
                <a:solidFill>
                  <a:srgbClr val="48605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00">
                <a:solidFill>
                  <a:srgbClr val="486058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486058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90949390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4721637-9915-4BB3-99D4-62381F163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8953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75" b="1">
                <a:solidFill>
                  <a:srgbClr val="1723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75" b="1">
                <a:solidFill>
                  <a:srgbClr val="17231F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7231F"/>
                </a:solidFill>
                <a:latin typeface="Arial"/>
                <a:ea typeface="Arial"/>
                <a:cs typeface="Arial"/>
              </a:rPr>
              <a:t>Live deployment on Render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34E7FB-18FA-4E71-A56E-D8E172D46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71550"/>
            <a:ext cx="895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>
                <a:solidFill>
                  <a:srgbClr val="48605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>
                <a:solidFill>
                  <a:srgbClr val="486058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86058"/>
                </a:solidFill>
                <a:latin typeface="Arial"/>
                <a:ea typeface="Arial"/>
                <a:cs typeface="Arial"/>
              </a:rPr>
              <a:t>The repository contains the service definition and start command for a public Python web service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1C85FC-6CFC-4A20-98A5-A124E8F40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14450"/>
            <a:ext cx="800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C675BE-ADDC-44E6-B632-DF08238D6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66950"/>
            <a:ext cx="205740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D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08B89F-EBA5-4814-8B67-F32EC1F32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66950"/>
            <a:ext cx="2057400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6B52"/>
          </a:solidFill>
          <a:ln xmlns:a="http://schemas.openxmlformats.org/drawingml/2006/main" w="0">
            <a:solidFill>
              <a:srgbClr val="176B5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18B13A-6551-4130-9833-3D9BA3A1C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24125"/>
            <a:ext cx="1752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1723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17231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231F"/>
                </a:solidFill>
                <a:latin typeface="Arial"/>
                <a:ea typeface="Arial"/>
                <a:cs typeface="Arial"/>
              </a:rPr>
              <a:t>GitHub repository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07EC86-4CE9-4379-9CD0-6B5C37CBD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14650"/>
            <a:ext cx="1790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>
                <a:solidFill>
                  <a:srgbClr val="48605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>
                <a:solidFill>
                  <a:srgbClr val="486058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486058"/>
                </a:solidFill>
                <a:latin typeface="Arial"/>
                <a:ea typeface="Arial"/>
                <a:cs typeface="Arial"/>
              </a:rPr>
              <a:t>Source code, models, and configuration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05F75F-B93E-4926-9A2F-8B42AF995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762250"/>
            <a:ext cx="428625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4BE3B"/>
          </a:solidFill>
          <a:ln xmlns:a="http://schemas.openxmlformats.org/drawingml/2006/main" w="0">
            <a:solidFill>
              <a:srgbClr val="F4BE3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D0618E-8B75-425F-95D3-2AC772082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266950"/>
            <a:ext cx="205740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D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C52A09-7A0E-4FC2-8768-D10BC1D1C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266950"/>
            <a:ext cx="2057400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9A8A"/>
          </a:solidFill>
          <a:ln xmlns:a="http://schemas.openxmlformats.org/drawingml/2006/main" w="0">
            <a:solidFill>
              <a:srgbClr val="159A8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A76AFE-51E3-4D88-90DC-15D18881F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524125"/>
            <a:ext cx="1752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1723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17231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231F"/>
                </a:solidFill>
                <a:latin typeface="Arial"/>
                <a:ea typeface="Arial"/>
                <a:cs typeface="Arial"/>
              </a:rPr>
              <a:t>Render build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C48FF5-07C1-4665-9004-890A4B4FB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914650"/>
            <a:ext cx="1790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>
                <a:solidFill>
                  <a:srgbClr val="48605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>
                <a:solidFill>
                  <a:srgbClr val="486058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486058"/>
                </a:solidFill>
                <a:latin typeface="Arial"/>
                <a:ea typeface="Arial"/>
                <a:cs typeface="Arial"/>
              </a:rPr>
              <a:t>pip install -r requirements.txt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8A3504-BD3B-4149-B598-01D8E5B41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762250"/>
            <a:ext cx="428625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4BE3B"/>
          </a:solidFill>
          <a:ln xmlns:a="http://schemas.openxmlformats.org/drawingml/2006/main" w="0">
            <a:solidFill>
              <a:srgbClr val="F4BE3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4A6EE4-18B6-49A1-9E14-89829B9D4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266950"/>
            <a:ext cx="205740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D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19A3B4A-FF19-4A6E-944F-D48EAB456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266950"/>
            <a:ext cx="2057400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6F51"/>
          </a:solidFill>
          <a:ln xmlns:a="http://schemas.openxmlformats.org/drawingml/2006/main" w="0">
            <a:solidFill>
              <a:srgbClr val="E76F5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18DEE52-3DCA-4E0E-8B88-CAFE18561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524125"/>
            <a:ext cx="1752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1723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17231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231F"/>
                </a:solidFill>
                <a:latin typeface="Arial"/>
                <a:ea typeface="Arial"/>
                <a:cs typeface="Arial"/>
              </a:rPr>
              <a:t>Gunicorn service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11023B-2C03-43CB-91CC-B113D39B1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914650"/>
            <a:ext cx="1790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>
                <a:solidFill>
                  <a:srgbClr val="48605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>
                <a:solidFill>
                  <a:srgbClr val="486058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486058"/>
                </a:solidFill>
                <a:latin typeface="Arial"/>
                <a:ea typeface="Arial"/>
                <a:cs typeface="Arial"/>
              </a:rPr>
              <a:t>gunicorn --bind 0.0.0.0:$PORT app:app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B8DB644-CBBD-494E-8384-5DCF62FE7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762250"/>
            <a:ext cx="428625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4BE3B"/>
          </a:solidFill>
          <a:ln xmlns:a="http://schemas.openxmlformats.org/drawingml/2006/main" w="0">
            <a:solidFill>
              <a:srgbClr val="F4BE3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B7922B5-4971-4072-A3C2-52CEA6C60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266950"/>
            <a:ext cx="205740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D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44AD217-0F07-4C74-BADE-163CFB0B5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266950"/>
            <a:ext cx="2057400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BE3B"/>
          </a:solidFill>
          <a:ln xmlns:a="http://schemas.openxmlformats.org/drawingml/2006/main" w="0">
            <a:solidFill>
              <a:srgbClr val="F4BE3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4D454D0-F805-4D20-90E6-669338081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524125"/>
            <a:ext cx="1752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1723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17231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231F"/>
                </a:solidFill>
                <a:latin typeface="Arial"/>
                <a:ea typeface="Arial"/>
                <a:cs typeface="Arial"/>
              </a:rPr>
              <a:t>Public web app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A3D91B8-6C5A-469B-B1BC-46D80272C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914650"/>
            <a:ext cx="1790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>
                <a:solidFill>
                  <a:srgbClr val="48605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>
                <a:solidFill>
                  <a:srgbClr val="486058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486058"/>
                </a:solidFill>
                <a:latin typeface="Arial"/>
                <a:ea typeface="Arial"/>
                <a:cs typeface="Arial"/>
              </a:rPr>
              <a:t>Browser uploads an image for classification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AD0B11E-2652-49F5-A8CB-F1BB5A340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43434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1723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17231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231F"/>
                </a:solidFill>
                <a:latin typeface="Arial"/>
                <a:ea typeface="Arial"/>
                <a:cs typeface="Arial"/>
              </a:rPr>
              <a:t>Deployment files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495986C-789B-4E02-94AC-0E3FADCE4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387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176B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176B5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6B52"/>
                </a:solidFill>
                <a:latin typeface="Arial"/>
                <a:ea typeface="Arial"/>
                <a:cs typeface="Arial"/>
              </a:rPr>
              <a:t>render.yaml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DE3895D-A95E-4AEF-BC0C-2628A5804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4838700"/>
            <a:ext cx="657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>
                <a:solidFill>
                  <a:srgbClr val="48605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>
                <a:solidFill>
                  <a:srgbClr val="486058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486058"/>
                </a:solidFill>
                <a:latin typeface="Arial"/>
                <a:ea typeface="Arial"/>
                <a:cs typeface="Arial"/>
              </a:rPr>
              <a:t>Defines build command, Gunicorn start command, and Python environment variable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C9B991E-5824-4B70-BF3F-607349EEF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006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176B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176B5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6B52"/>
                </a:solidFill>
                <a:latin typeface="Arial"/>
                <a:ea typeface="Arial"/>
                <a:cs typeface="Arial"/>
              </a:rPr>
              <a:t>runtime.txt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48CE83E-F268-44E8-B798-82BBDC9B9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5200650"/>
            <a:ext cx="657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>
                <a:solidFill>
                  <a:srgbClr val="48605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>
                <a:solidFill>
                  <a:srgbClr val="486058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486058"/>
                </a:solidFill>
                <a:latin typeface="Arial"/>
                <a:ea typeface="Arial"/>
                <a:cs typeface="Arial"/>
              </a:rPr>
              <a:t>Records Python 3.11.9 for compatible deployment tooling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A26668E-82A4-4377-AA42-7E94279AA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626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176B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176B5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6B52"/>
                </a:solidFill>
                <a:latin typeface="Arial"/>
                <a:ea typeface="Arial"/>
                <a:cs typeface="Arial"/>
              </a:rPr>
              <a:t>.python-version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0C808B8-2AF3-4CF9-945A-2AA98D6C3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5562600"/>
            <a:ext cx="657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>
                <a:solidFill>
                  <a:srgbClr val="48605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>
                <a:solidFill>
                  <a:srgbClr val="486058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486058"/>
                </a:solidFill>
                <a:latin typeface="Arial"/>
                <a:ea typeface="Arial"/>
                <a:cs typeface="Arial"/>
              </a:rPr>
              <a:t>Pins the project runtime to Python 3.11.9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C0C599E-B1A0-4D9B-A057-DB9561299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9245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176B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176B5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6B52"/>
                </a:solidFill>
                <a:latin typeface="Arial"/>
                <a:ea typeface="Arial"/>
                <a:cs typeface="Arial"/>
              </a:rPr>
              <a:t>Procfile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00D3C7B-D6C6-4F6D-870B-CCEF53AD1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5924550"/>
            <a:ext cx="657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>
                <a:solidFill>
                  <a:srgbClr val="48605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>
                <a:solidFill>
                  <a:srgbClr val="486058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486058"/>
                </a:solidFill>
                <a:latin typeface="Arial"/>
                <a:ea typeface="Arial"/>
                <a:cs typeface="Arial"/>
              </a:rPr>
              <a:t>Provides a process command for compatible hosts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E69042F-C237-4968-BDAE-FB3319F67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>
                <a:solidFill>
                  <a:srgbClr val="48605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00">
                <a:solidFill>
                  <a:srgbClr val="486058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486058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38517462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757DBF-5C81-4C71-8990-93ED07994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8953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75" b="1">
                <a:solidFill>
                  <a:srgbClr val="1723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75" b="1">
                <a:solidFill>
                  <a:srgbClr val="17231F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7231F"/>
                </a:solidFill>
                <a:latin typeface="Arial"/>
                <a:ea typeface="Arial"/>
                <a:cs typeface="Arial"/>
              </a:rPr>
              <a:t>Render deployment issue and fix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A1302A-3BF2-4628-9A9F-D173DF756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71550"/>
            <a:ext cx="895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>
                <a:solidFill>
                  <a:srgbClr val="48605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>
                <a:solidFill>
                  <a:srgbClr val="486058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86058"/>
                </a:solidFill>
                <a:latin typeface="Arial"/>
                <a:ea typeface="Arial"/>
                <a:cs typeface="Arial"/>
              </a:rPr>
              <a:t>Pin Python 3.11.9 because the default Python 3.14.3 build cannot install the requested TensorFlow package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C2839D-810B-43C6-8DFD-B10918506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14450"/>
            <a:ext cx="800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89460C-E1D6-42AB-AD91-133DD7E6E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47850"/>
            <a:ext cx="4667250" cy="2781300"/>
          </a:xfrm>
          <a:prstGeom xmlns:a="http://schemas.openxmlformats.org/drawingml/2006/main" prst="roundRect">
            <a:avLst>
              <a:gd name="adj" fmla="val 2740"/>
            </a:avLst>
          </a:prstGeom>
          <a:solidFill xmlns:a="http://schemas.openxmlformats.org/drawingml/2006/main">
            <a:srgbClr val="FCE9E4"/>
          </a:solidFill>
          <a:ln xmlns:a="http://schemas.openxmlformats.org/drawingml/2006/main" w="0">
            <a:solidFill>
              <a:srgbClr val="FCE9E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23CE51-8DE0-4E1F-8F48-1DE6B698C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19075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E76F5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E76F5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E76F51"/>
                </a:solidFill>
                <a:latin typeface="Arial"/>
                <a:ea typeface="Arial"/>
                <a:cs typeface="Arial"/>
              </a:rPr>
              <a:t>Why the build failed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790B5D-484C-418B-A282-CC6C167D2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762250"/>
            <a:ext cx="3810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>
                <a:solidFill>
                  <a:srgbClr val="1723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>
                <a:solidFill>
                  <a:srgbClr val="17231F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7231F"/>
                </a:solidFill>
                <a:latin typeface="Arial"/>
                <a:ea typeface="Arial"/>
                <a:cs typeface="Arial"/>
              </a:rPr>
              <a:t>Render selected Python 3.14.3 by default. The package installer then reported that no compatible tensorflow&gt;=2.15 distribution was available.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C66E57-22E3-43D4-9B23-D26279FC3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857625"/>
            <a:ext cx="3905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48605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48605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486058"/>
                </a:solidFill>
                <a:latin typeface="Arial"/>
                <a:ea typeface="Arial"/>
                <a:cs typeface="Arial"/>
              </a:rPr>
              <a:t>Observed build error:</a:t>
            </a:r>
          </a:p>
          <a:p xmlns:a="http://schemas.openxmlformats.org/drawingml/2006/main">
            <a:pPr>
              <a:defRPr sz="1125" b="1">
                <a:solidFill>
                  <a:srgbClr val="48605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486058"/>
                </a:solidFill>
                <a:latin typeface="Arial"/>
                <a:ea typeface="Arial"/>
                <a:cs typeface="Arial"/>
              </a:rPr>
              <a:t>No matching distribution found for tensorflow&gt;=2.15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323E75-07B5-4D62-84A9-BE1ADBE94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847850"/>
            <a:ext cx="5314950" cy="2781300"/>
          </a:xfrm>
          <a:prstGeom xmlns:a="http://schemas.openxmlformats.org/drawingml/2006/main" prst="roundRect">
            <a:avLst>
              <a:gd name="adj" fmla="val 2740"/>
            </a:avLst>
          </a:prstGeom>
          <a:solidFill xmlns:a="http://schemas.openxmlformats.org/drawingml/2006/main">
            <a:srgbClr val="E4F4F0"/>
          </a:solidFill>
          <a:ln xmlns:a="http://schemas.openxmlformats.org/drawingml/2006/main" w="0">
            <a:solidFill>
              <a:srgbClr val="E4F4F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4F3EEF-5C54-43CF-B581-D9A0168AD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2190750"/>
            <a:ext cx="3619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76B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76B52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6B52"/>
                </a:solidFill>
                <a:latin typeface="Arial"/>
                <a:ea typeface="Arial"/>
                <a:cs typeface="Arial"/>
              </a:rPr>
              <a:t>Configured solution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273380-2D54-4AF0-9D1E-4395C8BDA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2743200"/>
            <a:ext cx="423862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>
                <a:solidFill>
                  <a:srgbClr val="1723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>
                <a:solidFill>
                  <a:srgbClr val="17231F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7231F"/>
                </a:solidFill>
                <a:latin typeface="Arial"/>
                <a:ea typeface="Arial"/>
                <a:cs typeface="Arial"/>
              </a:rPr>
              <a:t>1. Set the Render environment variable PYTHON_VERSION to 3.11.9.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>
                <a:solidFill>
                  <a:srgbClr val="17231F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7231F"/>
                </a:solidFill>
                <a:latin typeface="Arial"/>
                <a:ea typeface="Arial"/>
                <a:cs typeface="Arial"/>
              </a:rPr>
              <a:t>2. Keep runtime.txt and .python-version set to 3.11.9.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>
                <a:solidFill>
                  <a:srgbClr val="17231F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7231F"/>
                </a:solidFill>
                <a:latin typeface="Arial"/>
                <a:ea typeface="Arial"/>
                <a:cs typeface="Arial"/>
              </a:rPr>
              <a:t>3. Clear the build cache, then deploy again.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8BA7BA-E4BC-48D6-96E8-E92B67B2B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257800"/>
            <a:ext cx="87630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176B52"/>
          </a:solidFill>
          <a:ln xmlns:a="http://schemas.openxmlformats.org/drawingml/2006/main" w="0">
            <a:solidFill>
              <a:srgbClr val="176B5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4F235D-52B0-4612-9548-28D399DE0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467350"/>
            <a:ext cx="800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Expected result after redeploy: Render installs TensorFlow on Python 3.11.9 and starts the Flask app with Gunicorn.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5F5618-2BB2-4452-87B4-1C9A551B2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>
                <a:solidFill>
                  <a:srgbClr val="48605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00">
                <a:solidFill>
                  <a:srgbClr val="486058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486058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7123399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2026-10-11T18:48:01.5460000Z</dcterms:created>
  <dcterms:modified xsi:type="dcterms:W3CDTF">2026-10-11T18:48:01.5460000Z</dcterms:modified>
</coreProperties>
</file>