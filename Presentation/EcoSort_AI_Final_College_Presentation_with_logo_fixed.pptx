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 sz="15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Image count by class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Images</c:v>
          </c:tx>
          <c:spPr>
            <a:solidFill>
              <a:srgbClr val="25865E"/>
            </a:solidFill>
          </c:spPr>
          <c:invertIfNegative val="0"/>
          <c:cat>
            <c:strLit>
              <c:ptCount val="12"/>
              <c:pt idx="0">
                <c:v>battery</c:v>
              </c:pt>
              <c:pt idx="1">
                <c:v>biological</c:v>
              </c:pt>
              <c:pt idx="2">
                <c:v>brown-glass</c:v>
              </c:pt>
              <c:pt idx="3">
                <c:v>cardboard</c:v>
              </c:pt>
              <c:pt idx="4">
                <c:v>clothes</c:v>
              </c:pt>
              <c:pt idx="5">
                <c:v>green-glass</c:v>
              </c:pt>
              <c:pt idx="6">
                <c:v>metal</c:v>
              </c:pt>
              <c:pt idx="7">
                <c:v>paper</c:v>
              </c:pt>
              <c:pt idx="8">
                <c:v>plastic</c:v>
              </c:pt>
              <c:pt idx="9">
                <c:v>shoes</c:v>
              </c:pt>
              <c:pt idx="10">
                <c:v>trash</c:v>
              </c:pt>
              <c:pt idx="11">
                <c:v>white-glass</c:v>
              </c:pt>
            </c:strLit>
          </c:cat>
          <c:val>
            <c:numLit>
              <c:formatCode>General</c:formatCode>
              <c:ptCount val="12"/>
              <c:pt idx="0">
                <c:v>945</c:v>
              </c:pt>
              <c:pt idx="1">
                <c:v>985</c:v>
              </c:pt>
              <c:pt idx="2">
                <c:v>607</c:v>
              </c:pt>
              <c:pt idx="3">
                <c:v>891</c:v>
              </c:pt>
              <c:pt idx="4">
                <c:v>5325</c:v>
              </c:pt>
              <c:pt idx="5">
                <c:v>629</c:v>
              </c:pt>
              <c:pt idx="6">
                <c:v>769</c:v>
              </c:pt>
              <c:pt idx="7">
                <c:v>1050</c:v>
              </c:pt>
              <c:pt idx="8">
                <c:v>865</c:v>
              </c:pt>
              <c:pt idx="9">
                <c:v>1977</c:v>
              </c:pt>
              <c:pt idx="10">
                <c:v>697</c:v>
              </c:pt>
              <c:pt idx="11">
                <c:v>775</c:v>
              </c:pt>
            </c:numLit>
          </c:val>
          <c:extLst>
            <c:ext xmlns:c16="http://schemas.microsoft.com/office/drawing/2014/chart" uri="{C3380CC4-5D6E-409C-BE32-E72D297353CC}">
              <c16:uniqueId val="{00000000-14E2-48DE-87A1-C68DF241BD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Project repository, app brand asset in static/garbage-ai-logo.jpg.</a:t>
            </a:r>
          </a:p>
          <a:p>
            <a:r>
              <a:t>Presenter cue: Introduce the team and state the project's goal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README.md, app.py, templates/index.html.</a:t>
            </a:r>
          </a:p>
          <a:p>
            <a:r>
              <a:t>Presenter cue: Explain that the app is a decision aid. It does not replace local waste instructions.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models/metadata.json and README.md. Counts sum to 15,515 images.</a:t>
            </a:r>
          </a:p>
          <a:p>
            <a:r>
              <a:t>Presenter cue: Point out the class imbalance and connect it to class-weighted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garbage_classification_model.ipynb, sections 3-8.</a:t>
            </a:r>
          </a:p>
          <a:p>
            <a:r>
              <a:t>Presenter cue: Mention that augmentation is used during training, not to alter the user's captured image in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garbage_classification_model.ipynb, section 9 and section 11.</a:t>
            </a:r>
          </a:p>
          <a:p>
            <a:r>
              <a:t>Presenter cue: Explain why transfer learning is useful when building a classifier for a focused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garbage_classification_model.ipynb, sections 7, 10, and 11.</a:t>
            </a:r>
          </a:p>
          <a:p>
            <a:r>
              <a:t>Presenter cue: The maximum epochs are upper bounds because early stopping can end training sooner.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models/metadata.json and models/training_history.png. Validation accuracy 0.9468256, validation loss 0.1720355.</a:t>
            </a:r>
          </a:p>
          <a:p>
            <a:r>
              <a:t>Presenter cue: Separate this validation result from an independent real-world test score, which the repository does not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templates/index.html and app.py routes / and /api/predict-frame. Interface previews are reconstructed from the project's implemented controls; the Flask/TensorFlow server was not available for live capture.</a:t>
            </a:r>
          </a:p>
          <a:p>
            <a:r>
              <a:t>Presenter cue: The browser shows a live camera preview. The user captures and reviews a still image, then starts one prediction. The app does not continuously classify video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app.py, especially predict_image(), load_model(), index(), and predict_frame().</a:t>
            </a:r>
          </a:p>
          <a:p>
            <a:r>
              <a:t>Presenter cue: Describe the difference between the client-side camera stream and the single still image sent for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static/manifest.webmanifest, static/service-worker.js, render.yaml, Procfile, runtime.txt, and .python-version.</a:t>
            </a:r>
          </a:p>
          <a:p>
            <a:r>
              <a:t>Presenter cue: Clarify that this is a mobile-friendly PWA, not a native Android APK, and inference is server-side.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Team names supplied by the user. Role assignments are proposed from the project's work areas because contribution history is not recorded in the repository.</a:t>
            </a:r>
          </a:p>
          <a:p>
            <a:r>
              <a:t>Presenter cue: Confirm the role split reflects the team's actual contributions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models/metadata.json and garbage_classification_model.ipynb. The repository reports validation metrics but no independent test metrics.</a:t>
            </a:r>
          </a:p>
          <a:p>
            <a:r>
              <a:t>Presenter cue: Discuss next steps as future work, not as features already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source: Project repository.</a:t>
            </a:r>
          </a:p>
          <a:p>
            <a:r>
              <a:t>Presenter cue: Invite questions about the model, camera capture flow, or validation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E045D67-3754-4904-AD47-B9B597B71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9C51366-6FEF-4264-A64D-7C0B63B07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797A19F-A145-4955-A346-65E6973C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F140F63-719B-41AA-A49B-F7B2A6319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E577D09-52C7-448F-91F8-9B0C2D32D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3A85DFB-A896-48FA-A836-709DAD09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605CE4-3158-4646-902C-9873048A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F842977-58FA-4A22-BE1C-D4B7927102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595886B-4445-485E-977E-7472CBD4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A190B41-1879-4839-9A4A-733F0518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ver-left-rule">
            <a:extLst>
              <a:ext uri="{FF2B5EF4-FFF2-40B4-BE49-F238E27FC236}">
                <a16:creationId xmlns:a16="http://schemas.microsoft.com/office/drawing/2014/main" id="{30FDF704-F786-45FB-8B07-32132D9A96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B6DC37"/>
          </a:solidFill>
          <a:ln w="0">
            <a:noFill/>
            <a:prstDash val="solid"/>
          </a:ln>
        </p:spPr>
      </p:sp>
      <p:sp>
        <p:nvSpPr>
          <p:cNvPr id="2" name="cover-right-field">
            <a:extLst>
              <a:ext uri="{FF2B5EF4-FFF2-40B4-BE49-F238E27FC236}">
                <a16:creationId xmlns:a16="http://schemas.microsoft.com/office/drawing/2014/main" id="{BCB451B4-23BC-4979-99B8-27611359655F}"/>
              </a:ext>
            </a:extLst>
          </p:cNvPr>
          <p:cNvSpPr>
            <a:spLocks noGrp="1"/>
          </p:cNvSpPr>
          <p:nvPr/>
        </p:nvSpPr>
        <p:spPr>
          <a:xfrm>
            <a:off x="8334375" y="0"/>
            <a:ext cx="3857625" cy="6858000"/>
          </a:xfrm>
          <a:prstGeom prst="rect">
            <a:avLst/>
          </a:prstGeom>
          <a:solidFill>
            <a:srgbClr val="F3F7F1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6219A-74C0-4512-9243-446D2DA26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1381125"/>
            <a:ext cx="3333750" cy="3333750"/>
          </a:xfrm>
          <a:prstGeom prst="ellipse">
            <a:avLst/>
          </a:prstGeom>
        </p:spPr>
      </p:pic>
      <p:sp>
        <p:nvSpPr>
          <p:cNvPr id="4" name="cover-eyebrow">
            <a:extLst>
              <a:ext uri="{FF2B5EF4-FFF2-40B4-BE49-F238E27FC236}">
                <a16:creationId xmlns:a16="http://schemas.microsoft.com/office/drawing/2014/main" id="{0C43E188-2045-4CD4-9BDD-D3D28D0B94A4}"/>
              </a:ext>
            </a:extLst>
          </p:cNvPr>
          <p:cNvSpPr>
            <a:spLocks noGrp="1"/>
          </p:cNvSpPr>
          <p:nvPr/>
        </p:nvSpPr>
        <p:spPr>
          <a:xfrm>
            <a:off x="723900" y="8763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>
                <a:solidFill>
                  <a:srgbClr val="B6DC37"/>
                </a:solidFill>
                <a:latin typeface="Arial"/>
                <a:ea typeface="Arial"/>
                <a:cs typeface="Arial"/>
              </a:rPr>
              <a:t>Department of Compu</a:t>
            </a:r>
            <a:r>
              <a:rPr lang="en-IN" dirty="0"/>
              <a:t>ter Science and Engineering</a:t>
            </a:r>
            <a:endParaRPr sz="1275" b="1" dirty="0">
              <a:solidFill>
                <a:srgbClr val="B6DC3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cover-title">
            <a:extLst>
              <a:ext uri="{FF2B5EF4-FFF2-40B4-BE49-F238E27FC236}">
                <a16:creationId xmlns:a16="http://schemas.microsoft.com/office/drawing/2014/main" id="{9CFAE38C-A37A-472E-BB25-C173E7B1A908}"/>
              </a:ext>
            </a:extLst>
          </p:cNvPr>
          <p:cNvSpPr>
            <a:spLocks noGrp="1"/>
          </p:cNvSpPr>
          <p:nvPr/>
        </p:nvSpPr>
        <p:spPr>
          <a:xfrm>
            <a:off x="723900" y="1476375"/>
            <a:ext cx="704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AI-Powered</a:t>
            </a:r>
          </a:p>
          <a:p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Waste Classification</a:t>
            </a:r>
          </a:p>
        </p:txBody>
      </p:sp>
      <p:sp>
        <p:nvSpPr>
          <p:cNvPr id="6" name="cover-subtitle">
            <a:extLst>
              <a:ext uri="{FF2B5EF4-FFF2-40B4-BE49-F238E27FC236}">
                <a16:creationId xmlns:a16="http://schemas.microsoft.com/office/drawing/2014/main" id="{23363CBB-3515-4335-9391-9CA22D8751B9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647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BCE5C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CE5C9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7" name="cover-divider">
            <a:extLst>
              <a:ext uri="{FF2B5EF4-FFF2-40B4-BE49-F238E27FC236}">
                <a16:creationId xmlns:a16="http://schemas.microsoft.com/office/drawing/2014/main" id="{A4068ADD-9061-4D6B-B20F-BD802072E780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6477000" cy="0"/>
          </a:xfrm>
          <a:prstGeom prst="line">
            <a:avLst/>
          </a:prstGeom>
          <a:noFill/>
          <a:ln w="19050">
            <a:solidFill>
              <a:srgbClr val="35634D"/>
            </a:solidFill>
            <a:prstDash val="solid"/>
          </a:ln>
        </p:spPr>
      </p:sp>
      <p:sp>
        <p:nvSpPr>
          <p:cNvPr id="8" name="cover-team-label">
            <a:extLst>
              <a:ext uri="{FF2B5EF4-FFF2-40B4-BE49-F238E27FC236}">
                <a16:creationId xmlns:a16="http://schemas.microsoft.com/office/drawing/2014/main" id="{4A9AE872-890F-44D3-869C-85DDC7C5D690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381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PROJECT TEAM</a:t>
            </a:r>
          </a:p>
        </p:txBody>
      </p:sp>
      <p:sp>
        <p:nvSpPr>
          <p:cNvPr id="9" name="cover-team">
            <a:extLst>
              <a:ext uri="{FF2B5EF4-FFF2-40B4-BE49-F238E27FC236}">
                <a16:creationId xmlns:a16="http://schemas.microsoft.com/office/drawing/2014/main" id="{E86E1BB7-AC25-4B19-A00F-CF5422B479AD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704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Arshpreet Singh   |   Sar</a:t>
            </a:r>
            <a:r>
              <a:rPr lang="en-IN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bjit</a:t>
            </a:r>
            <a:r>
              <a:rPr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Singh   |   Pooja</a:t>
            </a:r>
          </a:p>
        </p:txBody>
      </p:sp>
      <p:sp>
        <p:nvSpPr>
          <p:cNvPr id="10" name="cover-institution">
            <a:extLst>
              <a:ext uri="{FF2B5EF4-FFF2-40B4-BE49-F238E27FC236}">
                <a16:creationId xmlns:a16="http://schemas.microsoft.com/office/drawing/2014/main" id="{9662B17A-6AC5-476F-9060-D8887AB921FB}"/>
              </a:ext>
            </a:extLst>
          </p:cNvPr>
          <p:cNvSpPr>
            <a:spLocks noGrp="1"/>
          </p:cNvSpPr>
          <p:nvPr/>
        </p:nvSpPr>
        <p:spPr>
          <a:xfrm>
            <a:off x="762000" y="502920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IK Gujral Punjab Technical University  /  Hoshiarpur Campus</a:t>
            </a:r>
          </a:p>
        </p:txBody>
      </p:sp>
      <p:sp>
        <p:nvSpPr>
          <p:cNvPr id="11" name="cover-department">
            <a:extLst>
              <a:ext uri="{FF2B5EF4-FFF2-40B4-BE49-F238E27FC236}">
                <a16:creationId xmlns:a16="http://schemas.microsoft.com/office/drawing/2014/main" id="{7EBADB96-0285-4CB4-A4EB-0AD49094D5C7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12" name="cover-mentors">
            <a:extLst>
              <a:ext uri="{FF2B5EF4-FFF2-40B4-BE49-F238E27FC236}">
                <a16:creationId xmlns:a16="http://schemas.microsoft.com/office/drawing/2014/main" id="{C7CD8C6F-B59A-48B5-BF94-BEC8C8E2C90B}"/>
              </a:ext>
            </a:extLst>
          </p:cNvPr>
          <p:cNvSpPr>
            <a:spLocks noGrp="1"/>
          </p:cNvSpPr>
          <p:nvPr/>
        </p:nvSpPr>
        <p:spPr>
          <a:xfrm>
            <a:off x="762000" y="5534025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Project Mentor and HOD: Dr. Brijesh Bakariya  /  Project Co-Mentor: Er. Satyam Sharma</a:t>
            </a:r>
          </a:p>
        </p:txBody>
      </p:sp>
      <p:sp>
        <p:nvSpPr>
          <p:cNvPr id="13" name="cover-field-label">
            <a:extLst>
              <a:ext uri="{FF2B5EF4-FFF2-40B4-BE49-F238E27FC236}">
                <a16:creationId xmlns:a16="http://schemas.microsoft.com/office/drawing/2014/main" id="{FB856F5D-A3E4-4C89-81D3-9B534397F30A}"/>
              </a:ext>
            </a:extLst>
          </p:cNvPr>
          <p:cNvSpPr>
            <a:spLocks noGrp="1"/>
          </p:cNvSpPr>
          <p:nvPr/>
        </p:nvSpPr>
        <p:spPr>
          <a:xfrm>
            <a:off x="762000" y="5762625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Deep Learning  /  Computer Vision  /  Sustainability</a:t>
            </a:r>
          </a:p>
        </p:txBody>
      </p:sp>
      <p:sp>
        <p:nvSpPr>
          <p:cNvPr id="14" name="cover-footer-rule-dark">
            <a:extLst>
              <a:ext uri="{FF2B5EF4-FFF2-40B4-BE49-F238E27FC236}">
                <a16:creationId xmlns:a16="http://schemas.microsoft.com/office/drawing/2014/main" id="{E36DB459-954F-49FD-8286-5E1D1D1B98A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7581900" cy="0"/>
          </a:xfrm>
          <a:prstGeom prst="line">
            <a:avLst/>
          </a:prstGeom>
          <a:noFill/>
          <a:ln w="9525">
            <a:solidFill>
              <a:srgbClr val="35634D"/>
            </a:solidFill>
            <a:prstDash val="solid"/>
          </a:ln>
        </p:spPr>
      </p:sp>
      <p:sp>
        <p:nvSpPr>
          <p:cNvPr id="15" name="cover-footer-rule-light">
            <a:extLst>
              <a:ext uri="{FF2B5EF4-FFF2-40B4-BE49-F238E27FC236}">
                <a16:creationId xmlns:a16="http://schemas.microsoft.com/office/drawing/2014/main" id="{151823A3-FA1E-45AB-B554-087EDB3CECF7}"/>
              </a:ext>
            </a:extLst>
          </p:cNvPr>
          <p:cNvSpPr>
            <a:spLocks noGrp="1"/>
          </p:cNvSpPr>
          <p:nvPr/>
        </p:nvSpPr>
        <p:spPr>
          <a:xfrm>
            <a:off x="8572500" y="6429375"/>
            <a:ext cx="30099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16" name="cover-footer-brand">
            <a:extLst>
              <a:ext uri="{FF2B5EF4-FFF2-40B4-BE49-F238E27FC236}">
                <a16:creationId xmlns:a16="http://schemas.microsoft.com/office/drawing/2014/main" id="{54B456F0-FB0A-4530-B526-07B6F663D55F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lang="en-IN" sz="975" b="1" dirty="0">
                <a:solidFill>
                  <a:srgbClr val="C9DED0"/>
                </a:solidFill>
                <a:latin typeface="Arial"/>
                <a:ea typeface="Arial"/>
                <a:cs typeface="Arial"/>
              </a:rPr>
              <a:t>ECOSORT AI  </a:t>
            </a:r>
            <a:endParaRPr sz="975" b="1" dirty="0">
              <a:solidFill>
                <a:srgbClr val="C9DE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cover-footer-number">
            <a:extLst>
              <a:ext uri="{FF2B5EF4-FFF2-40B4-BE49-F238E27FC236}">
                <a16:creationId xmlns:a16="http://schemas.microsoft.com/office/drawing/2014/main" id="{0823D7AA-5AB8-4324-B72D-744B6A6EA0BC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C74388-90EB-6EE1-5CDA-A259BA87D42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9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op-accent-2">
            <a:extLst>
              <a:ext uri="{FF2B5EF4-FFF2-40B4-BE49-F238E27FC236}">
                <a16:creationId xmlns:a16="http://schemas.microsoft.com/office/drawing/2014/main" id="{075673CA-785D-496A-9503-D7270408B5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2">
            <a:extLst>
              <a:ext uri="{FF2B5EF4-FFF2-40B4-BE49-F238E27FC236}">
                <a16:creationId xmlns:a16="http://schemas.microsoft.com/office/drawing/2014/main" id="{F8A0E1D9-A465-4C12-82B0-B400F2A9184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3" name="slide-subtitle-2">
            <a:extLst>
              <a:ext uri="{FF2B5EF4-FFF2-40B4-BE49-F238E27FC236}">
                <a16:creationId xmlns:a16="http://schemas.microsoft.com/office/drawing/2014/main" id="{C99F120C-BE06-4CA5-860B-C8ADADC4BE59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 browser-based assistant that predicts the material category of a waste photo.</a:t>
            </a:r>
          </a:p>
        </p:txBody>
      </p:sp>
      <p:sp>
        <p:nvSpPr>
          <p:cNvPr id="4" name="footer-rule-2">
            <a:extLst>
              <a:ext uri="{FF2B5EF4-FFF2-40B4-BE49-F238E27FC236}">
                <a16:creationId xmlns:a16="http://schemas.microsoft.com/office/drawing/2014/main" id="{7E722963-CB72-40F4-83EB-1315B6A2AE7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2">
            <a:extLst>
              <a:ext uri="{FF2B5EF4-FFF2-40B4-BE49-F238E27FC236}">
                <a16:creationId xmlns:a16="http://schemas.microsoft.com/office/drawing/2014/main" id="{E4DE3902-8B6D-430D-ABE2-04FC7FC74A47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2">
            <a:extLst>
              <a:ext uri="{FF2B5EF4-FFF2-40B4-BE49-F238E27FC236}">
                <a16:creationId xmlns:a16="http://schemas.microsoft.com/office/drawing/2014/main" id="{A17A1D86-D202-4E4F-BE5E-EFD71074392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overview-divider">
            <a:extLst>
              <a:ext uri="{FF2B5EF4-FFF2-40B4-BE49-F238E27FC236}">
                <a16:creationId xmlns:a16="http://schemas.microsoft.com/office/drawing/2014/main" id="{0EE74E0C-0855-4877-B11A-3A8F52662C98}"/>
              </a:ext>
            </a:extLst>
          </p:cNvPr>
          <p:cNvSpPr>
            <a:spLocks noGrp="1"/>
          </p:cNvSpPr>
          <p:nvPr/>
        </p:nvSpPr>
        <p:spPr>
          <a:xfrm>
            <a:off x="5953125" y="1666875"/>
            <a:ext cx="0" cy="4000500"/>
          </a:xfrm>
          <a:prstGeom prst="line">
            <a:avLst/>
          </a:prstGeom>
          <a:noFill/>
          <a:ln w="19050">
            <a:solidFill>
              <a:srgbClr val="D7E2D9"/>
            </a:solidFill>
            <a:prstDash val="solid"/>
          </a:ln>
        </p:spPr>
      </p:sp>
      <p:sp>
        <p:nvSpPr>
          <p:cNvPr id="8" name="overview-problem-head">
            <a:extLst>
              <a:ext uri="{FF2B5EF4-FFF2-40B4-BE49-F238E27FC236}">
                <a16:creationId xmlns:a16="http://schemas.microsoft.com/office/drawing/2014/main" id="{1B106EDF-5543-4FD1-9D24-6C9107DAF1CD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9" name="overview-problem">
            <a:extLst>
              <a:ext uri="{FF2B5EF4-FFF2-40B4-BE49-F238E27FC236}">
                <a16:creationId xmlns:a16="http://schemas.microsoft.com/office/drawing/2014/main" id="{9205CD38-6393-445E-8BE3-3B15273BF9BB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572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People often face uncertainty when sorting everyday waste. A wrong choice can contaminate otherwise recyclable material.</a:t>
            </a:r>
          </a:p>
        </p:txBody>
      </p:sp>
      <p:sp>
        <p:nvSpPr>
          <p:cNvPr id="10" name="overview-goal-head">
            <a:extLst>
              <a:ext uri="{FF2B5EF4-FFF2-40B4-BE49-F238E27FC236}">
                <a16:creationId xmlns:a16="http://schemas.microsoft.com/office/drawing/2014/main" id="{E3562A0C-5E1F-4342-A9A2-9B089349C2D9}"/>
              </a:ext>
            </a:extLst>
          </p:cNvPr>
          <p:cNvSpPr>
            <a:spLocks noGrp="1"/>
          </p:cNvSpPr>
          <p:nvPr/>
        </p:nvSpPr>
        <p:spPr>
          <a:xfrm>
            <a:off x="6477000" y="1666875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2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Project goal</a:t>
            </a:r>
          </a:p>
        </p:txBody>
      </p:sp>
      <p:sp>
        <p:nvSpPr>
          <p:cNvPr id="11" name="overview-goal">
            <a:extLst>
              <a:ext uri="{FF2B5EF4-FFF2-40B4-BE49-F238E27FC236}">
                <a16:creationId xmlns:a16="http://schemas.microsoft.com/office/drawing/2014/main" id="{6F3B4C43-EE14-4731-AB82-688CDB96EB8D}"/>
              </a:ext>
            </a:extLst>
          </p:cNvPr>
          <p:cNvSpPr>
            <a:spLocks noGrp="1"/>
          </p:cNvSpPr>
          <p:nvPr/>
        </p:nvSpPr>
        <p:spPr>
          <a:xfrm>
            <a:off x="6477000" y="2209800"/>
            <a:ext cx="4762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Use a trained image classifier to return a likely waste class and confidence scores through a simple photo or camera workflow.</a:t>
            </a:r>
          </a:p>
        </p:txBody>
      </p:sp>
      <p:sp>
        <p:nvSpPr>
          <p:cNvPr id="12" name="overview-delivers-head">
            <a:extLst>
              <a:ext uri="{FF2B5EF4-FFF2-40B4-BE49-F238E27FC236}">
                <a16:creationId xmlns:a16="http://schemas.microsoft.com/office/drawing/2014/main" id="{EE420E92-6AAE-4551-8898-9570AF4900D2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76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What the project delivers</a:t>
            </a:r>
          </a:p>
        </p:txBody>
      </p:sp>
      <p:sp>
        <p:nvSpPr>
          <p:cNvPr id="13" name="overview-delivers">
            <a:extLst>
              <a:ext uri="{FF2B5EF4-FFF2-40B4-BE49-F238E27FC236}">
                <a16:creationId xmlns:a16="http://schemas.microsoft.com/office/drawing/2014/main" id="{BDE219BD-C8A6-427A-B968-EB03BF1AB06E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033462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12-class image classification model</a:t>
            </a:r>
          </a:p>
          <a:p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Photo upload and ranked prediction results</a:t>
            </a:r>
          </a:p>
          <a:p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Camera preview with capture, review, and predict steps</a:t>
            </a:r>
          </a:p>
          <a:p>
            <a:pPr marL="228600" indent="-114300">
              <a:spcAft>
                <a:spcPts val="5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Mobile-friendly installable web app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42AE7E-8E12-3F43-F9C9-EB4D62093B3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9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op-accent-3">
            <a:extLst>
              <a:ext uri="{FF2B5EF4-FFF2-40B4-BE49-F238E27FC236}">
                <a16:creationId xmlns:a16="http://schemas.microsoft.com/office/drawing/2014/main" id="{A0C3F1A2-8ED7-4845-BC78-E89A01374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3">
            <a:extLst>
              <a:ext uri="{FF2B5EF4-FFF2-40B4-BE49-F238E27FC236}">
                <a16:creationId xmlns:a16="http://schemas.microsoft.com/office/drawing/2014/main" id="{1BA9F187-9516-4ED3-B1DA-9E263A85291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Dataset and Waste Classes</a:t>
            </a:r>
          </a:p>
        </p:txBody>
      </p:sp>
      <p:sp>
        <p:nvSpPr>
          <p:cNvPr id="3" name="slide-subtitle-3">
            <a:extLst>
              <a:ext uri="{FF2B5EF4-FFF2-40B4-BE49-F238E27FC236}">
                <a16:creationId xmlns:a16="http://schemas.microsoft.com/office/drawing/2014/main" id="{93922AF6-9AFE-45E6-A37B-0B7AE328CB2E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Folder-based image dataset with one directory for each target label.</a:t>
            </a:r>
          </a:p>
        </p:txBody>
      </p:sp>
      <p:sp>
        <p:nvSpPr>
          <p:cNvPr id="4" name="footer-rule-3">
            <a:extLst>
              <a:ext uri="{FF2B5EF4-FFF2-40B4-BE49-F238E27FC236}">
                <a16:creationId xmlns:a16="http://schemas.microsoft.com/office/drawing/2014/main" id="{F445440D-EA57-46E0-9AA7-35C0271525C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3">
            <a:extLst>
              <a:ext uri="{FF2B5EF4-FFF2-40B4-BE49-F238E27FC236}">
                <a16:creationId xmlns:a16="http://schemas.microsoft.com/office/drawing/2014/main" id="{095DA289-9A36-4C1B-B498-E762700AF4E6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3">
            <a:extLst>
              <a:ext uri="{FF2B5EF4-FFF2-40B4-BE49-F238E27FC236}">
                <a16:creationId xmlns:a16="http://schemas.microsoft.com/office/drawing/2014/main" id="{B4C86AF9-51A6-4DE9-BA07-6E5A1C484846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dataset-total">
            <a:extLst>
              <a:ext uri="{FF2B5EF4-FFF2-40B4-BE49-F238E27FC236}">
                <a16:creationId xmlns:a16="http://schemas.microsoft.com/office/drawing/2014/main" id="{85EB9069-0C05-4983-9EE2-39096B3626A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59"/>
          </a:bodyPr>
          <a:lstStyle>
            <a:def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90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15,515</a:t>
            </a:r>
          </a:p>
        </p:txBody>
      </p:sp>
      <p:sp>
        <p:nvSpPr>
          <p:cNvPr id="8" name="dataset-total-label">
            <a:extLst>
              <a:ext uri="{FF2B5EF4-FFF2-40B4-BE49-F238E27FC236}">
                <a16:creationId xmlns:a16="http://schemas.microsoft.com/office/drawing/2014/main" id="{D6FC6D8F-860E-4BF2-9C62-2F2E9D6BA90B}"/>
              </a:ext>
            </a:extLst>
          </p:cNvPr>
          <p:cNvSpPr>
            <a:spLocks noGrp="1"/>
          </p:cNvSpPr>
          <p:nvPr/>
        </p:nvSpPr>
        <p:spPr>
          <a:xfrm>
            <a:off x="704850" y="22574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images across 12 classes</a:t>
            </a:r>
          </a:p>
        </p:txBody>
      </p:sp>
      <p:sp>
        <p:nvSpPr>
          <p:cNvPr id="9" name="dataset-largest">
            <a:extLst>
              <a:ext uri="{FF2B5EF4-FFF2-40B4-BE49-F238E27FC236}">
                <a16:creationId xmlns:a16="http://schemas.microsoft.com/office/drawing/2014/main" id="{FF33E7C3-7C14-422F-A8D2-21766DA2793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09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Clothes is the largest class</a:t>
            </a:r>
          </a:p>
        </p:txBody>
      </p:sp>
      <p:sp>
        <p:nvSpPr>
          <p:cNvPr id="10" name="dataset-imbalance">
            <a:extLst>
              <a:ext uri="{FF2B5EF4-FFF2-40B4-BE49-F238E27FC236}">
                <a16:creationId xmlns:a16="http://schemas.microsoft.com/office/drawing/2014/main" id="{B22BADF8-11E8-405F-BD58-ACDB70386E23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5,325 images, about 34% of the dataset. Class weights help address this imbalance during training.</a:t>
            </a:r>
          </a:p>
        </p:txBody>
      </p:sp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63D997BC-E92E-4390-8043-C2163314E201}"/>
              </a:ext>
            </a:extLst>
          </p:cNvPr>
          <p:cNvGraphicFramePr/>
          <p:nvPr/>
        </p:nvGraphicFramePr>
        <p:xfrm>
          <a:off x="4095750" y="1428750"/>
          <a:ext cx="7334250" cy="447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4D7AD76C-0271-7765-9010-6DAA3A1D426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8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-accent-4">
            <a:extLst>
              <a:ext uri="{FF2B5EF4-FFF2-40B4-BE49-F238E27FC236}">
                <a16:creationId xmlns:a16="http://schemas.microsoft.com/office/drawing/2014/main" id="{C03BDBB6-902C-44D3-BE34-9D333FCB63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4">
            <a:extLst>
              <a:ext uri="{FF2B5EF4-FFF2-40B4-BE49-F238E27FC236}">
                <a16:creationId xmlns:a16="http://schemas.microsoft.com/office/drawing/2014/main" id="{366C58C1-DBEA-4F90-9A37-928D945558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Image Preparation</a:t>
            </a:r>
          </a:p>
        </p:txBody>
      </p:sp>
      <p:sp>
        <p:nvSpPr>
          <p:cNvPr id="3" name="slide-subtitle-4">
            <a:extLst>
              <a:ext uri="{FF2B5EF4-FFF2-40B4-BE49-F238E27FC236}">
                <a16:creationId xmlns:a16="http://schemas.microsoft.com/office/drawing/2014/main" id="{32455FAA-F87C-4C03-B450-BECD8D55C6F5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notebook loads labeled folders into a repeatable training and validation pipeline.</a:t>
            </a:r>
          </a:p>
        </p:txBody>
      </p:sp>
      <p:sp>
        <p:nvSpPr>
          <p:cNvPr id="4" name="footer-rule-4">
            <a:extLst>
              <a:ext uri="{FF2B5EF4-FFF2-40B4-BE49-F238E27FC236}">
                <a16:creationId xmlns:a16="http://schemas.microsoft.com/office/drawing/2014/main" id="{C99DD814-996C-4CD2-AF19-D9C1109D574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4">
            <a:extLst>
              <a:ext uri="{FF2B5EF4-FFF2-40B4-BE49-F238E27FC236}">
                <a16:creationId xmlns:a16="http://schemas.microsoft.com/office/drawing/2014/main" id="{DC6B3D44-31E0-4D11-9E32-C218A11E8EA8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</a:t>
            </a:r>
          </a:p>
        </p:txBody>
      </p:sp>
      <p:sp>
        <p:nvSpPr>
          <p:cNvPr id="6" name="footer-number-4">
            <a:extLst>
              <a:ext uri="{FF2B5EF4-FFF2-40B4-BE49-F238E27FC236}">
                <a16:creationId xmlns:a16="http://schemas.microsoft.com/office/drawing/2014/main" id="{6EED9DF8-B9B0-4A08-B545-569AF32655C2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prep-flow-line">
            <a:extLst>
              <a:ext uri="{FF2B5EF4-FFF2-40B4-BE49-F238E27FC236}">
                <a16:creationId xmlns:a16="http://schemas.microsoft.com/office/drawing/2014/main" id="{3B073729-F067-4A96-A8E0-C5E304E8294C}"/>
              </a:ext>
            </a:extLst>
          </p:cNvPr>
          <p:cNvSpPr>
            <a:spLocks noGrp="1"/>
          </p:cNvSpPr>
          <p:nvPr/>
        </p:nvSpPr>
        <p:spPr>
          <a:xfrm>
            <a:off x="1381125" y="2333625"/>
            <a:ext cx="9191625" cy="0"/>
          </a:xfrm>
          <a:prstGeom prst="line">
            <a:avLst/>
          </a:prstGeom>
          <a:noFill/>
          <a:ln w="38100">
            <a:solidFill>
              <a:srgbClr val="D7E2D9"/>
            </a:solidFill>
            <a:prstDash val="solid"/>
          </a:ln>
        </p:spPr>
      </p:sp>
      <p:sp>
        <p:nvSpPr>
          <p:cNvPr id="8" name="step-number-bg-1-92">
            <a:extLst>
              <a:ext uri="{FF2B5EF4-FFF2-40B4-BE49-F238E27FC236}">
                <a16:creationId xmlns:a16="http://schemas.microsoft.com/office/drawing/2014/main" id="{78B5691F-E84B-4118-BF89-0B9A2D853542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9" name="step-number-1-92">
            <a:extLst>
              <a:ext uri="{FF2B5EF4-FFF2-40B4-BE49-F238E27FC236}">
                <a16:creationId xmlns:a16="http://schemas.microsoft.com/office/drawing/2014/main" id="{3C0C2C17-9219-4E6E-82F6-F6A899E3ECCE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label-1-92">
            <a:extLst>
              <a:ext uri="{FF2B5EF4-FFF2-40B4-BE49-F238E27FC236}">
                <a16:creationId xmlns:a16="http://schemas.microsoft.com/office/drawing/2014/main" id="{6A45D91A-D068-4E68-8AC9-0930C9ADF9B6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Organize</a:t>
            </a:r>
          </a:p>
        </p:txBody>
      </p:sp>
      <p:sp>
        <p:nvSpPr>
          <p:cNvPr id="11" name="step-detail-1-92">
            <a:extLst>
              <a:ext uri="{FF2B5EF4-FFF2-40B4-BE49-F238E27FC236}">
                <a16:creationId xmlns:a16="http://schemas.microsoft.com/office/drawing/2014/main" id="{DA5BF3AE-E705-4E47-859D-5DD2718511E6}"/>
              </a:ext>
            </a:extLst>
          </p:cNvPr>
          <p:cNvSpPr>
            <a:spLocks noGrp="1"/>
          </p:cNvSpPr>
          <p:nvPr/>
        </p:nvSpPr>
        <p:spPr>
          <a:xfrm>
            <a:off x="876300" y="3000375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Each class has its own folder. TensorFlow infers labels from folder names.</a:t>
            </a:r>
          </a:p>
        </p:txBody>
      </p:sp>
      <p:sp>
        <p:nvSpPr>
          <p:cNvPr id="12" name="step-number-bg-2-385">
            <a:extLst>
              <a:ext uri="{FF2B5EF4-FFF2-40B4-BE49-F238E27FC236}">
                <a16:creationId xmlns:a16="http://schemas.microsoft.com/office/drawing/2014/main" id="{12CDB149-F1E6-452F-B1DD-E2325BA47CB1}"/>
              </a:ext>
            </a:extLst>
          </p:cNvPr>
          <p:cNvSpPr>
            <a:spLocks noGrp="1"/>
          </p:cNvSpPr>
          <p:nvPr/>
        </p:nvSpPr>
        <p:spPr>
          <a:xfrm>
            <a:off x="3667125" y="2000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886A2"/>
          </a:solidFill>
          <a:ln w="0">
            <a:noFill/>
            <a:prstDash val="solid"/>
          </a:ln>
        </p:spPr>
      </p:sp>
      <p:sp>
        <p:nvSpPr>
          <p:cNvPr id="13" name="step-number-2-385">
            <a:extLst>
              <a:ext uri="{FF2B5EF4-FFF2-40B4-BE49-F238E27FC236}">
                <a16:creationId xmlns:a16="http://schemas.microsoft.com/office/drawing/2014/main" id="{B26B866B-3424-4A04-91A3-51B633BA5717}"/>
              </a:ext>
            </a:extLst>
          </p:cNvPr>
          <p:cNvSpPr>
            <a:spLocks noGrp="1"/>
          </p:cNvSpPr>
          <p:nvPr/>
        </p:nvSpPr>
        <p:spPr>
          <a:xfrm>
            <a:off x="3667125" y="203835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step-label-2-385">
            <a:extLst>
              <a:ext uri="{FF2B5EF4-FFF2-40B4-BE49-F238E27FC236}">
                <a16:creationId xmlns:a16="http://schemas.microsoft.com/office/drawing/2014/main" id="{9F8B734F-12D7-4971-8693-D6B6838F698B}"/>
              </a:ext>
            </a:extLst>
          </p:cNvPr>
          <p:cNvSpPr>
            <a:spLocks noGrp="1"/>
          </p:cNvSpPr>
          <p:nvPr/>
        </p:nvSpPr>
        <p:spPr>
          <a:xfrm>
            <a:off x="3667125" y="25908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5" name="step-detail-2-385">
            <a:extLst>
              <a:ext uri="{FF2B5EF4-FFF2-40B4-BE49-F238E27FC236}">
                <a16:creationId xmlns:a16="http://schemas.microsoft.com/office/drawing/2014/main" id="{4367B1E1-E503-4384-A08E-553D9CBA1E9C}"/>
              </a:ext>
            </a:extLst>
          </p:cNvPr>
          <p:cNvSpPr>
            <a:spLocks noGrp="1"/>
          </p:cNvSpPr>
          <p:nvPr/>
        </p:nvSpPr>
        <p:spPr>
          <a:xfrm>
            <a:off x="3667125" y="3000375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80% training and 20% validation with seed 42 for repeatability.</a:t>
            </a:r>
          </a:p>
        </p:txBody>
      </p:sp>
      <p:sp>
        <p:nvSpPr>
          <p:cNvPr id="16" name="step-number-bg-3-678">
            <a:extLst>
              <a:ext uri="{FF2B5EF4-FFF2-40B4-BE49-F238E27FC236}">
                <a16:creationId xmlns:a16="http://schemas.microsoft.com/office/drawing/2014/main" id="{36826EEF-7C94-4B9A-BC12-333A6BA48F41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76F57"/>
          </a:solidFill>
          <a:ln w="0">
            <a:noFill/>
            <a:prstDash val="solid"/>
          </a:ln>
        </p:spPr>
      </p:sp>
      <p:sp>
        <p:nvSpPr>
          <p:cNvPr id="17" name="step-number-3-678">
            <a:extLst>
              <a:ext uri="{FF2B5EF4-FFF2-40B4-BE49-F238E27FC236}">
                <a16:creationId xmlns:a16="http://schemas.microsoft.com/office/drawing/2014/main" id="{58D11F6B-8D93-4DB0-A097-9E1205E7EC70}"/>
              </a:ext>
            </a:extLst>
          </p:cNvPr>
          <p:cNvSpPr>
            <a:spLocks noGrp="1"/>
          </p:cNvSpPr>
          <p:nvPr/>
        </p:nvSpPr>
        <p:spPr>
          <a:xfrm>
            <a:off x="6457950" y="203835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step-label-3-678">
            <a:extLst>
              <a:ext uri="{FF2B5EF4-FFF2-40B4-BE49-F238E27FC236}">
                <a16:creationId xmlns:a16="http://schemas.microsoft.com/office/drawing/2014/main" id="{110FE965-2D73-4336-8584-94E8FEA1FB65}"/>
              </a:ext>
            </a:extLst>
          </p:cNvPr>
          <p:cNvSpPr>
            <a:spLocks noGrp="1"/>
          </p:cNvSpPr>
          <p:nvPr/>
        </p:nvSpPr>
        <p:spPr>
          <a:xfrm>
            <a:off x="6457950" y="25908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19" name="step-detail-3-678">
            <a:extLst>
              <a:ext uri="{FF2B5EF4-FFF2-40B4-BE49-F238E27FC236}">
                <a16:creationId xmlns:a16="http://schemas.microsoft.com/office/drawing/2014/main" id="{1789C34C-C140-42DD-915E-7BF2E0AEC795}"/>
              </a:ext>
            </a:extLst>
          </p:cNvPr>
          <p:cNvSpPr>
            <a:spLocks noGrp="1"/>
          </p:cNvSpPr>
          <p:nvPr/>
        </p:nvSpPr>
        <p:spPr>
          <a:xfrm>
            <a:off x="6457950" y="3000375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Convert images to RGB and resize to 224 x 224 pixels.</a:t>
            </a:r>
          </a:p>
        </p:txBody>
      </p:sp>
      <p:sp>
        <p:nvSpPr>
          <p:cNvPr id="20" name="step-number-bg-4-971">
            <a:extLst>
              <a:ext uri="{FF2B5EF4-FFF2-40B4-BE49-F238E27FC236}">
                <a16:creationId xmlns:a16="http://schemas.microsoft.com/office/drawing/2014/main" id="{65A4AFFF-2246-4B7D-B7B3-2440B1B32612}"/>
              </a:ext>
            </a:extLst>
          </p:cNvPr>
          <p:cNvSpPr>
            <a:spLocks noGrp="1"/>
          </p:cNvSpPr>
          <p:nvPr/>
        </p:nvSpPr>
        <p:spPr>
          <a:xfrm>
            <a:off x="9248775" y="2000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1" name="step-number-4-971">
            <a:extLst>
              <a:ext uri="{FF2B5EF4-FFF2-40B4-BE49-F238E27FC236}">
                <a16:creationId xmlns:a16="http://schemas.microsoft.com/office/drawing/2014/main" id="{463E981D-79AF-4A57-919F-602E0A9A6DE6}"/>
              </a:ext>
            </a:extLst>
          </p:cNvPr>
          <p:cNvSpPr>
            <a:spLocks noGrp="1"/>
          </p:cNvSpPr>
          <p:nvPr/>
        </p:nvSpPr>
        <p:spPr>
          <a:xfrm>
            <a:off x="9248775" y="2038350"/>
            <a:ext cx="438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step-label-4-971">
            <a:extLst>
              <a:ext uri="{FF2B5EF4-FFF2-40B4-BE49-F238E27FC236}">
                <a16:creationId xmlns:a16="http://schemas.microsoft.com/office/drawing/2014/main" id="{AEFB70BC-75FD-4283-8787-728C81DAA326}"/>
              </a:ext>
            </a:extLst>
          </p:cNvPr>
          <p:cNvSpPr>
            <a:spLocks noGrp="1"/>
          </p:cNvSpPr>
          <p:nvPr/>
        </p:nvSpPr>
        <p:spPr>
          <a:xfrm>
            <a:off x="9248775" y="25908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Batch</a:t>
            </a:r>
          </a:p>
        </p:txBody>
      </p:sp>
      <p:sp>
        <p:nvSpPr>
          <p:cNvPr id="23" name="step-detail-4-971">
            <a:extLst>
              <a:ext uri="{FF2B5EF4-FFF2-40B4-BE49-F238E27FC236}">
                <a16:creationId xmlns:a16="http://schemas.microsoft.com/office/drawing/2014/main" id="{DA017676-CFD2-4021-B17E-D7C6391C2662}"/>
              </a:ext>
            </a:extLst>
          </p:cNvPr>
          <p:cNvSpPr>
            <a:spLocks noGrp="1"/>
          </p:cNvSpPr>
          <p:nvPr/>
        </p:nvSpPr>
        <p:spPr>
          <a:xfrm>
            <a:off x="9248775" y="3000375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Load in batches of 32 and prefetch the input pipeline.</a:t>
            </a:r>
          </a:p>
        </p:txBody>
      </p:sp>
      <p:sp>
        <p:nvSpPr>
          <p:cNvPr id="24" name="prep-augmentation-band">
            <a:extLst>
              <a:ext uri="{FF2B5EF4-FFF2-40B4-BE49-F238E27FC236}">
                <a16:creationId xmlns:a16="http://schemas.microsoft.com/office/drawing/2014/main" id="{B6765096-BF9A-49DF-BA46-D9BDB5D20ABC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744200" cy="1209675"/>
          </a:xfrm>
          <a:prstGeom prst="roundRect">
            <a:avLst>
              <a:gd name="adj" fmla="val 4724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25" name="prep-augmentation-title">
            <a:extLst>
              <a:ext uri="{FF2B5EF4-FFF2-40B4-BE49-F238E27FC236}">
                <a16:creationId xmlns:a16="http://schemas.microsoft.com/office/drawing/2014/main" id="{C4DED78F-4B0F-4088-A17E-7E3E12A27711}"/>
              </a:ext>
            </a:extLst>
          </p:cNvPr>
          <p:cNvSpPr>
            <a:spLocks noGrp="1"/>
          </p:cNvSpPr>
          <p:nvPr/>
        </p:nvSpPr>
        <p:spPr>
          <a:xfrm>
            <a:off x="914400" y="47720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Training-time augmentation</a:t>
            </a:r>
          </a:p>
        </p:txBody>
      </p:sp>
      <p:sp>
        <p:nvSpPr>
          <p:cNvPr id="26" name="prep-augmentation-copy">
            <a:extLst>
              <a:ext uri="{FF2B5EF4-FFF2-40B4-BE49-F238E27FC236}">
                <a16:creationId xmlns:a16="http://schemas.microsoft.com/office/drawing/2014/main" id="{AFA51A49-1796-4400-AAB6-157CEBE2953C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Random horizontal flip, rotation, zoom, and contrast variation help expose the model to modest changes in object position and image appearance.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7DFB590-4244-DDAC-2499-4393D7EB008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0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op-accent-5">
            <a:extLst>
              <a:ext uri="{FF2B5EF4-FFF2-40B4-BE49-F238E27FC236}">
                <a16:creationId xmlns:a16="http://schemas.microsoft.com/office/drawing/2014/main" id="{1547D103-3B7B-4C72-B080-1E7E764481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5">
            <a:extLst>
              <a:ext uri="{FF2B5EF4-FFF2-40B4-BE49-F238E27FC236}">
                <a16:creationId xmlns:a16="http://schemas.microsoft.com/office/drawing/2014/main" id="{F6BFF2C9-9AD8-4063-84AF-CAACBE0CC99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MobileNetV2</a:t>
            </a:r>
          </a:p>
        </p:txBody>
      </p:sp>
      <p:sp>
        <p:nvSpPr>
          <p:cNvPr id="3" name="slide-subtitle-5">
            <a:extLst>
              <a:ext uri="{FF2B5EF4-FFF2-40B4-BE49-F238E27FC236}">
                <a16:creationId xmlns:a16="http://schemas.microsoft.com/office/drawing/2014/main" id="{62782413-5D67-4AD0-BECA-8813163CCA27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Transfer learning reuses visual features and learns a new classifier for the project classes.</a:t>
            </a:r>
          </a:p>
        </p:txBody>
      </p:sp>
      <p:sp>
        <p:nvSpPr>
          <p:cNvPr id="4" name="footer-rule-5">
            <a:extLst>
              <a:ext uri="{FF2B5EF4-FFF2-40B4-BE49-F238E27FC236}">
                <a16:creationId xmlns:a16="http://schemas.microsoft.com/office/drawing/2014/main" id="{E0336ECC-9161-44D1-B44F-25DFA905D4B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5">
            <a:extLst>
              <a:ext uri="{FF2B5EF4-FFF2-40B4-BE49-F238E27FC236}">
                <a16:creationId xmlns:a16="http://schemas.microsoft.com/office/drawing/2014/main" id="{1AA0C5BE-DFF1-44A6-97E1-97E16CE441BC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5">
            <a:extLst>
              <a:ext uri="{FF2B5EF4-FFF2-40B4-BE49-F238E27FC236}">
                <a16:creationId xmlns:a16="http://schemas.microsoft.com/office/drawing/2014/main" id="{474E4138-FB93-4F74-B541-7146DD3BA658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model-stage-0">
            <a:extLst>
              <a:ext uri="{FF2B5EF4-FFF2-40B4-BE49-F238E27FC236}">
                <a16:creationId xmlns:a16="http://schemas.microsoft.com/office/drawing/2014/main" id="{505C6454-5E83-44FB-9790-634DBDAC6FC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762125" cy="1952625"/>
          </a:xfrm>
          <a:prstGeom prst="roundRect">
            <a:avLst>
              <a:gd name="adj" fmla="val 3784"/>
            </a:avLst>
          </a:prstGeom>
          <a:solidFill>
            <a:srgbClr val="E2F3F7"/>
          </a:solidFill>
          <a:ln w="0">
            <a:noFill/>
            <a:prstDash val="solid"/>
          </a:ln>
        </p:spPr>
      </p:sp>
      <p:sp>
        <p:nvSpPr>
          <p:cNvPr id="8" name="model-title-0">
            <a:extLst>
              <a:ext uri="{FF2B5EF4-FFF2-40B4-BE49-F238E27FC236}">
                <a16:creationId xmlns:a16="http://schemas.microsoft.com/office/drawing/2014/main" id="{7416AB5A-F9D8-4489-BDBF-80A496582701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14954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Input image</a:t>
            </a:r>
          </a:p>
        </p:txBody>
      </p:sp>
      <p:sp>
        <p:nvSpPr>
          <p:cNvPr id="9" name="model-detail-0">
            <a:extLst>
              <a:ext uri="{FF2B5EF4-FFF2-40B4-BE49-F238E27FC236}">
                <a16:creationId xmlns:a16="http://schemas.microsoft.com/office/drawing/2014/main" id="{8595D57C-04F0-4D25-9DFB-8822B08DA63B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1495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224 x 224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10" name="model-connector-0">
            <a:extLst>
              <a:ext uri="{FF2B5EF4-FFF2-40B4-BE49-F238E27FC236}">
                <a16:creationId xmlns:a16="http://schemas.microsoft.com/office/drawing/2014/main" id="{187E0084-FE30-4256-A8A2-5D7A42E3E43C}"/>
              </a:ext>
            </a:extLst>
          </p:cNvPr>
          <p:cNvSpPr>
            <a:spLocks noGrp="1"/>
          </p:cNvSpPr>
          <p:nvPr/>
        </p:nvSpPr>
        <p:spPr>
          <a:xfrm>
            <a:off x="2505075" y="3333750"/>
            <a:ext cx="3619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1" name="model-stage-1">
            <a:extLst>
              <a:ext uri="{FF2B5EF4-FFF2-40B4-BE49-F238E27FC236}">
                <a16:creationId xmlns:a16="http://schemas.microsoft.com/office/drawing/2014/main" id="{D0151C00-A5EB-43C2-840F-B3C6569AD1A2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1857375" cy="1952625"/>
          </a:xfrm>
          <a:prstGeom prst="roundRect">
            <a:avLst>
              <a:gd name="adj" fmla="val 3590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12" name="model-title-1">
            <a:extLst>
              <a:ext uri="{FF2B5EF4-FFF2-40B4-BE49-F238E27FC236}">
                <a16:creationId xmlns:a16="http://schemas.microsoft.com/office/drawing/2014/main" id="{C60A4DB8-E15B-42A0-9C1D-DE6DB1C566CD}"/>
              </a:ext>
            </a:extLst>
          </p:cNvPr>
          <p:cNvSpPr>
            <a:spLocks noGrp="1"/>
          </p:cNvSpPr>
          <p:nvPr/>
        </p:nvSpPr>
        <p:spPr>
          <a:xfrm>
            <a:off x="3086100" y="2647950"/>
            <a:ext cx="1590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3" name="model-detail-1">
            <a:extLst>
              <a:ext uri="{FF2B5EF4-FFF2-40B4-BE49-F238E27FC236}">
                <a16:creationId xmlns:a16="http://schemas.microsoft.com/office/drawing/2014/main" id="{6727B345-40D1-40A3-A3D9-DBF2AFC25ECF}"/>
              </a:ext>
            </a:extLst>
          </p:cNvPr>
          <p:cNvSpPr>
            <a:spLocks noGrp="1"/>
          </p:cNvSpPr>
          <p:nvPr/>
        </p:nvSpPr>
        <p:spPr>
          <a:xfrm>
            <a:off x="3086100" y="3333750"/>
            <a:ext cx="15906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Flip, rotate,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zoom, contrast</a:t>
            </a:r>
          </a:p>
        </p:txBody>
      </p:sp>
      <p:sp>
        <p:nvSpPr>
          <p:cNvPr id="14" name="model-connector-1">
            <a:extLst>
              <a:ext uri="{FF2B5EF4-FFF2-40B4-BE49-F238E27FC236}">
                <a16:creationId xmlns:a16="http://schemas.microsoft.com/office/drawing/2014/main" id="{5C09E4A1-FA9A-4685-A3AD-117A023E2901}"/>
              </a:ext>
            </a:extLst>
          </p:cNvPr>
          <p:cNvSpPr>
            <a:spLocks noGrp="1"/>
          </p:cNvSpPr>
          <p:nvPr/>
        </p:nvSpPr>
        <p:spPr>
          <a:xfrm>
            <a:off x="4886325" y="3333750"/>
            <a:ext cx="3619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5" name="model-stage-2">
            <a:extLst>
              <a:ext uri="{FF2B5EF4-FFF2-40B4-BE49-F238E27FC236}">
                <a16:creationId xmlns:a16="http://schemas.microsoft.com/office/drawing/2014/main" id="{7BB64C18-82BB-419A-AA9A-8C06E382994F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2143125" cy="1952625"/>
          </a:xfrm>
          <a:prstGeom prst="roundRect">
            <a:avLst>
              <a:gd name="adj" fmla="val 3415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16" name="model-title-2">
            <a:extLst>
              <a:ext uri="{FF2B5EF4-FFF2-40B4-BE49-F238E27FC236}">
                <a16:creationId xmlns:a16="http://schemas.microsoft.com/office/drawing/2014/main" id="{3A99C98E-C50A-4FD1-848C-8982FA2C1342}"/>
              </a:ext>
            </a:extLst>
          </p:cNvPr>
          <p:cNvSpPr>
            <a:spLocks noGrp="1"/>
          </p:cNvSpPr>
          <p:nvPr/>
        </p:nvSpPr>
        <p:spPr>
          <a:xfrm>
            <a:off x="5467350" y="2647950"/>
            <a:ext cx="18764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model-detail-2">
            <a:extLst>
              <a:ext uri="{FF2B5EF4-FFF2-40B4-BE49-F238E27FC236}">
                <a16:creationId xmlns:a16="http://schemas.microsoft.com/office/drawing/2014/main" id="{A47F3B53-D966-49D6-99D4-262671C04E67}"/>
              </a:ext>
            </a:extLst>
          </p:cNvPr>
          <p:cNvSpPr>
            <a:spLocks noGrp="1"/>
          </p:cNvSpPr>
          <p:nvPr/>
        </p:nvSpPr>
        <p:spPr>
          <a:xfrm>
            <a:off x="5467350" y="3333750"/>
            <a:ext cx="18764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ImageNet backbone</a:t>
            </a:r>
          </a:p>
          <a:p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initially frozen</a:t>
            </a:r>
          </a:p>
        </p:txBody>
      </p:sp>
      <p:sp>
        <p:nvSpPr>
          <p:cNvPr id="18" name="model-connector-2">
            <a:extLst>
              <a:ext uri="{FF2B5EF4-FFF2-40B4-BE49-F238E27FC236}">
                <a16:creationId xmlns:a16="http://schemas.microsoft.com/office/drawing/2014/main" id="{C0AC6764-A5F5-43A4-943C-E29002E7F0CA}"/>
              </a:ext>
            </a:extLst>
          </p:cNvPr>
          <p:cNvSpPr>
            <a:spLocks noGrp="1"/>
          </p:cNvSpPr>
          <p:nvPr/>
        </p:nvSpPr>
        <p:spPr>
          <a:xfrm>
            <a:off x="7553325" y="3333750"/>
            <a:ext cx="3619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9" name="model-stage-3">
            <a:extLst>
              <a:ext uri="{FF2B5EF4-FFF2-40B4-BE49-F238E27FC236}">
                <a16:creationId xmlns:a16="http://schemas.microsoft.com/office/drawing/2014/main" id="{2F2241AF-DC43-4EE8-9097-743FB5134A4D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1857375" cy="1952625"/>
          </a:xfrm>
          <a:prstGeom prst="roundRect">
            <a:avLst>
              <a:gd name="adj" fmla="val 3590"/>
            </a:avLst>
          </a:prstGeom>
          <a:solidFill>
            <a:srgbClr val="FCEBE6"/>
          </a:solidFill>
          <a:ln w="0">
            <a:noFill/>
            <a:prstDash val="solid"/>
          </a:ln>
        </p:spPr>
      </p:sp>
      <p:sp>
        <p:nvSpPr>
          <p:cNvPr id="20" name="model-title-3">
            <a:extLst>
              <a:ext uri="{FF2B5EF4-FFF2-40B4-BE49-F238E27FC236}">
                <a16:creationId xmlns:a16="http://schemas.microsoft.com/office/drawing/2014/main" id="{19837FF5-0027-4A8B-85A5-CC15C24AE4B3}"/>
              </a:ext>
            </a:extLst>
          </p:cNvPr>
          <p:cNvSpPr>
            <a:spLocks noGrp="1"/>
          </p:cNvSpPr>
          <p:nvPr/>
        </p:nvSpPr>
        <p:spPr>
          <a:xfrm>
            <a:off x="8134350" y="2647950"/>
            <a:ext cx="1590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Classification head</a:t>
            </a:r>
          </a:p>
        </p:txBody>
      </p:sp>
      <p:sp>
        <p:nvSpPr>
          <p:cNvPr id="21" name="model-detail-3">
            <a:extLst>
              <a:ext uri="{FF2B5EF4-FFF2-40B4-BE49-F238E27FC236}">
                <a16:creationId xmlns:a16="http://schemas.microsoft.com/office/drawing/2014/main" id="{E0C5AEEC-C7B2-40E0-A766-4BA2A759727A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15906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Global pooling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Dropout 0.25</a:t>
            </a:r>
          </a:p>
        </p:txBody>
      </p:sp>
      <p:sp>
        <p:nvSpPr>
          <p:cNvPr id="22" name="model-connector-3">
            <a:extLst>
              <a:ext uri="{FF2B5EF4-FFF2-40B4-BE49-F238E27FC236}">
                <a16:creationId xmlns:a16="http://schemas.microsoft.com/office/drawing/2014/main" id="{3C983365-0739-4217-AD8C-554962473157}"/>
              </a:ext>
            </a:extLst>
          </p:cNvPr>
          <p:cNvSpPr>
            <a:spLocks noGrp="1"/>
          </p:cNvSpPr>
          <p:nvPr/>
        </p:nvSpPr>
        <p:spPr>
          <a:xfrm>
            <a:off x="9934575" y="3333750"/>
            <a:ext cx="7620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23" name="model-stage-4">
            <a:extLst>
              <a:ext uri="{FF2B5EF4-FFF2-40B4-BE49-F238E27FC236}">
                <a16:creationId xmlns:a16="http://schemas.microsoft.com/office/drawing/2014/main" id="{414EA587-5EBA-407F-9089-3739D7DE417B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476375" cy="1952625"/>
          </a:xfrm>
          <a:prstGeom prst="roundRect">
            <a:avLst>
              <a:gd name="adj" fmla="val 4516"/>
            </a:avLst>
          </a:prstGeom>
          <a:solidFill>
            <a:srgbClr val="B6DC37"/>
          </a:solidFill>
          <a:ln w="0">
            <a:noFill/>
            <a:prstDash val="solid"/>
          </a:ln>
        </p:spPr>
      </p:sp>
      <p:sp>
        <p:nvSpPr>
          <p:cNvPr id="24" name="model-title-4">
            <a:extLst>
              <a:ext uri="{FF2B5EF4-FFF2-40B4-BE49-F238E27FC236}">
                <a16:creationId xmlns:a16="http://schemas.microsoft.com/office/drawing/2014/main" id="{294BD13C-E0E5-48FA-B2D2-2D696E333620}"/>
              </a:ext>
            </a:extLst>
          </p:cNvPr>
          <p:cNvSpPr>
            <a:spLocks noGrp="1"/>
          </p:cNvSpPr>
          <p:nvPr/>
        </p:nvSpPr>
        <p:spPr>
          <a:xfrm>
            <a:off x="10229850" y="2647950"/>
            <a:ext cx="12096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12 outputs</a:t>
            </a:r>
          </a:p>
        </p:txBody>
      </p:sp>
      <p:sp>
        <p:nvSpPr>
          <p:cNvPr id="25" name="model-detail-4">
            <a:extLst>
              <a:ext uri="{FF2B5EF4-FFF2-40B4-BE49-F238E27FC236}">
                <a16:creationId xmlns:a16="http://schemas.microsoft.com/office/drawing/2014/main" id="{C2ECC860-75A8-4844-9170-F93F8C3F9E52}"/>
              </a:ext>
            </a:extLst>
          </p:cNvPr>
          <p:cNvSpPr>
            <a:spLocks noGrp="1"/>
          </p:cNvSpPr>
          <p:nvPr/>
        </p:nvSpPr>
        <p:spPr>
          <a:xfrm>
            <a:off x="10229850" y="3333750"/>
            <a:ext cx="12096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Softmax</a:t>
            </a:r>
          </a:p>
          <a:p>
            <a:pPr algn="ctr">
              <a:defRPr sz="13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scores</a:t>
            </a:r>
          </a:p>
        </p:txBody>
      </p:sp>
      <p:sp>
        <p:nvSpPr>
          <p:cNvPr id="26" name="model-headline">
            <a:extLst>
              <a:ext uri="{FF2B5EF4-FFF2-40B4-BE49-F238E27FC236}">
                <a16:creationId xmlns:a16="http://schemas.microsoft.com/office/drawing/2014/main" id="{37FA0F0A-452C-4A3D-BEA0-FA24148C69B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7" name="model-finetune-copy">
            <a:extLst>
              <a:ext uri="{FF2B5EF4-FFF2-40B4-BE49-F238E27FC236}">
                <a16:creationId xmlns:a16="http://schemas.microsoft.com/office/drawing/2014/main" id="{EDFD5779-C9FD-4DF2-BE1F-643D0887A32E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00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After training the new head, the notebook unfreezes the final 30 MobileNetV2 layers and fine-tunes them at a lower learning rate.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FACAACD-BF65-8570-75DA-EC9B709655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216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-6">
            <a:extLst>
              <a:ext uri="{FF2B5EF4-FFF2-40B4-BE49-F238E27FC236}">
                <a16:creationId xmlns:a16="http://schemas.microsoft.com/office/drawing/2014/main" id="{F21F1EA5-784C-4DFA-9B43-1C2CBD7031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6">
            <a:extLst>
              <a:ext uri="{FF2B5EF4-FFF2-40B4-BE49-F238E27FC236}">
                <a16:creationId xmlns:a16="http://schemas.microsoft.com/office/drawing/2014/main" id="{C32A1F68-4B8C-4A89-B018-54C63BD0DB9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Methodology: Training Strategy</a:t>
            </a:r>
          </a:p>
        </p:txBody>
      </p:sp>
      <p:sp>
        <p:nvSpPr>
          <p:cNvPr id="3" name="slide-subtitle-6">
            <a:extLst>
              <a:ext uri="{FF2B5EF4-FFF2-40B4-BE49-F238E27FC236}">
                <a16:creationId xmlns:a16="http://schemas.microsoft.com/office/drawing/2014/main" id="{6421274A-AF3A-414F-A3CE-4AC5F917186F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notebook trains a new classification head, then fine-tunes part of the pretrained backbone.</a:t>
            </a:r>
          </a:p>
        </p:txBody>
      </p:sp>
      <p:sp>
        <p:nvSpPr>
          <p:cNvPr id="4" name="footer-rule-6">
            <a:extLst>
              <a:ext uri="{FF2B5EF4-FFF2-40B4-BE49-F238E27FC236}">
                <a16:creationId xmlns:a16="http://schemas.microsoft.com/office/drawing/2014/main" id="{9C7D20F0-A51D-419C-9FBD-26ACC79E8E7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6">
            <a:extLst>
              <a:ext uri="{FF2B5EF4-FFF2-40B4-BE49-F238E27FC236}">
                <a16:creationId xmlns:a16="http://schemas.microsoft.com/office/drawing/2014/main" id="{039DAFC2-7F70-47BB-AAA3-62C5E5535AAA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6" name="footer-number-6">
            <a:extLst>
              <a:ext uri="{FF2B5EF4-FFF2-40B4-BE49-F238E27FC236}">
                <a16:creationId xmlns:a16="http://schemas.microsoft.com/office/drawing/2014/main" id="{3A81F726-7625-439B-BB0B-794CF2EA0C25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training-stage-one-band">
            <a:extLst>
              <a:ext uri="{FF2B5EF4-FFF2-40B4-BE49-F238E27FC236}">
                <a16:creationId xmlns:a16="http://schemas.microsoft.com/office/drawing/2014/main" id="{8F10CFF9-A8D2-455B-AE78-D68FDC81C5F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238750" cy="1809750"/>
          </a:xfrm>
          <a:prstGeom prst="roundRect">
            <a:avLst>
              <a:gd name="adj" fmla="val 3158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8" name="training-stage-one-number">
            <a:extLst>
              <a:ext uri="{FF2B5EF4-FFF2-40B4-BE49-F238E27FC236}">
                <a16:creationId xmlns:a16="http://schemas.microsoft.com/office/drawing/2014/main" id="{BA227CD7-4BDB-48C0-B88A-682377B2FC32}"/>
              </a:ext>
            </a:extLst>
          </p:cNvPr>
          <p:cNvSpPr>
            <a:spLocks noGrp="1"/>
          </p:cNvSpPr>
          <p:nvPr/>
        </p:nvSpPr>
        <p:spPr>
          <a:xfrm>
            <a:off x="914400" y="1781175"/>
            <a:ext cx="70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raining-stage-one-title">
            <a:extLst>
              <a:ext uri="{FF2B5EF4-FFF2-40B4-BE49-F238E27FC236}">
                <a16:creationId xmlns:a16="http://schemas.microsoft.com/office/drawing/2014/main" id="{11F51271-3BC6-443D-81DA-0FCAF2D20A07}"/>
              </a:ext>
            </a:extLst>
          </p:cNvPr>
          <p:cNvSpPr>
            <a:spLocks noGrp="1"/>
          </p:cNvSpPr>
          <p:nvPr/>
        </p:nvSpPr>
        <p:spPr>
          <a:xfrm>
            <a:off x="1743075" y="18478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Train the new head</a:t>
            </a:r>
          </a:p>
        </p:txBody>
      </p:sp>
      <p:sp>
        <p:nvSpPr>
          <p:cNvPr id="10" name="training-stage-one-copy">
            <a:extLst>
              <a:ext uri="{FF2B5EF4-FFF2-40B4-BE49-F238E27FC236}">
                <a16:creationId xmlns:a16="http://schemas.microsoft.com/office/drawing/2014/main" id="{DC02A566-B31A-49F9-90F4-7909229871F6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4572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Freeze MobileNetV2 and learn the 12-class output layer for up to 12 epochs.</a:t>
            </a:r>
          </a:p>
        </p:txBody>
      </p:sp>
      <p:sp>
        <p:nvSpPr>
          <p:cNvPr id="11" name="training-stage-two-band">
            <a:extLst>
              <a:ext uri="{FF2B5EF4-FFF2-40B4-BE49-F238E27FC236}">
                <a16:creationId xmlns:a16="http://schemas.microsoft.com/office/drawing/2014/main" id="{9301CB94-B490-49D6-B436-B084E1BED904}"/>
              </a:ext>
            </a:extLst>
          </p:cNvPr>
          <p:cNvSpPr>
            <a:spLocks noGrp="1"/>
          </p:cNvSpPr>
          <p:nvPr/>
        </p:nvSpPr>
        <p:spPr>
          <a:xfrm>
            <a:off x="6267450" y="1619250"/>
            <a:ext cx="5238750" cy="1809750"/>
          </a:xfrm>
          <a:prstGeom prst="roundRect">
            <a:avLst>
              <a:gd name="adj" fmla="val 3158"/>
            </a:avLst>
          </a:prstGeom>
          <a:solidFill>
            <a:srgbClr val="E2F3F7"/>
          </a:solidFill>
          <a:ln w="0">
            <a:noFill/>
            <a:prstDash val="solid"/>
          </a:ln>
        </p:spPr>
      </p:sp>
      <p:sp>
        <p:nvSpPr>
          <p:cNvPr id="12" name="training-stage-two-number">
            <a:extLst>
              <a:ext uri="{FF2B5EF4-FFF2-40B4-BE49-F238E27FC236}">
                <a16:creationId xmlns:a16="http://schemas.microsoft.com/office/drawing/2014/main" id="{13ECCCA8-E05E-47E1-9320-66D0EA5BC1BA}"/>
              </a:ext>
            </a:extLst>
          </p:cNvPr>
          <p:cNvSpPr>
            <a:spLocks noGrp="1"/>
          </p:cNvSpPr>
          <p:nvPr/>
        </p:nvSpPr>
        <p:spPr>
          <a:xfrm>
            <a:off x="6496050" y="1781175"/>
            <a:ext cx="704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7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raining-stage-two-title">
            <a:extLst>
              <a:ext uri="{FF2B5EF4-FFF2-40B4-BE49-F238E27FC236}">
                <a16:creationId xmlns:a16="http://schemas.microsoft.com/office/drawing/2014/main" id="{80C310BC-61D9-4444-A298-823ACA998719}"/>
              </a:ext>
            </a:extLst>
          </p:cNvPr>
          <p:cNvSpPr>
            <a:spLocks noGrp="1"/>
          </p:cNvSpPr>
          <p:nvPr/>
        </p:nvSpPr>
        <p:spPr>
          <a:xfrm>
            <a:off x="7324725" y="18478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Fine-tune the backbone</a:t>
            </a:r>
          </a:p>
        </p:txBody>
      </p:sp>
      <p:sp>
        <p:nvSpPr>
          <p:cNvPr id="14" name="training-stage-two-copy">
            <a:extLst>
              <a:ext uri="{FF2B5EF4-FFF2-40B4-BE49-F238E27FC236}">
                <a16:creationId xmlns:a16="http://schemas.microsoft.com/office/drawing/2014/main" id="{0E9FAEA7-7980-414D-8360-B0DE96B72A13}"/>
              </a:ext>
            </a:extLst>
          </p:cNvPr>
          <p:cNvSpPr>
            <a:spLocks noGrp="1"/>
          </p:cNvSpPr>
          <p:nvPr/>
        </p:nvSpPr>
        <p:spPr>
          <a:xfrm>
            <a:off x="6496050" y="2476500"/>
            <a:ext cx="4572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Unfreeze the final 30 layers and train for up to 5 more epochs at learning rate 1e-5.</a:t>
            </a:r>
          </a:p>
        </p:txBody>
      </p:sp>
      <p:sp>
        <p:nvSpPr>
          <p:cNvPr id="15" name="training-controls-title">
            <a:extLst>
              <a:ext uri="{FF2B5EF4-FFF2-40B4-BE49-F238E27FC236}">
                <a16:creationId xmlns:a16="http://schemas.microsoft.com/office/drawing/2014/main" id="{B804FDA0-4D2A-4666-B633-6C4D025A269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Controls used during training</a:t>
            </a:r>
          </a:p>
        </p:txBody>
      </p:sp>
      <p:sp>
        <p:nvSpPr>
          <p:cNvPr id="16" name="training-controls">
            <a:extLst>
              <a:ext uri="{FF2B5EF4-FFF2-40B4-BE49-F238E27FC236}">
                <a16:creationId xmlns:a16="http://schemas.microsoft.com/office/drawing/2014/main" id="{4BC09139-FF21-45B1-90FE-C9E21B4F70B1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1057275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weights address unequal class counts.</a:t>
            </a:r>
          </a:p>
          <a:p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Early stopping monitors validation loss and restores best weights.</a:t>
            </a:r>
          </a:p>
          <a:p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ReduceLROnPlateau lowers the learning rate when validation loss stalls.</a:t>
            </a:r>
          </a:p>
          <a:p>
            <a:pPr marL="228600" indent="-114300">
              <a:spcAft>
                <a:spcPts val="4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A checkpoint keeps the model with the best validation accuracy.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EBFAB0F-CA5F-2A31-B430-8938A68D8A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8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op-accent-7">
            <a:extLst>
              <a:ext uri="{FF2B5EF4-FFF2-40B4-BE49-F238E27FC236}">
                <a16:creationId xmlns:a16="http://schemas.microsoft.com/office/drawing/2014/main" id="{01F019BC-C225-4F2F-8050-2FEA53903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7">
            <a:extLst>
              <a:ext uri="{FF2B5EF4-FFF2-40B4-BE49-F238E27FC236}">
                <a16:creationId xmlns:a16="http://schemas.microsoft.com/office/drawing/2014/main" id="{8D8FEB43-EC9A-43FC-8753-8C584BA7D3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Model Results</a:t>
            </a:r>
          </a:p>
        </p:txBody>
      </p:sp>
      <p:sp>
        <p:nvSpPr>
          <p:cNvPr id="3" name="slide-subtitle-7">
            <a:extLst>
              <a:ext uri="{FF2B5EF4-FFF2-40B4-BE49-F238E27FC236}">
                <a16:creationId xmlns:a16="http://schemas.microsoft.com/office/drawing/2014/main" id="{EC289CA1-E0DE-4E71-9BC8-E0972DD4980D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Saved validation metrics show how the selected model performed on the project validation split.</a:t>
            </a:r>
          </a:p>
        </p:txBody>
      </p:sp>
      <p:sp>
        <p:nvSpPr>
          <p:cNvPr id="4" name="footer-rule-7">
            <a:extLst>
              <a:ext uri="{FF2B5EF4-FFF2-40B4-BE49-F238E27FC236}">
                <a16:creationId xmlns:a16="http://schemas.microsoft.com/office/drawing/2014/main" id="{1C250A4E-1830-4E3A-8806-E6E29152107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7">
            <a:extLst>
              <a:ext uri="{FF2B5EF4-FFF2-40B4-BE49-F238E27FC236}">
                <a16:creationId xmlns:a16="http://schemas.microsoft.com/office/drawing/2014/main" id="{66503C7D-29A9-41AD-9950-69AB10B8DDA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7">
            <a:extLst>
              <a:ext uri="{FF2B5EF4-FFF2-40B4-BE49-F238E27FC236}">
                <a16:creationId xmlns:a16="http://schemas.microsoft.com/office/drawing/2014/main" id="{CA34933F-DCA3-4513-88F6-69A16E380296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sult-accuracy">
            <a:extLst>
              <a:ext uri="{FF2B5EF4-FFF2-40B4-BE49-F238E27FC236}">
                <a16:creationId xmlns:a16="http://schemas.microsoft.com/office/drawing/2014/main" id="{4AE08B03-9555-4AB3-8928-1F93274C5188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429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43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8" name="result-accuracy-label">
            <a:extLst>
              <a:ext uri="{FF2B5EF4-FFF2-40B4-BE49-F238E27FC236}">
                <a16:creationId xmlns:a16="http://schemas.microsoft.com/office/drawing/2014/main" id="{D52E7B37-F710-4887-B863-C61EA115CA2C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9" name="result-loss">
            <a:extLst>
              <a:ext uri="{FF2B5EF4-FFF2-40B4-BE49-F238E27FC236}">
                <a16:creationId xmlns:a16="http://schemas.microsoft.com/office/drawing/2014/main" id="{00F367A2-7061-4809-A91B-ACD01AA22D5C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571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5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result-loss-label">
            <a:extLst>
              <a:ext uri="{FF2B5EF4-FFF2-40B4-BE49-F238E27FC236}">
                <a16:creationId xmlns:a16="http://schemas.microsoft.com/office/drawing/2014/main" id="{EED09432-5C2A-44B9-8F6B-04B17B9F09E3}"/>
              </a:ext>
            </a:extLst>
          </p:cNvPr>
          <p:cNvSpPr>
            <a:spLocks noGrp="1"/>
          </p:cNvSpPr>
          <p:nvPr/>
        </p:nvSpPr>
        <p:spPr>
          <a:xfrm>
            <a:off x="723900" y="38576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result-caveat">
            <a:extLst>
              <a:ext uri="{FF2B5EF4-FFF2-40B4-BE49-F238E27FC236}">
                <a16:creationId xmlns:a16="http://schemas.microsoft.com/office/drawing/2014/main" id="{F854EDA5-4C9E-494A-BE59-D9EFF2A1A709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Validation split only. The repository does not report an independent test score. New images may differ in lighting, background, or object type.</a:t>
            </a:r>
          </a:p>
        </p:txBody>
      </p:sp>
      <p:sp>
        <p:nvSpPr>
          <p:cNvPr id="12" name="result-abstention">
            <a:extLst>
              <a:ext uri="{FF2B5EF4-FFF2-40B4-BE49-F238E27FC236}">
                <a16:creationId xmlns:a16="http://schemas.microsoft.com/office/drawing/2014/main" id="{8B16AC34-0882-4FD4-8E7F-8813C64676A1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676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Below 40% top score: show an 'Image not confidently classified' popup.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E4DF67-C135-44A1-A66F-212627F48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67250" y="2247900"/>
            <a:ext cx="6858000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04F3A9-90E0-0AAE-AAA4-79298731A62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7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op-accent-8">
            <a:extLst>
              <a:ext uri="{FF2B5EF4-FFF2-40B4-BE49-F238E27FC236}">
                <a16:creationId xmlns:a16="http://schemas.microsoft.com/office/drawing/2014/main" id="{3DB1E7E4-2334-403F-B6EC-88C80F23F7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8">
            <a:extLst>
              <a:ext uri="{FF2B5EF4-FFF2-40B4-BE49-F238E27FC236}">
                <a16:creationId xmlns:a16="http://schemas.microsoft.com/office/drawing/2014/main" id="{6AEE86C5-05AE-41FA-AC8D-10A9850FA0B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App Screens</a:t>
            </a:r>
          </a:p>
        </p:txBody>
      </p:sp>
      <p:sp>
        <p:nvSpPr>
          <p:cNvPr id="3" name="slide-subtitle-8">
            <a:extLst>
              <a:ext uri="{FF2B5EF4-FFF2-40B4-BE49-F238E27FC236}">
                <a16:creationId xmlns:a16="http://schemas.microsoft.com/office/drawing/2014/main" id="{C9DC6D0D-C4DB-4A68-8E79-1A5622129A36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Upload or capture a still. Scores below the 40% threshold trigger a low-confidence popup.</a:t>
            </a:r>
          </a:p>
        </p:txBody>
      </p:sp>
      <p:sp>
        <p:nvSpPr>
          <p:cNvPr id="4" name="footer-rule-8">
            <a:extLst>
              <a:ext uri="{FF2B5EF4-FFF2-40B4-BE49-F238E27FC236}">
                <a16:creationId xmlns:a16="http://schemas.microsoft.com/office/drawing/2014/main" id="{50F3644F-694D-443D-9CB4-0C91069823A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8">
            <a:extLst>
              <a:ext uri="{FF2B5EF4-FFF2-40B4-BE49-F238E27FC236}">
                <a16:creationId xmlns:a16="http://schemas.microsoft.com/office/drawing/2014/main" id="{F3CBE37A-7971-4E96-8493-75A1F441647F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</a:t>
            </a:r>
          </a:p>
        </p:txBody>
      </p:sp>
      <p:sp>
        <p:nvSpPr>
          <p:cNvPr id="6" name="footer-number-8">
            <a:extLst>
              <a:ext uri="{FF2B5EF4-FFF2-40B4-BE49-F238E27FC236}">
                <a16:creationId xmlns:a16="http://schemas.microsoft.com/office/drawing/2014/main" id="{50355973-8974-4B14-9A8E-B449D9933193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upload-preview-frame">
            <a:extLst>
              <a:ext uri="{FF2B5EF4-FFF2-40B4-BE49-F238E27FC236}">
                <a16:creationId xmlns:a16="http://schemas.microsoft.com/office/drawing/2014/main" id="{936BEC1B-7F83-47B2-AF4E-CCF86503DBA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19700" cy="42862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8" name="upload-preview-chrome">
            <a:extLst>
              <a:ext uri="{FF2B5EF4-FFF2-40B4-BE49-F238E27FC236}">
                <a16:creationId xmlns:a16="http://schemas.microsoft.com/office/drawing/2014/main" id="{A9B10940-0C3D-4F40-84DD-F06959D56AC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19700" cy="247650"/>
          </a:xfrm>
          <a:prstGeom prst="roundRect">
            <a:avLst>
              <a:gd name="adj" fmla="val 23077"/>
            </a:avLst>
          </a:prstGeom>
          <a:solidFill>
            <a:srgbClr val="E8EEE9"/>
          </a:solidFill>
          <a:ln w="0">
            <a:noFill/>
            <a:prstDash val="solid"/>
          </a:ln>
        </p:spPr>
      </p:sp>
      <p:sp>
        <p:nvSpPr>
          <p:cNvPr id="9" name="upload-preview-dot-0">
            <a:extLst>
              <a:ext uri="{FF2B5EF4-FFF2-40B4-BE49-F238E27FC236}">
                <a16:creationId xmlns:a16="http://schemas.microsoft.com/office/drawing/2014/main" id="{B06B3D07-B119-4A23-8DAF-E63EB47BF7F0}"/>
              </a:ext>
            </a:extLst>
          </p:cNvPr>
          <p:cNvSpPr>
            <a:spLocks noGrp="1"/>
          </p:cNvSpPr>
          <p:nvPr/>
        </p:nvSpPr>
        <p:spPr>
          <a:xfrm>
            <a:off x="819150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76F57"/>
          </a:solidFill>
          <a:ln w="0">
            <a:noFill/>
            <a:prstDash val="solid"/>
          </a:ln>
        </p:spPr>
      </p:sp>
      <p:sp>
        <p:nvSpPr>
          <p:cNvPr id="10" name="upload-preview-dot-1">
            <a:extLst>
              <a:ext uri="{FF2B5EF4-FFF2-40B4-BE49-F238E27FC236}">
                <a16:creationId xmlns:a16="http://schemas.microsoft.com/office/drawing/2014/main" id="{A95F4FA6-5C95-419C-9006-1EBAC7EB5D7B}"/>
              </a:ext>
            </a:extLst>
          </p:cNvPr>
          <p:cNvSpPr>
            <a:spLocks noGrp="1"/>
          </p:cNvSpPr>
          <p:nvPr/>
        </p:nvSpPr>
        <p:spPr>
          <a:xfrm>
            <a:off x="981075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B6DC37"/>
          </a:solidFill>
          <a:ln w="0">
            <a:noFill/>
            <a:prstDash val="solid"/>
          </a:ln>
        </p:spPr>
      </p:sp>
      <p:sp>
        <p:nvSpPr>
          <p:cNvPr id="11" name="upload-preview-dot-2">
            <a:extLst>
              <a:ext uri="{FF2B5EF4-FFF2-40B4-BE49-F238E27FC236}">
                <a16:creationId xmlns:a16="http://schemas.microsoft.com/office/drawing/2014/main" id="{F82A08F9-289B-4D49-BB09-281B98141693}"/>
              </a:ext>
            </a:extLst>
          </p:cNvPr>
          <p:cNvSpPr>
            <a:spLocks noGrp="1"/>
          </p:cNvSpPr>
          <p:nvPr/>
        </p:nvSpPr>
        <p:spPr>
          <a:xfrm>
            <a:off x="1143000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865E"/>
          </a:solidFill>
          <a:ln w="0">
            <a:noFill/>
            <a:prstDash val="solid"/>
          </a:ln>
        </p:spPr>
      </p:sp>
      <p:sp>
        <p:nvSpPr>
          <p:cNvPr id="12" name="upload-preview-brand-mark">
            <a:extLst>
              <a:ext uri="{FF2B5EF4-FFF2-40B4-BE49-F238E27FC236}">
                <a16:creationId xmlns:a16="http://schemas.microsoft.com/office/drawing/2014/main" id="{4B3E94E2-BB97-4185-A198-F2DDCF5FFD63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13" name="upload-preview-brand">
            <a:extLst>
              <a:ext uri="{FF2B5EF4-FFF2-40B4-BE49-F238E27FC236}">
                <a16:creationId xmlns:a16="http://schemas.microsoft.com/office/drawing/2014/main" id="{BA03055D-316B-4BB0-B18C-5E12B5BA4C5C}"/>
              </a:ext>
            </a:extLst>
          </p:cNvPr>
          <p:cNvSpPr>
            <a:spLocks noGrp="1"/>
          </p:cNvSpPr>
          <p:nvPr/>
        </p:nvSpPr>
        <p:spPr>
          <a:xfrm>
            <a:off x="1238250" y="19335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14" name="upload-preview-eyebrow">
            <a:extLst>
              <a:ext uri="{FF2B5EF4-FFF2-40B4-BE49-F238E27FC236}">
                <a16:creationId xmlns:a16="http://schemas.microsoft.com/office/drawing/2014/main" id="{3EFF7A6B-75B8-4169-B631-545556EBA347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483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AI-POWERED WASTE SORTING</a:t>
            </a:r>
          </a:p>
        </p:txBody>
      </p:sp>
      <p:sp>
        <p:nvSpPr>
          <p:cNvPr id="15" name="upload-preview-headline">
            <a:extLst>
              <a:ext uri="{FF2B5EF4-FFF2-40B4-BE49-F238E27FC236}">
                <a16:creationId xmlns:a16="http://schemas.microsoft.com/office/drawing/2014/main" id="{4966BD1B-6440-40D0-A298-10271F371674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4838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Know where it goes.</a:t>
            </a:r>
          </a:p>
        </p:txBody>
      </p:sp>
      <p:sp>
        <p:nvSpPr>
          <p:cNvPr id="16" name="upload-preview-subhead">
            <a:extLst>
              <a:ext uri="{FF2B5EF4-FFF2-40B4-BE49-F238E27FC236}">
                <a16:creationId xmlns:a16="http://schemas.microsoft.com/office/drawing/2014/main" id="{74E0332B-FB8F-4363-BB7C-7DEB403BEAA4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838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a photo to identify a waste item.</a:t>
            </a:r>
          </a:p>
        </p:txBody>
      </p:sp>
      <p:sp>
        <p:nvSpPr>
          <p:cNvPr id="17" name="upload-preview-tab-active">
            <a:extLst>
              <a:ext uri="{FF2B5EF4-FFF2-40B4-BE49-F238E27FC236}">
                <a16:creationId xmlns:a16="http://schemas.microsoft.com/office/drawing/2014/main" id="{CFB428CA-974A-4EA6-A5F2-349F205DF357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2409825" cy="266700"/>
          </a:xfrm>
          <a:prstGeom prst="roundRect">
            <a:avLst>
              <a:gd name="adj" fmla="val 14286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18" name="upload-preview-tab-inactive">
            <a:extLst>
              <a:ext uri="{FF2B5EF4-FFF2-40B4-BE49-F238E27FC236}">
                <a16:creationId xmlns:a16="http://schemas.microsoft.com/office/drawing/2014/main" id="{C02382AD-0E63-4947-8A43-409F227E4F87}"/>
              </a:ext>
            </a:extLst>
          </p:cNvPr>
          <p:cNvSpPr>
            <a:spLocks noGrp="1"/>
          </p:cNvSpPr>
          <p:nvPr/>
        </p:nvSpPr>
        <p:spPr>
          <a:xfrm>
            <a:off x="3324225" y="3200400"/>
            <a:ext cx="2409825" cy="266700"/>
          </a:xfrm>
          <a:prstGeom prst="roundRect">
            <a:avLst>
              <a:gd name="adj" fmla="val 14286"/>
            </a:avLst>
          </a:prstGeom>
          <a:solidFill>
            <a:srgbClr val="F5F8F4"/>
          </a:solidFill>
          <a:ln w="0">
            <a:noFill/>
            <a:prstDash val="solid"/>
          </a:ln>
        </p:spPr>
      </p:sp>
      <p:sp>
        <p:nvSpPr>
          <p:cNvPr id="19" name="upload-preview-tab-upload">
            <a:extLst>
              <a:ext uri="{FF2B5EF4-FFF2-40B4-BE49-F238E27FC236}">
                <a16:creationId xmlns:a16="http://schemas.microsoft.com/office/drawing/2014/main" id="{F68532C6-0E29-4D04-B177-90C9E18BDC8D}"/>
              </a:ext>
            </a:extLst>
          </p:cNvPr>
          <p:cNvSpPr>
            <a:spLocks noGrp="1"/>
          </p:cNvSpPr>
          <p:nvPr/>
        </p:nvSpPr>
        <p:spPr>
          <a:xfrm>
            <a:off x="876300" y="3257550"/>
            <a:ext cx="2390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Upload a photo</a:t>
            </a:r>
          </a:p>
        </p:txBody>
      </p:sp>
      <p:sp>
        <p:nvSpPr>
          <p:cNvPr id="20" name="upload-preview-tab-camera">
            <a:extLst>
              <a:ext uri="{FF2B5EF4-FFF2-40B4-BE49-F238E27FC236}">
                <a16:creationId xmlns:a16="http://schemas.microsoft.com/office/drawing/2014/main" id="{D2D857E4-7244-443D-AAE1-9BF6B4295C8E}"/>
              </a:ext>
            </a:extLst>
          </p:cNvPr>
          <p:cNvSpPr>
            <a:spLocks noGrp="1"/>
          </p:cNvSpPr>
          <p:nvPr/>
        </p:nvSpPr>
        <p:spPr>
          <a:xfrm>
            <a:off x="3343275" y="3257550"/>
            <a:ext cx="2390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Scan live</a:t>
            </a:r>
          </a:p>
        </p:txBody>
      </p:sp>
      <p:sp>
        <p:nvSpPr>
          <p:cNvPr id="21" name="upload-preview-left-panel">
            <a:extLst>
              <a:ext uri="{FF2B5EF4-FFF2-40B4-BE49-F238E27FC236}">
                <a16:creationId xmlns:a16="http://schemas.microsoft.com/office/drawing/2014/main" id="{881574A4-4F06-47E2-9A75-34380B84D4EC}"/>
              </a:ext>
            </a:extLst>
          </p:cNvPr>
          <p:cNvSpPr>
            <a:spLocks noGrp="1"/>
          </p:cNvSpPr>
          <p:nvPr/>
        </p:nvSpPr>
        <p:spPr>
          <a:xfrm>
            <a:off x="857250" y="3581400"/>
            <a:ext cx="2453259" cy="1838325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22" name="upload-preview-panel-title">
            <a:extLst>
              <a:ext uri="{FF2B5EF4-FFF2-40B4-BE49-F238E27FC236}">
                <a16:creationId xmlns:a16="http://schemas.microsoft.com/office/drawing/2014/main" id="{6856D5AB-1391-460B-ACCD-19FF851CE37C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22444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What do you want to sort?</a:t>
            </a:r>
          </a:p>
        </p:txBody>
      </p:sp>
      <p:sp>
        <p:nvSpPr>
          <p:cNvPr id="23" name="upload-preview-model">
            <a:extLst>
              <a:ext uri="{FF2B5EF4-FFF2-40B4-BE49-F238E27FC236}">
                <a16:creationId xmlns:a16="http://schemas.microsoft.com/office/drawing/2014/main" id="{A6EF711E-FB19-440C-830A-921DCF3932D4}"/>
              </a:ext>
            </a:extLst>
          </p:cNvPr>
          <p:cNvSpPr>
            <a:spLocks noGrp="1"/>
          </p:cNvSpPr>
          <p:nvPr/>
        </p:nvSpPr>
        <p:spPr>
          <a:xfrm>
            <a:off x="971550" y="3981450"/>
            <a:ext cx="224447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7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Model  ·  best_garbage_classifier.keras</a:t>
            </a:r>
          </a:p>
        </p:txBody>
      </p:sp>
      <p:sp>
        <p:nvSpPr>
          <p:cNvPr id="24" name="upload-preview-drop">
            <a:extLst>
              <a:ext uri="{FF2B5EF4-FFF2-40B4-BE49-F238E27FC236}">
                <a16:creationId xmlns:a16="http://schemas.microsoft.com/office/drawing/2014/main" id="{450AC171-CFB8-4CB2-BAE4-C0518EF6A63D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2140077" cy="800100"/>
          </a:xfrm>
          <a:prstGeom prst="roundRect">
            <a:avLst>
              <a:gd name="adj" fmla="val 4762"/>
            </a:avLst>
          </a:prstGeom>
          <a:solidFill>
            <a:srgbClr val="F5F8F4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25" name="upload-preview-drop-copy">
            <a:extLst>
              <a:ext uri="{FF2B5EF4-FFF2-40B4-BE49-F238E27FC236}">
                <a16:creationId xmlns:a16="http://schemas.microsoft.com/office/drawing/2014/main" id="{C54D13CC-D342-44B7-B6CE-9199FB78FAED}"/>
              </a:ext>
            </a:extLst>
          </p:cNvPr>
          <p:cNvSpPr>
            <a:spLocks noGrp="1"/>
          </p:cNvSpPr>
          <p:nvPr/>
        </p:nvSpPr>
        <p:spPr>
          <a:xfrm>
            <a:off x="1095375" y="4448175"/>
            <a:ext cx="1931289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a clear photo</a:t>
            </a:r>
          </a:p>
          <a:p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JPG, PNG, BMP or WEBP</a:t>
            </a:r>
          </a:p>
        </p:txBody>
      </p:sp>
      <p:sp>
        <p:nvSpPr>
          <p:cNvPr id="26" name="upload-preview-action">
            <a:extLst>
              <a:ext uri="{FF2B5EF4-FFF2-40B4-BE49-F238E27FC236}">
                <a16:creationId xmlns:a16="http://schemas.microsoft.com/office/drawing/2014/main" id="{D6695987-ECAF-4A16-8CC3-04E3A2E13B04}"/>
              </a:ext>
            </a:extLst>
          </p:cNvPr>
          <p:cNvSpPr>
            <a:spLocks noGrp="1"/>
          </p:cNvSpPr>
          <p:nvPr/>
        </p:nvSpPr>
        <p:spPr>
          <a:xfrm>
            <a:off x="971550" y="5153025"/>
            <a:ext cx="2140077" cy="285750"/>
          </a:xfrm>
          <a:prstGeom prst="roundRect">
            <a:avLst>
              <a:gd name="adj" fmla="val 13333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7" name="upload-preview-action-copy">
            <a:extLst>
              <a:ext uri="{FF2B5EF4-FFF2-40B4-BE49-F238E27FC236}">
                <a16:creationId xmlns:a16="http://schemas.microsoft.com/office/drawing/2014/main" id="{65157A04-4439-4A85-800D-8AA7168B1AFF}"/>
              </a:ext>
            </a:extLst>
          </p:cNvPr>
          <p:cNvSpPr>
            <a:spLocks noGrp="1"/>
          </p:cNvSpPr>
          <p:nvPr/>
        </p:nvSpPr>
        <p:spPr>
          <a:xfrm>
            <a:off x="1000125" y="5219700"/>
            <a:ext cx="208788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category</a:t>
            </a:r>
          </a:p>
        </p:txBody>
      </p:sp>
      <p:sp>
        <p:nvSpPr>
          <p:cNvPr id="28" name="upload-preview-result-panel">
            <a:extLst>
              <a:ext uri="{FF2B5EF4-FFF2-40B4-BE49-F238E27FC236}">
                <a16:creationId xmlns:a16="http://schemas.microsoft.com/office/drawing/2014/main" id="{F4825848-1620-460A-AB2A-6511C70165DA}"/>
              </a:ext>
            </a:extLst>
          </p:cNvPr>
          <p:cNvSpPr>
            <a:spLocks noGrp="1"/>
          </p:cNvSpPr>
          <p:nvPr/>
        </p:nvSpPr>
        <p:spPr>
          <a:xfrm>
            <a:off x="3400044" y="3581400"/>
            <a:ext cx="2296668" cy="1838325"/>
          </a:xfrm>
          <a:prstGeom prst="roundRect">
            <a:avLst>
              <a:gd name="adj" fmla="val 2073"/>
            </a:avLst>
          </a:prstGeom>
          <a:solidFill>
            <a:srgbClr val="F5F8F4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29" name="upload-preview-result-kicker">
            <a:extLst>
              <a:ext uri="{FF2B5EF4-FFF2-40B4-BE49-F238E27FC236}">
                <a16:creationId xmlns:a16="http://schemas.microsoft.com/office/drawing/2014/main" id="{1CDD2314-FCEE-4D05-8D75-AA201AA182D6}"/>
              </a:ext>
            </a:extLst>
          </p:cNvPr>
          <p:cNvSpPr>
            <a:spLocks noGrp="1"/>
          </p:cNvSpPr>
          <p:nvPr/>
        </p:nvSpPr>
        <p:spPr>
          <a:xfrm>
            <a:off x="3495294" y="3676650"/>
            <a:ext cx="20878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SCAN RESULT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A10D783-BC50-4E81-9866-8CC1D8555E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23" b="34623"/>
          <a:stretch>
            <a:fillRect/>
          </a:stretch>
        </p:blipFill>
        <p:spPr>
          <a:xfrm>
            <a:off x="3495294" y="3895725"/>
            <a:ext cx="2087880" cy="857250"/>
          </a:xfrm>
          <a:prstGeom prst="rect">
            <a:avLst/>
          </a:prstGeom>
        </p:spPr>
      </p:pic>
      <p:sp>
        <p:nvSpPr>
          <p:cNvPr id="31" name="upload-preview-class">
            <a:extLst>
              <a:ext uri="{FF2B5EF4-FFF2-40B4-BE49-F238E27FC236}">
                <a16:creationId xmlns:a16="http://schemas.microsoft.com/office/drawing/2014/main" id="{B9FC3C39-D5F4-4B12-A78E-3FD047035E0C}"/>
              </a:ext>
            </a:extLst>
          </p:cNvPr>
          <p:cNvSpPr>
            <a:spLocks noGrp="1"/>
          </p:cNvSpPr>
          <p:nvPr/>
        </p:nvSpPr>
        <p:spPr>
          <a:xfrm>
            <a:off x="3495294" y="4810125"/>
            <a:ext cx="20878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Plastic</a:t>
            </a:r>
          </a:p>
        </p:txBody>
      </p:sp>
      <p:sp>
        <p:nvSpPr>
          <p:cNvPr id="32" name="upload-preview-confidence">
            <a:extLst>
              <a:ext uri="{FF2B5EF4-FFF2-40B4-BE49-F238E27FC236}">
                <a16:creationId xmlns:a16="http://schemas.microsoft.com/office/drawing/2014/main" id="{E5169FAA-8BB7-49B6-A5EA-E4EA0BBEC318}"/>
              </a:ext>
            </a:extLst>
          </p:cNvPr>
          <p:cNvSpPr>
            <a:spLocks noGrp="1"/>
          </p:cNvSpPr>
          <p:nvPr/>
        </p:nvSpPr>
        <p:spPr>
          <a:xfrm>
            <a:off x="3495294" y="5057775"/>
            <a:ext cx="208788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Likely category · sample preview</a:t>
            </a:r>
          </a:p>
        </p:txBody>
      </p:sp>
      <p:sp>
        <p:nvSpPr>
          <p:cNvPr id="33" name="camera-preview-frame">
            <a:extLst>
              <a:ext uri="{FF2B5EF4-FFF2-40B4-BE49-F238E27FC236}">
                <a16:creationId xmlns:a16="http://schemas.microsoft.com/office/drawing/2014/main" id="{A697C4E0-A4A3-4823-A0B9-A26738064D4D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5219700" cy="42862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34" name="camera-preview-chrome">
            <a:extLst>
              <a:ext uri="{FF2B5EF4-FFF2-40B4-BE49-F238E27FC236}">
                <a16:creationId xmlns:a16="http://schemas.microsoft.com/office/drawing/2014/main" id="{D3606569-1849-4A65-802C-49F7FDC88012}"/>
              </a:ext>
            </a:extLst>
          </p:cNvPr>
          <p:cNvSpPr>
            <a:spLocks noGrp="1"/>
          </p:cNvSpPr>
          <p:nvPr/>
        </p:nvSpPr>
        <p:spPr>
          <a:xfrm>
            <a:off x="6286500" y="1524000"/>
            <a:ext cx="5219700" cy="247650"/>
          </a:xfrm>
          <a:prstGeom prst="roundRect">
            <a:avLst>
              <a:gd name="adj" fmla="val 23077"/>
            </a:avLst>
          </a:prstGeom>
          <a:solidFill>
            <a:srgbClr val="E8EEE9"/>
          </a:solidFill>
          <a:ln w="0">
            <a:noFill/>
            <a:prstDash val="solid"/>
          </a:ln>
        </p:spPr>
      </p:sp>
      <p:sp>
        <p:nvSpPr>
          <p:cNvPr id="35" name="camera-preview-dot-0">
            <a:extLst>
              <a:ext uri="{FF2B5EF4-FFF2-40B4-BE49-F238E27FC236}">
                <a16:creationId xmlns:a16="http://schemas.microsoft.com/office/drawing/2014/main" id="{EC8C227A-026D-47C1-93F3-90FACECC8EF0}"/>
              </a:ext>
            </a:extLst>
          </p:cNvPr>
          <p:cNvSpPr>
            <a:spLocks noGrp="1"/>
          </p:cNvSpPr>
          <p:nvPr/>
        </p:nvSpPr>
        <p:spPr>
          <a:xfrm>
            <a:off x="6419850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E76F57"/>
          </a:solidFill>
          <a:ln w="0">
            <a:noFill/>
            <a:prstDash val="solid"/>
          </a:ln>
        </p:spPr>
      </p:sp>
      <p:sp>
        <p:nvSpPr>
          <p:cNvPr id="36" name="camera-preview-dot-1">
            <a:extLst>
              <a:ext uri="{FF2B5EF4-FFF2-40B4-BE49-F238E27FC236}">
                <a16:creationId xmlns:a16="http://schemas.microsoft.com/office/drawing/2014/main" id="{2088949F-4415-4ACC-A84D-AFCF0CE863D0}"/>
              </a:ext>
            </a:extLst>
          </p:cNvPr>
          <p:cNvSpPr>
            <a:spLocks noGrp="1"/>
          </p:cNvSpPr>
          <p:nvPr/>
        </p:nvSpPr>
        <p:spPr>
          <a:xfrm>
            <a:off x="6581775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B6DC37"/>
          </a:solidFill>
          <a:ln w="0">
            <a:noFill/>
            <a:prstDash val="solid"/>
          </a:ln>
        </p:spPr>
      </p:sp>
      <p:sp>
        <p:nvSpPr>
          <p:cNvPr id="37" name="camera-preview-dot-2">
            <a:extLst>
              <a:ext uri="{FF2B5EF4-FFF2-40B4-BE49-F238E27FC236}">
                <a16:creationId xmlns:a16="http://schemas.microsoft.com/office/drawing/2014/main" id="{9DD72B8D-41CD-431D-AFCB-9FA237876DD0}"/>
              </a:ext>
            </a:extLst>
          </p:cNvPr>
          <p:cNvSpPr>
            <a:spLocks noGrp="1"/>
          </p:cNvSpPr>
          <p:nvPr/>
        </p:nvSpPr>
        <p:spPr>
          <a:xfrm>
            <a:off x="6743700" y="16097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865E"/>
          </a:solidFill>
          <a:ln w="0">
            <a:noFill/>
            <a:prstDash val="solid"/>
          </a:ln>
        </p:spPr>
      </p:sp>
      <p:sp>
        <p:nvSpPr>
          <p:cNvPr id="38" name="camera-preview-brand-mark">
            <a:extLst>
              <a:ext uri="{FF2B5EF4-FFF2-40B4-BE49-F238E27FC236}">
                <a16:creationId xmlns:a16="http://schemas.microsoft.com/office/drawing/2014/main" id="{94E5A496-708E-4708-BCEC-FF7C0F844F96}"/>
              </a:ext>
            </a:extLst>
          </p:cNvPr>
          <p:cNvSpPr>
            <a:spLocks noGrp="1"/>
          </p:cNvSpPr>
          <p:nvPr/>
        </p:nvSpPr>
        <p:spPr>
          <a:xfrm>
            <a:off x="6457950" y="19240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39" name="camera-preview-brand">
            <a:extLst>
              <a:ext uri="{FF2B5EF4-FFF2-40B4-BE49-F238E27FC236}">
                <a16:creationId xmlns:a16="http://schemas.microsoft.com/office/drawing/2014/main" id="{3F222353-16C9-42E6-B0B2-9392056F2A7A}"/>
              </a:ext>
            </a:extLst>
          </p:cNvPr>
          <p:cNvSpPr>
            <a:spLocks noGrp="1"/>
          </p:cNvSpPr>
          <p:nvPr/>
        </p:nvSpPr>
        <p:spPr>
          <a:xfrm>
            <a:off x="6838950" y="1933575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40" name="camera-preview-eyebrow">
            <a:extLst>
              <a:ext uri="{FF2B5EF4-FFF2-40B4-BE49-F238E27FC236}">
                <a16:creationId xmlns:a16="http://schemas.microsoft.com/office/drawing/2014/main" id="{DB3C4E7F-1C89-4416-A985-D623ED4A974E}"/>
              </a:ext>
            </a:extLst>
          </p:cNvPr>
          <p:cNvSpPr>
            <a:spLocks noGrp="1"/>
          </p:cNvSpPr>
          <p:nvPr/>
        </p:nvSpPr>
        <p:spPr>
          <a:xfrm>
            <a:off x="6477000" y="2324100"/>
            <a:ext cx="483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AI-POWERED WASTE SORTING</a:t>
            </a:r>
          </a:p>
        </p:txBody>
      </p:sp>
      <p:sp>
        <p:nvSpPr>
          <p:cNvPr id="41" name="camera-preview-headline">
            <a:extLst>
              <a:ext uri="{FF2B5EF4-FFF2-40B4-BE49-F238E27FC236}">
                <a16:creationId xmlns:a16="http://schemas.microsoft.com/office/drawing/2014/main" id="{A9D23835-70CE-4FB5-96CE-9434D6031687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4838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Point. Scan. Sort.</a:t>
            </a:r>
          </a:p>
        </p:txBody>
      </p:sp>
      <p:sp>
        <p:nvSpPr>
          <p:cNvPr id="42" name="camera-preview-subhead">
            <a:extLst>
              <a:ext uri="{FF2B5EF4-FFF2-40B4-BE49-F238E27FC236}">
                <a16:creationId xmlns:a16="http://schemas.microsoft.com/office/drawing/2014/main" id="{A2C70893-17F9-41C6-A436-78920682EC0F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4838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Capture an item, review it, then predict.</a:t>
            </a:r>
          </a:p>
        </p:txBody>
      </p:sp>
      <p:sp>
        <p:nvSpPr>
          <p:cNvPr id="43" name="camera-preview-tab-active">
            <a:extLst>
              <a:ext uri="{FF2B5EF4-FFF2-40B4-BE49-F238E27FC236}">
                <a16:creationId xmlns:a16="http://schemas.microsoft.com/office/drawing/2014/main" id="{03C6B64C-4A70-40A0-A740-55A23E995535}"/>
              </a:ext>
            </a:extLst>
          </p:cNvPr>
          <p:cNvSpPr>
            <a:spLocks noGrp="1"/>
          </p:cNvSpPr>
          <p:nvPr/>
        </p:nvSpPr>
        <p:spPr>
          <a:xfrm>
            <a:off x="6457950" y="3200400"/>
            <a:ext cx="2409825" cy="266700"/>
          </a:xfrm>
          <a:prstGeom prst="roundRect">
            <a:avLst>
              <a:gd name="adj" fmla="val 14286"/>
            </a:avLst>
          </a:prstGeom>
          <a:solidFill>
            <a:srgbClr val="F5F8F4"/>
          </a:solidFill>
          <a:ln w="0">
            <a:noFill/>
            <a:prstDash val="solid"/>
          </a:ln>
        </p:spPr>
      </p:sp>
      <p:sp>
        <p:nvSpPr>
          <p:cNvPr id="44" name="camera-preview-tab-inactive">
            <a:extLst>
              <a:ext uri="{FF2B5EF4-FFF2-40B4-BE49-F238E27FC236}">
                <a16:creationId xmlns:a16="http://schemas.microsoft.com/office/drawing/2014/main" id="{D448CF92-C13A-4AF8-AED0-82C9585CB0B3}"/>
              </a:ext>
            </a:extLst>
          </p:cNvPr>
          <p:cNvSpPr>
            <a:spLocks noGrp="1"/>
          </p:cNvSpPr>
          <p:nvPr/>
        </p:nvSpPr>
        <p:spPr>
          <a:xfrm>
            <a:off x="8924925" y="3200400"/>
            <a:ext cx="2409825" cy="266700"/>
          </a:xfrm>
          <a:prstGeom prst="roundRect">
            <a:avLst>
              <a:gd name="adj" fmla="val 14286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45" name="camera-preview-tab-upload">
            <a:extLst>
              <a:ext uri="{FF2B5EF4-FFF2-40B4-BE49-F238E27FC236}">
                <a16:creationId xmlns:a16="http://schemas.microsoft.com/office/drawing/2014/main" id="{677CE1FA-5A53-4069-8424-8B0EAF326944}"/>
              </a:ext>
            </a:extLst>
          </p:cNvPr>
          <p:cNvSpPr>
            <a:spLocks noGrp="1"/>
          </p:cNvSpPr>
          <p:nvPr/>
        </p:nvSpPr>
        <p:spPr>
          <a:xfrm>
            <a:off x="6477000" y="3257550"/>
            <a:ext cx="2390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Upload a photo</a:t>
            </a:r>
          </a:p>
        </p:txBody>
      </p:sp>
      <p:sp>
        <p:nvSpPr>
          <p:cNvPr id="46" name="camera-preview-tab-camera">
            <a:extLst>
              <a:ext uri="{FF2B5EF4-FFF2-40B4-BE49-F238E27FC236}">
                <a16:creationId xmlns:a16="http://schemas.microsoft.com/office/drawing/2014/main" id="{0699E0CC-BE46-401B-9C62-187E0ADD30E1}"/>
              </a:ext>
            </a:extLst>
          </p:cNvPr>
          <p:cNvSpPr>
            <a:spLocks noGrp="1"/>
          </p:cNvSpPr>
          <p:nvPr/>
        </p:nvSpPr>
        <p:spPr>
          <a:xfrm>
            <a:off x="8943975" y="3257550"/>
            <a:ext cx="23907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Scan live</a:t>
            </a:r>
          </a:p>
        </p:txBody>
      </p:sp>
      <p:sp>
        <p:nvSpPr>
          <p:cNvPr id="47" name="camera-preview-left-panel">
            <a:extLst>
              <a:ext uri="{FF2B5EF4-FFF2-40B4-BE49-F238E27FC236}">
                <a16:creationId xmlns:a16="http://schemas.microsoft.com/office/drawing/2014/main" id="{D9BF858B-AF49-4EEE-9643-85C2E2E3464A}"/>
              </a:ext>
            </a:extLst>
          </p:cNvPr>
          <p:cNvSpPr>
            <a:spLocks noGrp="1"/>
          </p:cNvSpPr>
          <p:nvPr/>
        </p:nvSpPr>
        <p:spPr>
          <a:xfrm>
            <a:off x="6457950" y="3581400"/>
            <a:ext cx="2453259" cy="1838325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48" name="camera-preview-panel-title">
            <a:extLst>
              <a:ext uri="{FF2B5EF4-FFF2-40B4-BE49-F238E27FC236}">
                <a16:creationId xmlns:a16="http://schemas.microsoft.com/office/drawing/2014/main" id="{EE2A4788-0CE3-489B-A8AA-455792889EF6}"/>
              </a:ext>
            </a:extLst>
          </p:cNvPr>
          <p:cNvSpPr>
            <a:spLocks noGrp="1"/>
          </p:cNvSpPr>
          <p:nvPr/>
        </p:nvSpPr>
        <p:spPr>
          <a:xfrm>
            <a:off x="6572250" y="3695700"/>
            <a:ext cx="2244471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Live camera</a:t>
            </a:r>
          </a:p>
        </p:txBody>
      </p:sp>
      <p:sp>
        <p:nvSpPr>
          <p:cNvPr id="49" name="camera-preview-camera-instructions">
            <a:extLst>
              <a:ext uri="{FF2B5EF4-FFF2-40B4-BE49-F238E27FC236}">
                <a16:creationId xmlns:a16="http://schemas.microsoft.com/office/drawing/2014/main" id="{92F97125-C510-4165-877A-4F6836C2FCA4}"/>
              </a:ext>
            </a:extLst>
          </p:cNvPr>
          <p:cNvSpPr>
            <a:spLocks noGrp="1"/>
          </p:cNvSpPr>
          <p:nvPr/>
        </p:nvSpPr>
        <p:spPr>
          <a:xfrm>
            <a:off x="6572250" y="3990975"/>
            <a:ext cx="224447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Center one item in the camera preview.</a:t>
            </a:r>
          </a:p>
        </p:txBody>
      </p:sp>
      <p:sp>
        <p:nvSpPr>
          <p:cNvPr id="50" name="camera-preview-capture">
            <a:extLst>
              <a:ext uri="{FF2B5EF4-FFF2-40B4-BE49-F238E27FC236}">
                <a16:creationId xmlns:a16="http://schemas.microsoft.com/office/drawing/2014/main" id="{1638658F-0BC9-47C6-B5AA-E9ECA31D7DC6}"/>
              </a:ext>
            </a:extLst>
          </p:cNvPr>
          <p:cNvSpPr>
            <a:spLocks noGrp="1"/>
          </p:cNvSpPr>
          <p:nvPr/>
        </p:nvSpPr>
        <p:spPr>
          <a:xfrm>
            <a:off x="6572250" y="4362450"/>
            <a:ext cx="2140077" cy="400050"/>
          </a:xfrm>
          <a:prstGeom prst="roundRect">
            <a:avLst>
              <a:gd name="adj" fmla="val 9524"/>
            </a:avLst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51" name="camera-preview-capture-label">
            <a:extLst>
              <a:ext uri="{FF2B5EF4-FFF2-40B4-BE49-F238E27FC236}">
                <a16:creationId xmlns:a16="http://schemas.microsoft.com/office/drawing/2014/main" id="{694E145B-7992-4DD4-AADE-F3D4FC81F93D}"/>
              </a:ext>
            </a:extLst>
          </p:cNvPr>
          <p:cNvSpPr>
            <a:spLocks noGrp="1"/>
          </p:cNvSpPr>
          <p:nvPr/>
        </p:nvSpPr>
        <p:spPr>
          <a:xfrm>
            <a:off x="6600825" y="4457700"/>
            <a:ext cx="208788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Capture photo</a:t>
            </a:r>
          </a:p>
        </p:txBody>
      </p:sp>
      <p:sp>
        <p:nvSpPr>
          <p:cNvPr id="52" name="camera-preview-review-note">
            <a:extLst>
              <a:ext uri="{FF2B5EF4-FFF2-40B4-BE49-F238E27FC236}">
                <a16:creationId xmlns:a16="http://schemas.microsoft.com/office/drawing/2014/main" id="{C0A09F9B-B7CE-4350-AF6B-3016D5BECF31}"/>
              </a:ext>
            </a:extLst>
          </p:cNvPr>
          <p:cNvSpPr>
            <a:spLocks noGrp="1"/>
          </p:cNvSpPr>
          <p:nvPr/>
        </p:nvSpPr>
        <p:spPr>
          <a:xfrm>
            <a:off x="6572250" y="4914900"/>
            <a:ext cx="2244471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Review the captured image, then select Predict image.</a:t>
            </a:r>
          </a:p>
        </p:txBody>
      </p:sp>
      <p:sp>
        <p:nvSpPr>
          <p:cNvPr id="53" name="camera-preview-result-panel">
            <a:extLst>
              <a:ext uri="{FF2B5EF4-FFF2-40B4-BE49-F238E27FC236}">
                <a16:creationId xmlns:a16="http://schemas.microsoft.com/office/drawing/2014/main" id="{77B6F545-A242-4773-8B7F-23FF5F74A0B5}"/>
              </a:ext>
            </a:extLst>
          </p:cNvPr>
          <p:cNvSpPr>
            <a:spLocks noGrp="1"/>
          </p:cNvSpPr>
          <p:nvPr/>
        </p:nvSpPr>
        <p:spPr>
          <a:xfrm>
            <a:off x="9000744" y="3581400"/>
            <a:ext cx="2296668" cy="1838325"/>
          </a:xfrm>
          <a:prstGeom prst="roundRect">
            <a:avLst>
              <a:gd name="adj" fmla="val 2073"/>
            </a:avLst>
          </a:prstGeom>
          <a:solidFill>
            <a:srgbClr val="F5F8F4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54" name="camera-preview-result-kicker">
            <a:extLst>
              <a:ext uri="{FF2B5EF4-FFF2-40B4-BE49-F238E27FC236}">
                <a16:creationId xmlns:a16="http://schemas.microsoft.com/office/drawing/2014/main" id="{0D33D920-6243-4B56-9A17-BA40EAE72696}"/>
              </a:ext>
            </a:extLst>
          </p:cNvPr>
          <p:cNvSpPr>
            <a:spLocks noGrp="1"/>
          </p:cNvSpPr>
          <p:nvPr/>
        </p:nvSpPr>
        <p:spPr>
          <a:xfrm>
            <a:off x="9095994" y="3676650"/>
            <a:ext cx="208788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defPPr>
            <a:lvl1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1pPr>
            <a:lvl2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2pPr>
            <a:lvl3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3pPr>
            <a:lvl4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4pPr>
            <a:lvl5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5pPr>
            <a:lvl6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6pPr>
            <a:lvl7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7pPr>
            <a:lvl8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8pPr>
            <a:lvl9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75" b="1">
                <a:solidFill>
                  <a:srgbClr val="25865E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5865E"/>
                </a:solidFill>
                <a:latin typeface="Arial"/>
                <a:ea typeface="Arial"/>
                <a:cs typeface="Arial"/>
              </a:rPr>
              <a:t>CAPTURE REVIEW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2124028-5A26-4AA6-A27C-E30CA125A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89" b="31889"/>
          <a:stretch>
            <a:fillRect/>
          </a:stretch>
        </p:blipFill>
        <p:spPr>
          <a:xfrm>
            <a:off x="9095994" y="3895725"/>
            <a:ext cx="2087880" cy="1009650"/>
          </a:xfrm>
          <a:prstGeom prst="rect">
            <a:avLst/>
          </a:prstGeom>
        </p:spPr>
      </p:pic>
      <p:sp>
        <p:nvSpPr>
          <p:cNvPr id="56" name="camera-preview-class">
            <a:extLst>
              <a:ext uri="{FF2B5EF4-FFF2-40B4-BE49-F238E27FC236}">
                <a16:creationId xmlns:a16="http://schemas.microsoft.com/office/drawing/2014/main" id="{88A23BB0-2D71-4B20-95F7-9300EA6F74AA}"/>
              </a:ext>
            </a:extLst>
          </p:cNvPr>
          <p:cNvSpPr>
            <a:spLocks noGrp="1"/>
          </p:cNvSpPr>
          <p:nvPr/>
        </p:nvSpPr>
        <p:spPr>
          <a:xfrm>
            <a:off x="9095994" y="4962525"/>
            <a:ext cx="20878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Captured item</a:t>
            </a:r>
          </a:p>
        </p:txBody>
      </p:sp>
      <p:sp>
        <p:nvSpPr>
          <p:cNvPr id="57" name="camera-preview-confidence">
            <a:extLst>
              <a:ext uri="{FF2B5EF4-FFF2-40B4-BE49-F238E27FC236}">
                <a16:creationId xmlns:a16="http://schemas.microsoft.com/office/drawing/2014/main" id="{D8C6313C-4A60-457A-ACA1-C66922DCB973}"/>
              </a:ext>
            </a:extLst>
          </p:cNvPr>
          <p:cNvSpPr>
            <a:spLocks noGrp="1"/>
          </p:cNvSpPr>
          <p:nvPr/>
        </p:nvSpPr>
        <p:spPr>
          <a:xfrm>
            <a:off x="9095994" y="5191125"/>
            <a:ext cx="208788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Ready for prediction</a:t>
            </a:r>
          </a:p>
        </p:txBody>
      </p:sp>
      <p:sp>
        <p:nvSpPr>
          <p:cNvPr id="58" name="upload-preview-caption">
            <a:extLst>
              <a:ext uri="{FF2B5EF4-FFF2-40B4-BE49-F238E27FC236}">
                <a16:creationId xmlns:a16="http://schemas.microsoft.com/office/drawing/2014/main" id="{F8276BE9-3D19-447E-9436-A13FF846B205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UPLOAD SCREEN  /  Interface preview</a:t>
            </a:r>
          </a:p>
        </p:txBody>
      </p:sp>
      <p:sp>
        <p:nvSpPr>
          <p:cNvPr id="59" name="camera-preview-caption">
            <a:extLst>
              <a:ext uri="{FF2B5EF4-FFF2-40B4-BE49-F238E27FC236}">
                <a16:creationId xmlns:a16="http://schemas.microsoft.com/office/drawing/2014/main" id="{E26844FC-D097-4DCB-BA9F-ED8A0C85F34B}"/>
              </a:ext>
            </a:extLst>
          </p:cNvPr>
          <p:cNvSpPr>
            <a:spLocks noGrp="1"/>
          </p:cNvSpPr>
          <p:nvPr/>
        </p:nvSpPr>
        <p:spPr>
          <a:xfrm>
            <a:off x="6381750" y="5905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CAMERA SCREEN  /  Interface preview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F9DCC29-F38B-BF20-4779-730238EA56B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87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accent-9">
            <a:extLst>
              <a:ext uri="{FF2B5EF4-FFF2-40B4-BE49-F238E27FC236}">
                <a16:creationId xmlns:a16="http://schemas.microsoft.com/office/drawing/2014/main" id="{464BA51B-669E-41E6-B8F1-FE245E7556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9">
            <a:extLst>
              <a:ext uri="{FF2B5EF4-FFF2-40B4-BE49-F238E27FC236}">
                <a16:creationId xmlns:a16="http://schemas.microsoft.com/office/drawing/2014/main" id="{A7B95B3D-AF12-4062-99B4-8287BC68E3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Application Architecture</a:t>
            </a:r>
          </a:p>
        </p:txBody>
      </p:sp>
      <p:sp>
        <p:nvSpPr>
          <p:cNvPr id="3" name="slide-subtitle-9">
            <a:extLst>
              <a:ext uri="{FF2B5EF4-FFF2-40B4-BE49-F238E27FC236}">
                <a16:creationId xmlns:a16="http://schemas.microsoft.com/office/drawing/2014/main" id="{59DDDECE-E479-4387-A028-25C2D4BF6084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browser captures or uploads an image. Flask runs TensorFlow inference and returns ranked labels.</a:t>
            </a:r>
          </a:p>
        </p:txBody>
      </p:sp>
      <p:sp>
        <p:nvSpPr>
          <p:cNvPr id="4" name="footer-rule-9">
            <a:extLst>
              <a:ext uri="{FF2B5EF4-FFF2-40B4-BE49-F238E27FC236}">
                <a16:creationId xmlns:a16="http://schemas.microsoft.com/office/drawing/2014/main" id="{01B2231A-28D1-4BEB-9CFA-A50A9183884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9">
            <a:extLst>
              <a:ext uri="{FF2B5EF4-FFF2-40B4-BE49-F238E27FC236}">
                <a16:creationId xmlns:a16="http://schemas.microsoft.com/office/drawing/2014/main" id="{CD0C0AA8-71B3-4D2D-9DFC-591C1066B50E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6" name="footer-number-9">
            <a:extLst>
              <a:ext uri="{FF2B5EF4-FFF2-40B4-BE49-F238E27FC236}">
                <a16:creationId xmlns:a16="http://schemas.microsoft.com/office/drawing/2014/main" id="{F86489C2-6D41-419A-9C66-E3D42847BBB0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arch-box-0">
            <a:extLst>
              <a:ext uri="{FF2B5EF4-FFF2-40B4-BE49-F238E27FC236}">
                <a16:creationId xmlns:a16="http://schemas.microsoft.com/office/drawing/2014/main" id="{04E38336-A1E8-4A6E-8E8A-68797978E964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2286000" cy="1952625"/>
          </a:xfrm>
          <a:prstGeom prst="roundRect">
            <a:avLst>
              <a:gd name="adj" fmla="val 2927"/>
            </a:avLst>
          </a:prstGeom>
          <a:solidFill>
            <a:srgbClr val="E2F3F7"/>
          </a:solidFill>
          <a:ln w="0">
            <a:noFill/>
            <a:prstDash val="solid"/>
          </a:ln>
        </p:spPr>
      </p:sp>
      <p:sp>
        <p:nvSpPr>
          <p:cNvPr id="8" name="arch-title-0">
            <a:extLst>
              <a:ext uri="{FF2B5EF4-FFF2-40B4-BE49-F238E27FC236}">
                <a16:creationId xmlns:a16="http://schemas.microsoft.com/office/drawing/2014/main" id="{47CDE880-FAD7-4CC0-A980-AD49FE4C3F03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arch-detail-0">
            <a:extLst>
              <a:ext uri="{FF2B5EF4-FFF2-40B4-BE49-F238E27FC236}">
                <a16:creationId xmlns:a16="http://schemas.microsoft.com/office/drawing/2014/main" id="{0576115B-4464-4EC5-88F8-06BE9330AE57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1981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Photo upload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Camera preview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Captured still</a:t>
            </a:r>
          </a:p>
        </p:txBody>
      </p:sp>
      <p:sp>
        <p:nvSpPr>
          <p:cNvPr id="10" name="arch-link-0">
            <a:extLst>
              <a:ext uri="{FF2B5EF4-FFF2-40B4-BE49-F238E27FC236}">
                <a16:creationId xmlns:a16="http://schemas.microsoft.com/office/drawing/2014/main" id="{D1B2744F-E395-4ED6-84F2-769E485148A8}"/>
              </a:ext>
            </a:extLst>
          </p:cNvPr>
          <p:cNvSpPr>
            <a:spLocks noGrp="1"/>
          </p:cNvSpPr>
          <p:nvPr/>
        </p:nvSpPr>
        <p:spPr>
          <a:xfrm>
            <a:off x="3086100" y="2886075"/>
            <a:ext cx="4381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1" name="arch-box-1">
            <a:extLst>
              <a:ext uri="{FF2B5EF4-FFF2-40B4-BE49-F238E27FC236}">
                <a16:creationId xmlns:a16="http://schemas.microsoft.com/office/drawing/2014/main" id="{9367935F-4410-4EF3-8D3B-6AD5BB8877CA}"/>
              </a:ext>
            </a:extLst>
          </p:cNvPr>
          <p:cNvSpPr>
            <a:spLocks noGrp="1"/>
          </p:cNvSpPr>
          <p:nvPr/>
        </p:nvSpPr>
        <p:spPr>
          <a:xfrm>
            <a:off x="3638550" y="1905000"/>
            <a:ext cx="2286000" cy="1952625"/>
          </a:xfrm>
          <a:prstGeom prst="roundRect">
            <a:avLst>
              <a:gd name="adj" fmla="val 2927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12" name="arch-title-1">
            <a:extLst>
              <a:ext uri="{FF2B5EF4-FFF2-40B4-BE49-F238E27FC236}">
                <a16:creationId xmlns:a16="http://schemas.microsoft.com/office/drawing/2014/main" id="{18860961-464D-4E0B-8328-76DDCF767623}"/>
              </a:ext>
            </a:extLst>
          </p:cNvPr>
          <p:cNvSpPr>
            <a:spLocks noGrp="1"/>
          </p:cNvSpPr>
          <p:nvPr/>
        </p:nvSpPr>
        <p:spPr>
          <a:xfrm>
            <a:off x="3810000" y="21431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Flask app</a:t>
            </a:r>
          </a:p>
        </p:txBody>
      </p:sp>
      <p:sp>
        <p:nvSpPr>
          <p:cNvPr id="13" name="arch-detail-1">
            <a:extLst>
              <a:ext uri="{FF2B5EF4-FFF2-40B4-BE49-F238E27FC236}">
                <a16:creationId xmlns:a16="http://schemas.microsoft.com/office/drawing/2014/main" id="{2E509443-AC16-443F-B86B-033C495E85B8}"/>
              </a:ext>
            </a:extLst>
          </p:cNvPr>
          <p:cNvSpPr>
            <a:spLocks noGrp="1"/>
          </p:cNvSpPr>
          <p:nvPr/>
        </p:nvSpPr>
        <p:spPr>
          <a:xfrm>
            <a:off x="3790950" y="2762250"/>
            <a:ext cx="1981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Validate request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Choose saved model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Return response</a:t>
            </a:r>
          </a:p>
        </p:txBody>
      </p:sp>
      <p:sp>
        <p:nvSpPr>
          <p:cNvPr id="14" name="arch-link-1">
            <a:extLst>
              <a:ext uri="{FF2B5EF4-FFF2-40B4-BE49-F238E27FC236}">
                <a16:creationId xmlns:a16="http://schemas.microsoft.com/office/drawing/2014/main" id="{D8CB6652-15FC-47A7-BF17-57BEA26661D2}"/>
              </a:ext>
            </a:extLst>
          </p:cNvPr>
          <p:cNvSpPr>
            <a:spLocks noGrp="1"/>
          </p:cNvSpPr>
          <p:nvPr/>
        </p:nvSpPr>
        <p:spPr>
          <a:xfrm>
            <a:off x="6038850" y="2886075"/>
            <a:ext cx="4381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5" name="arch-box-2">
            <a:extLst>
              <a:ext uri="{FF2B5EF4-FFF2-40B4-BE49-F238E27FC236}">
                <a16:creationId xmlns:a16="http://schemas.microsoft.com/office/drawing/2014/main" id="{D1DF00A7-DC30-4F05-AB4B-B08CB7E91B3E}"/>
              </a:ext>
            </a:extLst>
          </p:cNvPr>
          <p:cNvSpPr>
            <a:spLocks noGrp="1"/>
          </p:cNvSpPr>
          <p:nvPr/>
        </p:nvSpPr>
        <p:spPr>
          <a:xfrm>
            <a:off x="6591300" y="1905000"/>
            <a:ext cx="2286000" cy="1952625"/>
          </a:xfrm>
          <a:prstGeom prst="roundRect">
            <a:avLst>
              <a:gd name="adj" fmla="val 2927"/>
            </a:avLst>
          </a:prstGeom>
          <a:solidFill>
            <a:srgbClr val="FCEBE6"/>
          </a:solidFill>
          <a:ln w="0">
            <a:noFill/>
            <a:prstDash val="solid"/>
          </a:ln>
        </p:spPr>
      </p:sp>
      <p:sp>
        <p:nvSpPr>
          <p:cNvPr id="16" name="arch-title-2">
            <a:extLst>
              <a:ext uri="{FF2B5EF4-FFF2-40B4-BE49-F238E27FC236}">
                <a16:creationId xmlns:a16="http://schemas.microsoft.com/office/drawing/2014/main" id="{D718CC9E-3EE0-40BC-A274-2F06FEFCBF5A}"/>
              </a:ext>
            </a:extLst>
          </p:cNvPr>
          <p:cNvSpPr>
            <a:spLocks noGrp="1"/>
          </p:cNvSpPr>
          <p:nvPr/>
        </p:nvSpPr>
        <p:spPr>
          <a:xfrm>
            <a:off x="6762750" y="2143125"/>
            <a:ext cx="194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Image pipeline</a:t>
            </a:r>
          </a:p>
        </p:txBody>
      </p:sp>
      <p:sp>
        <p:nvSpPr>
          <p:cNvPr id="17" name="arch-detail-2">
            <a:extLst>
              <a:ext uri="{FF2B5EF4-FFF2-40B4-BE49-F238E27FC236}">
                <a16:creationId xmlns:a16="http://schemas.microsoft.com/office/drawing/2014/main" id="{709710DB-AB07-49CB-A1A7-2336EB3565C9}"/>
              </a:ext>
            </a:extLst>
          </p:cNvPr>
          <p:cNvSpPr>
            <a:spLocks noGrp="1"/>
          </p:cNvSpPr>
          <p:nvPr/>
        </p:nvSpPr>
        <p:spPr>
          <a:xfrm>
            <a:off x="6743700" y="2762250"/>
            <a:ext cx="19812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Decode image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RGB conversion</a:t>
            </a:r>
          </a:p>
          <a:p>
            <a:pPr algn="ctr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Resize to 224 x 224</a:t>
            </a:r>
          </a:p>
        </p:txBody>
      </p:sp>
      <p:sp>
        <p:nvSpPr>
          <p:cNvPr id="18" name="arch-link-2">
            <a:extLst>
              <a:ext uri="{FF2B5EF4-FFF2-40B4-BE49-F238E27FC236}">
                <a16:creationId xmlns:a16="http://schemas.microsoft.com/office/drawing/2014/main" id="{484AD953-F03A-409D-A59F-DEB569276697}"/>
              </a:ext>
            </a:extLst>
          </p:cNvPr>
          <p:cNvSpPr>
            <a:spLocks noGrp="1"/>
          </p:cNvSpPr>
          <p:nvPr/>
        </p:nvSpPr>
        <p:spPr>
          <a:xfrm>
            <a:off x="8991600" y="2886075"/>
            <a:ext cx="438150" cy="0"/>
          </a:xfrm>
          <a:prstGeom prst="line">
            <a:avLst/>
          </a:prstGeom>
          <a:noFill/>
          <a:ln w="28575">
            <a:solidFill>
              <a:srgbClr val="1886A2"/>
            </a:solidFill>
            <a:prstDash val="solid"/>
          </a:ln>
        </p:spPr>
      </p:sp>
      <p:sp>
        <p:nvSpPr>
          <p:cNvPr id="19" name="arch-box-3">
            <a:extLst>
              <a:ext uri="{FF2B5EF4-FFF2-40B4-BE49-F238E27FC236}">
                <a16:creationId xmlns:a16="http://schemas.microsoft.com/office/drawing/2014/main" id="{D20095A9-F764-4588-9E04-10B1917DF614}"/>
              </a:ext>
            </a:extLst>
          </p:cNvPr>
          <p:cNvSpPr>
            <a:spLocks noGrp="1"/>
          </p:cNvSpPr>
          <p:nvPr/>
        </p:nvSpPr>
        <p:spPr>
          <a:xfrm>
            <a:off x="9544050" y="1905000"/>
            <a:ext cx="1962150" cy="1952625"/>
          </a:xfrm>
          <a:prstGeom prst="roundRect">
            <a:avLst>
              <a:gd name="adj" fmla="val 2927"/>
            </a:avLst>
          </a:prstGeom>
          <a:solidFill>
            <a:srgbClr val="0D3B2B"/>
          </a:solidFill>
          <a:ln w="0">
            <a:noFill/>
            <a:prstDash val="solid"/>
          </a:ln>
        </p:spPr>
      </p:sp>
      <p:sp>
        <p:nvSpPr>
          <p:cNvPr id="20" name="arch-title-3">
            <a:extLst>
              <a:ext uri="{FF2B5EF4-FFF2-40B4-BE49-F238E27FC236}">
                <a16:creationId xmlns:a16="http://schemas.microsoft.com/office/drawing/2014/main" id="{2EBDA066-E87B-46B5-AD3D-48777E3EA430}"/>
              </a:ext>
            </a:extLst>
          </p:cNvPr>
          <p:cNvSpPr>
            <a:spLocks noGrp="1"/>
          </p:cNvSpPr>
          <p:nvPr/>
        </p:nvSpPr>
        <p:spPr>
          <a:xfrm>
            <a:off x="9715500" y="21431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Keras model</a:t>
            </a:r>
          </a:p>
        </p:txBody>
      </p:sp>
      <p:sp>
        <p:nvSpPr>
          <p:cNvPr id="21" name="arch-detail-3">
            <a:extLst>
              <a:ext uri="{FF2B5EF4-FFF2-40B4-BE49-F238E27FC236}">
                <a16:creationId xmlns:a16="http://schemas.microsoft.com/office/drawing/2014/main" id="{6CF5E092-4C59-4D45-811A-F5AB36D9527A}"/>
              </a:ext>
            </a:extLst>
          </p:cNvPr>
          <p:cNvSpPr>
            <a:spLocks noGrp="1"/>
          </p:cNvSpPr>
          <p:nvPr/>
        </p:nvSpPr>
        <p:spPr>
          <a:xfrm>
            <a:off x="9696450" y="2762250"/>
            <a:ext cx="16573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Class probabilities</a:t>
            </a:r>
          </a:p>
          <a:p>
            <a:pPr algn="ctr">
              <a:defRPr sz="1350" b="0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0"/>
                </a:solidFill>
                <a:latin typeface="Arial"/>
                <a:ea typeface="Arial"/>
                <a:cs typeface="Arial"/>
              </a:rPr>
              <a:t>Top five predictions</a:t>
            </a:r>
          </a:p>
        </p:txBody>
      </p:sp>
      <p:sp>
        <p:nvSpPr>
          <p:cNvPr id="22" name="arch-endpoint-band">
            <a:extLst>
              <a:ext uri="{FF2B5EF4-FFF2-40B4-BE49-F238E27FC236}">
                <a16:creationId xmlns:a16="http://schemas.microsoft.com/office/drawing/2014/main" id="{19F57B6B-4E50-4676-95CC-D23C49984AA6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10820400" cy="10287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9525">
            <a:solidFill>
              <a:srgbClr val="D7E2D9"/>
            </a:solidFill>
            <a:prstDash val="solid"/>
          </a:ln>
        </p:spPr>
      </p:sp>
      <p:sp>
        <p:nvSpPr>
          <p:cNvPr id="23" name="arch-endpoint-label">
            <a:extLst>
              <a:ext uri="{FF2B5EF4-FFF2-40B4-BE49-F238E27FC236}">
                <a16:creationId xmlns:a16="http://schemas.microsoft.com/office/drawing/2014/main" id="{819D9A43-8FF0-4BED-A758-753F28EBB31F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CAMERA API</a:t>
            </a:r>
          </a:p>
        </p:txBody>
      </p:sp>
      <p:sp>
        <p:nvSpPr>
          <p:cNvPr id="24" name="arch-endpoint">
            <a:extLst>
              <a:ext uri="{FF2B5EF4-FFF2-40B4-BE49-F238E27FC236}">
                <a16:creationId xmlns:a16="http://schemas.microsoft.com/office/drawing/2014/main" id="{72326BD8-AA5B-4722-98A1-DA93A5FB9D00}"/>
              </a:ext>
            </a:extLst>
          </p:cNvPr>
          <p:cNvSpPr>
            <a:spLocks noGrp="1"/>
          </p:cNvSpPr>
          <p:nvPr/>
        </p:nvSpPr>
        <p:spPr>
          <a:xfrm>
            <a:off x="2428875" y="4619625"/>
            <a:ext cx="352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POST /api/predict-frame</a:t>
            </a:r>
          </a:p>
        </p:txBody>
      </p:sp>
      <p:sp>
        <p:nvSpPr>
          <p:cNvPr id="25" name="arch-endpoint-detail">
            <a:extLst>
              <a:ext uri="{FF2B5EF4-FFF2-40B4-BE49-F238E27FC236}">
                <a16:creationId xmlns:a16="http://schemas.microsoft.com/office/drawing/2014/main" id="{95182756-38BB-4C70-BA21-6C3994B6F418}"/>
              </a:ext>
            </a:extLst>
          </p:cNvPr>
          <p:cNvSpPr>
            <a:spLocks noGrp="1"/>
          </p:cNvSpPr>
          <p:nvPr/>
        </p:nvSpPr>
        <p:spPr>
          <a:xfrm>
            <a:off x="2428875" y="5019675"/>
            <a:ext cx="847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025"/>
          </a:bodyPr>
          <a:lstStyle>
            <a:def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Accepts the selected model and a captured JPEG data URL. The response contains the top label and up to five scores.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6BC24E-81D3-CFF6-7827-FA381C528E0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4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-10">
            <a:extLst>
              <a:ext uri="{FF2B5EF4-FFF2-40B4-BE49-F238E27FC236}">
                <a16:creationId xmlns:a16="http://schemas.microsoft.com/office/drawing/2014/main" id="{C095057D-BB87-4050-B333-7750B74E94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10">
            <a:extLst>
              <a:ext uri="{FF2B5EF4-FFF2-40B4-BE49-F238E27FC236}">
                <a16:creationId xmlns:a16="http://schemas.microsoft.com/office/drawing/2014/main" id="{BE9B04EE-2078-43ED-992C-E722854B15D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Implementation: Mobile App and Deployment</a:t>
            </a:r>
          </a:p>
        </p:txBody>
      </p:sp>
      <p:sp>
        <p:nvSpPr>
          <p:cNvPr id="3" name="slide-subtitle-10">
            <a:extLst>
              <a:ext uri="{FF2B5EF4-FFF2-40B4-BE49-F238E27FC236}">
                <a16:creationId xmlns:a16="http://schemas.microsoft.com/office/drawing/2014/main" id="{AB4C91AF-D08C-46F8-826E-CE40730DA771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The project runs as an installable web app. The model stays on the server and needs a network connection.</a:t>
            </a:r>
          </a:p>
        </p:txBody>
      </p:sp>
      <p:sp>
        <p:nvSpPr>
          <p:cNvPr id="4" name="footer-rule-10">
            <a:extLst>
              <a:ext uri="{FF2B5EF4-FFF2-40B4-BE49-F238E27FC236}">
                <a16:creationId xmlns:a16="http://schemas.microsoft.com/office/drawing/2014/main" id="{F79F720E-D4B8-45DB-B1B9-D4110912C86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10">
            <a:extLst>
              <a:ext uri="{FF2B5EF4-FFF2-40B4-BE49-F238E27FC236}">
                <a16:creationId xmlns:a16="http://schemas.microsoft.com/office/drawing/2014/main" id="{96C53540-DF64-49C5-8FDC-9833B33B346F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</a:t>
            </a:r>
          </a:p>
        </p:txBody>
      </p:sp>
      <p:sp>
        <p:nvSpPr>
          <p:cNvPr id="6" name="footer-number-10">
            <a:extLst>
              <a:ext uri="{FF2B5EF4-FFF2-40B4-BE49-F238E27FC236}">
                <a16:creationId xmlns:a16="http://schemas.microsoft.com/office/drawing/2014/main" id="{ABEC641C-A6AE-4B68-BAB3-5B3430E48DD0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mobile-left-head">
            <a:extLst>
              <a:ext uri="{FF2B5EF4-FFF2-40B4-BE49-F238E27FC236}">
                <a16:creationId xmlns:a16="http://schemas.microsoft.com/office/drawing/2014/main" id="{D9A0C0BE-844F-448F-857F-AC2612A521A5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Mobile experience</a:t>
            </a:r>
          </a:p>
        </p:txBody>
      </p:sp>
      <p:sp>
        <p:nvSpPr>
          <p:cNvPr id="8" name="mobile-left-list">
            <a:extLst>
              <a:ext uri="{FF2B5EF4-FFF2-40B4-BE49-F238E27FC236}">
                <a16:creationId xmlns:a16="http://schemas.microsoft.com/office/drawing/2014/main" id="{734CB72C-B2DA-45FB-B798-50A3D6C79DB8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4953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Responsive layout for phone and desktop screens.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PWA manifest, app icon, and service worker for the web shell.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Rear-facing camera is preferred when the browser supports it.</a:t>
            </a:r>
          </a:p>
          <a:p>
            <a:pPr marL="228600" indent="-114300">
              <a:spcAft>
                <a:spcPts val="7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HTTPS is required for camera access on a hosted site.</a:t>
            </a:r>
          </a:p>
        </p:txBody>
      </p:sp>
      <p:sp>
        <p:nvSpPr>
          <p:cNvPr id="9" name="mobile-column-rule">
            <a:extLst>
              <a:ext uri="{FF2B5EF4-FFF2-40B4-BE49-F238E27FC236}">
                <a16:creationId xmlns:a16="http://schemas.microsoft.com/office/drawing/2014/main" id="{85433D0D-DCF7-4967-96AB-1F37B9CEA68F}"/>
              </a:ext>
            </a:extLst>
          </p:cNvPr>
          <p:cNvSpPr>
            <a:spLocks noGrp="1"/>
          </p:cNvSpPr>
          <p:nvPr/>
        </p:nvSpPr>
        <p:spPr>
          <a:xfrm>
            <a:off x="6019800" y="1676400"/>
            <a:ext cx="0" cy="3943350"/>
          </a:xfrm>
          <a:prstGeom prst="line">
            <a:avLst/>
          </a:prstGeom>
          <a:noFill/>
          <a:ln w="19050">
            <a:solidFill>
              <a:srgbClr val="D7E2D9"/>
            </a:solidFill>
            <a:prstDash val="solid"/>
          </a:ln>
        </p:spPr>
      </p:sp>
      <p:sp>
        <p:nvSpPr>
          <p:cNvPr id="10" name="mobile-right-head">
            <a:extLst>
              <a:ext uri="{FF2B5EF4-FFF2-40B4-BE49-F238E27FC236}">
                <a16:creationId xmlns:a16="http://schemas.microsoft.com/office/drawing/2014/main" id="{473AD557-B28E-4F77-9DAC-23387DD7758D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857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75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Hosting configuration</a:t>
            </a:r>
          </a:p>
        </p:txBody>
      </p:sp>
      <p:sp>
        <p:nvSpPr>
          <p:cNvPr id="11" name="mobile-runtime">
            <a:extLst>
              <a:ext uri="{FF2B5EF4-FFF2-40B4-BE49-F238E27FC236}">
                <a16:creationId xmlns:a16="http://schemas.microsoft.com/office/drawing/2014/main" id="{FBFE6E8C-7477-44F7-AD4E-DE83FAAA3E77}"/>
              </a:ext>
            </a:extLst>
          </p:cNvPr>
          <p:cNvSpPr>
            <a:spLocks noGrp="1"/>
          </p:cNvSpPr>
          <p:nvPr/>
        </p:nvSpPr>
        <p:spPr>
          <a:xfrm>
            <a:off x="6572250" y="22098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Python 3.11.9</a:t>
            </a:r>
          </a:p>
        </p:txBody>
      </p:sp>
      <p:sp>
        <p:nvSpPr>
          <p:cNvPr id="12" name="mobile-runtime-detail">
            <a:extLst>
              <a:ext uri="{FF2B5EF4-FFF2-40B4-BE49-F238E27FC236}">
                <a16:creationId xmlns:a16="http://schemas.microsoft.com/office/drawing/2014/main" id="{DE1BFA83-F842-42C0-A857-642AA814810E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572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Pinned for TensorFlow package compatibility.</a:t>
            </a:r>
          </a:p>
        </p:txBody>
      </p:sp>
      <p:sp>
        <p:nvSpPr>
          <p:cNvPr id="13" name="mobile-command">
            <a:extLst>
              <a:ext uri="{FF2B5EF4-FFF2-40B4-BE49-F238E27FC236}">
                <a16:creationId xmlns:a16="http://schemas.microsoft.com/office/drawing/2014/main" id="{2885D00A-5349-4925-87AD-518A618E8C41}"/>
              </a:ext>
            </a:extLst>
          </p:cNvPr>
          <p:cNvSpPr>
            <a:spLocks noGrp="1"/>
          </p:cNvSpPr>
          <p:nvPr/>
        </p:nvSpPr>
        <p:spPr>
          <a:xfrm>
            <a:off x="6572250" y="3286125"/>
            <a:ext cx="4810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gunicorn --bind 0.0.0.0:$PORT app:app</a:t>
            </a:r>
          </a:p>
        </p:txBody>
      </p:sp>
      <p:sp>
        <p:nvSpPr>
          <p:cNvPr id="14" name="mobile-deploy-detail">
            <a:extLst>
              <a:ext uri="{FF2B5EF4-FFF2-40B4-BE49-F238E27FC236}">
                <a16:creationId xmlns:a16="http://schemas.microsoft.com/office/drawing/2014/main" id="{1DA315D1-996F-4CFE-BA71-27E4DB990EB9}"/>
              </a:ext>
            </a:extLst>
          </p:cNvPr>
          <p:cNvSpPr>
            <a:spLocks noGrp="1"/>
          </p:cNvSpPr>
          <p:nvPr/>
        </p:nvSpPr>
        <p:spPr>
          <a:xfrm>
            <a:off x="6572250" y="3829050"/>
            <a:ext cx="4572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Render reads render.yaml, installs requirements.txt, then runs the Flask app through Gunicorn.</a:t>
            </a:r>
          </a:p>
        </p:txBody>
      </p:sp>
      <p:sp>
        <p:nvSpPr>
          <p:cNvPr id="15" name="mobile-online-note">
            <a:extLst>
              <a:ext uri="{FF2B5EF4-FFF2-40B4-BE49-F238E27FC236}">
                <a16:creationId xmlns:a16="http://schemas.microsoft.com/office/drawing/2014/main" id="{F009609F-4E68-4BC2-8F6D-C524246840CA}"/>
              </a:ext>
            </a:extLst>
          </p:cNvPr>
          <p:cNvSpPr>
            <a:spLocks noGrp="1"/>
          </p:cNvSpPr>
          <p:nvPr/>
        </p:nvSpPr>
        <p:spPr>
          <a:xfrm>
            <a:off x="6572250" y="5000625"/>
            <a:ext cx="4619625" cy="762000"/>
          </a:xfrm>
          <a:prstGeom prst="roundRect">
            <a:avLst>
              <a:gd name="adj" fmla="val 6250"/>
            </a:avLst>
          </a:prstGeom>
          <a:solidFill>
            <a:srgbClr val="FCEBE6"/>
          </a:solidFill>
          <a:ln w="0">
            <a:noFill/>
            <a:prstDash val="solid"/>
          </a:ln>
        </p:spPr>
      </p:sp>
      <p:sp>
        <p:nvSpPr>
          <p:cNvPr id="16" name="mobile-online-text">
            <a:extLst>
              <a:ext uri="{FF2B5EF4-FFF2-40B4-BE49-F238E27FC236}">
                <a16:creationId xmlns:a16="http://schemas.microsoft.com/office/drawing/2014/main" id="{EEB52239-8BF7-4664-8412-D73C90CECB6A}"/>
              </a:ext>
            </a:extLst>
          </p:cNvPr>
          <p:cNvSpPr>
            <a:spLocks noGrp="1"/>
          </p:cNvSpPr>
          <p:nvPr/>
        </p:nvSpPr>
        <p:spPr>
          <a:xfrm>
            <a:off x="6762750" y="5172075"/>
            <a:ext cx="42386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Camera permissions and predictions depend on a secure, reachable website.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CCEC63-3F20-D6AE-6CB8-D03D2B5126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4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accent-11">
            <a:extLst>
              <a:ext uri="{FF2B5EF4-FFF2-40B4-BE49-F238E27FC236}">
                <a16:creationId xmlns:a16="http://schemas.microsoft.com/office/drawing/2014/main" id="{F05229AA-82DE-4BE8-ADF6-481B84681A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11">
            <a:extLst>
              <a:ext uri="{FF2B5EF4-FFF2-40B4-BE49-F238E27FC236}">
                <a16:creationId xmlns:a16="http://schemas.microsoft.com/office/drawing/2014/main" id="{0B7590DD-9941-42D7-AC59-3A0597C233A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Team Roles</a:t>
            </a:r>
          </a:p>
        </p:txBody>
      </p:sp>
      <p:sp>
        <p:nvSpPr>
          <p:cNvPr id="3" name="slide-subtitle-11">
            <a:extLst>
              <a:ext uri="{FF2B5EF4-FFF2-40B4-BE49-F238E27FC236}">
                <a16:creationId xmlns:a16="http://schemas.microsoft.com/office/drawing/2014/main" id="{5989FFAA-2104-4F43-9E84-794499ED2D11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Suggested role allocation mapped to the project's machine learning, application, and presentation work.</a:t>
            </a:r>
          </a:p>
        </p:txBody>
      </p:sp>
      <p:sp>
        <p:nvSpPr>
          <p:cNvPr id="4" name="footer-rule-11">
            <a:extLst>
              <a:ext uri="{FF2B5EF4-FFF2-40B4-BE49-F238E27FC236}">
                <a16:creationId xmlns:a16="http://schemas.microsoft.com/office/drawing/2014/main" id="{F5C8D381-3614-4EAE-A183-C3F03268B7C8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11">
            <a:extLst>
              <a:ext uri="{FF2B5EF4-FFF2-40B4-BE49-F238E27FC236}">
                <a16:creationId xmlns:a16="http://schemas.microsoft.com/office/drawing/2014/main" id="{699041EB-CE2B-49E8-A629-25B43F6C5F9B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11">
            <a:extLst>
              <a:ext uri="{FF2B5EF4-FFF2-40B4-BE49-F238E27FC236}">
                <a16:creationId xmlns:a16="http://schemas.microsoft.com/office/drawing/2014/main" id="{549E6321-F094-404D-A0ED-E0749C3EACCF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am-name-0">
            <a:extLst>
              <a:ext uri="{FF2B5EF4-FFF2-40B4-BE49-F238E27FC236}">
                <a16:creationId xmlns:a16="http://schemas.microsoft.com/office/drawing/2014/main" id="{DF9B9AFE-E634-4F23-BFAD-64F25B6B021A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Arshpreet Singh</a:t>
            </a:r>
          </a:p>
        </p:txBody>
      </p:sp>
      <p:sp>
        <p:nvSpPr>
          <p:cNvPr id="8" name="team-role-underline-0">
            <a:extLst>
              <a:ext uri="{FF2B5EF4-FFF2-40B4-BE49-F238E27FC236}">
                <a16:creationId xmlns:a16="http://schemas.microsoft.com/office/drawing/2014/main" id="{DD27F477-B5A0-4C75-827E-B2D050F5997D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647700" cy="5715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9" name="team-role-0">
            <a:extLst>
              <a:ext uri="{FF2B5EF4-FFF2-40B4-BE49-F238E27FC236}">
                <a16:creationId xmlns:a16="http://schemas.microsoft.com/office/drawing/2014/main" id="{17E330DC-6557-4770-922E-8DB897B00537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45C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C43"/>
                </a:solidFill>
                <a:latin typeface="Arial"/>
                <a:ea typeface="Arial"/>
                <a:cs typeface="Arial"/>
              </a:rPr>
              <a:t>Dataset and ML</a:t>
            </a:r>
          </a:p>
        </p:txBody>
      </p:sp>
      <p:sp>
        <p:nvSpPr>
          <p:cNvPr id="10" name="team-tasks-0">
            <a:extLst>
              <a:ext uri="{FF2B5EF4-FFF2-40B4-BE49-F238E27FC236}">
                <a16:creationId xmlns:a16="http://schemas.microsoft.com/office/drawing/2014/main" id="{1069AFFA-EFDD-4036-B481-005EE563251E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190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Dataset review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MobileNetV2 training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Class weighting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Model evaluation</a:t>
            </a:r>
          </a:p>
        </p:txBody>
      </p:sp>
      <p:sp>
        <p:nvSpPr>
          <p:cNvPr id="11" name="team-divider-0">
            <a:extLst>
              <a:ext uri="{FF2B5EF4-FFF2-40B4-BE49-F238E27FC236}">
                <a16:creationId xmlns:a16="http://schemas.microsoft.com/office/drawing/2014/main" id="{EA4052A0-68FB-4C08-8B89-9B59BD490461}"/>
              </a:ext>
            </a:extLst>
          </p:cNvPr>
          <p:cNvSpPr>
            <a:spLocks noGrp="1"/>
          </p:cNvSpPr>
          <p:nvPr/>
        </p:nvSpPr>
        <p:spPr>
          <a:xfrm>
            <a:off x="4162425" y="1924050"/>
            <a:ext cx="0" cy="3267075"/>
          </a:xfrm>
          <a:prstGeom prst="line">
            <a:avLst/>
          </a:prstGeom>
          <a:noFill/>
          <a:ln w="19050">
            <a:solidFill>
              <a:srgbClr val="D7E2D9"/>
            </a:solidFill>
            <a:prstDash val="solid"/>
          </a:ln>
        </p:spPr>
      </p:sp>
      <p:sp>
        <p:nvSpPr>
          <p:cNvPr id="12" name="team-name-1">
            <a:extLst>
              <a:ext uri="{FF2B5EF4-FFF2-40B4-BE49-F238E27FC236}">
                <a16:creationId xmlns:a16="http://schemas.microsoft.com/office/drawing/2014/main" id="{5F09A418-F4A5-4849-9BC7-9ADBFBEB2FCA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Sarbjit Singh</a:t>
            </a:r>
          </a:p>
        </p:txBody>
      </p:sp>
      <p:sp>
        <p:nvSpPr>
          <p:cNvPr id="13" name="team-role-underline-1">
            <a:extLst>
              <a:ext uri="{FF2B5EF4-FFF2-40B4-BE49-F238E27FC236}">
                <a16:creationId xmlns:a16="http://schemas.microsoft.com/office/drawing/2014/main" id="{246CE9D9-D157-4BD3-A320-DCD78A184E9E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647700" cy="57150"/>
          </a:xfrm>
          <a:prstGeom prst="rect">
            <a:avLst/>
          </a:prstGeom>
          <a:solidFill>
            <a:srgbClr val="1886A2"/>
          </a:solidFill>
          <a:ln w="0">
            <a:noFill/>
            <a:prstDash val="solid"/>
          </a:ln>
        </p:spPr>
      </p:sp>
      <p:sp>
        <p:nvSpPr>
          <p:cNvPr id="14" name="team-role-1">
            <a:extLst>
              <a:ext uri="{FF2B5EF4-FFF2-40B4-BE49-F238E27FC236}">
                <a16:creationId xmlns:a16="http://schemas.microsoft.com/office/drawing/2014/main" id="{57270D07-1551-4275-A7E5-AFF8202BC4B6}"/>
              </a:ext>
            </a:extLst>
          </p:cNvPr>
          <p:cNvSpPr>
            <a:spLocks noGrp="1"/>
          </p:cNvSpPr>
          <p:nvPr/>
        </p:nvSpPr>
        <p:spPr>
          <a:xfrm>
            <a:off x="4476750" y="28575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Backend and integration</a:t>
            </a:r>
          </a:p>
        </p:txBody>
      </p:sp>
      <p:sp>
        <p:nvSpPr>
          <p:cNvPr id="15" name="team-tasks-1">
            <a:extLst>
              <a:ext uri="{FF2B5EF4-FFF2-40B4-BE49-F238E27FC236}">
                <a16:creationId xmlns:a16="http://schemas.microsoft.com/office/drawing/2014/main" id="{ABCAD717-1B53-4BC1-9FCF-C6CBE47247A2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3190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Flask routes and APIs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Model loading and inference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Upload and camera integration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Deployment configuration</a:t>
            </a:r>
          </a:p>
        </p:txBody>
      </p:sp>
      <p:sp>
        <p:nvSpPr>
          <p:cNvPr id="16" name="team-divider-1">
            <a:extLst>
              <a:ext uri="{FF2B5EF4-FFF2-40B4-BE49-F238E27FC236}">
                <a16:creationId xmlns:a16="http://schemas.microsoft.com/office/drawing/2014/main" id="{9F902D55-6233-429B-A84A-8DABC9C990BC}"/>
              </a:ext>
            </a:extLst>
          </p:cNvPr>
          <p:cNvSpPr>
            <a:spLocks noGrp="1"/>
          </p:cNvSpPr>
          <p:nvPr/>
        </p:nvSpPr>
        <p:spPr>
          <a:xfrm>
            <a:off x="7953375" y="1924050"/>
            <a:ext cx="0" cy="3267075"/>
          </a:xfrm>
          <a:prstGeom prst="line">
            <a:avLst/>
          </a:prstGeom>
          <a:noFill/>
          <a:ln w="19050">
            <a:solidFill>
              <a:srgbClr val="D7E2D9"/>
            </a:solidFill>
            <a:prstDash val="solid"/>
          </a:ln>
        </p:spPr>
      </p:sp>
      <p:sp>
        <p:nvSpPr>
          <p:cNvPr id="17" name="team-name-2">
            <a:extLst>
              <a:ext uri="{FF2B5EF4-FFF2-40B4-BE49-F238E27FC236}">
                <a16:creationId xmlns:a16="http://schemas.microsoft.com/office/drawing/2014/main" id="{375D3BD7-8A4D-4D5B-AD0C-CD87519F0AAD}"/>
              </a:ext>
            </a:extLst>
          </p:cNvPr>
          <p:cNvSpPr>
            <a:spLocks noGrp="1"/>
          </p:cNvSpPr>
          <p:nvPr/>
        </p:nvSpPr>
        <p:spPr>
          <a:xfrm>
            <a:off x="8267700" y="1952625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Pooja</a:t>
            </a:r>
          </a:p>
        </p:txBody>
      </p:sp>
      <p:sp>
        <p:nvSpPr>
          <p:cNvPr id="18" name="team-role-underline-2">
            <a:extLst>
              <a:ext uri="{FF2B5EF4-FFF2-40B4-BE49-F238E27FC236}">
                <a16:creationId xmlns:a16="http://schemas.microsoft.com/office/drawing/2014/main" id="{401F32BE-6486-4955-8A8B-5A6F5ED3C4E2}"/>
              </a:ext>
            </a:extLst>
          </p:cNvPr>
          <p:cNvSpPr>
            <a:spLocks noGrp="1"/>
          </p:cNvSpPr>
          <p:nvPr/>
        </p:nvSpPr>
        <p:spPr>
          <a:xfrm>
            <a:off x="8267700" y="2571750"/>
            <a:ext cx="647700" cy="57150"/>
          </a:xfrm>
          <a:prstGeom prst="rect">
            <a:avLst/>
          </a:prstGeom>
          <a:solidFill>
            <a:srgbClr val="E76F57"/>
          </a:solidFill>
          <a:ln w="0">
            <a:noFill/>
            <a:prstDash val="solid"/>
          </a:ln>
        </p:spPr>
      </p:sp>
      <p:sp>
        <p:nvSpPr>
          <p:cNvPr id="19" name="team-role-2">
            <a:extLst>
              <a:ext uri="{FF2B5EF4-FFF2-40B4-BE49-F238E27FC236}">
                <a16:creationId xmlns:a16="http://schemas.microsoft.com/office/drawing/2014/main" id="{93D05B01-5E84-4CF8-ACE7-404C0459D1CA}"/>
              </a:ext>
            </a:extLst>
          </p:cNvPr>
          <p:cNvSpPr>
            <a:spLocks noGrp="1"/>
          </p:cNvSpPr>
          <p:nvPr/>
        </p:nvSpPr>
        <p:spPr>
          <a:xfrm>
            <a:off x="8267700" y="2857500"/>
            <a:ext cx="319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UI, testing, and documentation</a:t>
            </a:r>
          </a:p>
        </p:txBody>
      </p:sp>
      <p:sp>
        <p:nvSpPr>
          <p:cNvPr id="20" name="team-tasks-2">
            <a:extLst>
              <a:ext uri="{FF2B5EF4-FFF2-40B4-BE49-F238E27FC236}">
                <a16:creationId xmlns:a16="http://schemas.microsoft.com/office/drawing/2014/main" id="{607831C1-400B-42D1-989A-D0C3FBB75CDC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3190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Responsive interface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Capture and review flow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Mobile PWA experience</a:t>
            </a:r>
          </a:p>
          <a:p>
            <a:pPr algn="l">
              <a:defRPr sz="1575" b="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1D"/>
                </a:solidFill>
                <a:latin typeface="Arial"/>
                <a:ea typeface="Arial"/>
                <a:cs typeface="Arial"/>
              </a:rPr>
              <a:t>Testing and project report</a:t>
            </a:r>
          </a:p>
        </p:txBody>
      </p:sp>
      <p:sp>
        <p:nvSpPr>
          <p:cNvPr id="21" name="team-shared-band">
            <a:extLst>
              <a:ext uri="{FF2B5EF4-FFF2-40B4-BE49-F238E27FC236}">
                <a16:creationId xmlns:a16="http://schemas.microsoft.com/office/drawing/2014/main" id="{AEEA6959-6CD9-4B1E-810D-604B24D4AEE0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466725"/>
          </a:xfrm>
          <a:prstGeom prst="roundRect">
            <a:avLst>
              <a:gd name="adj" fmla="val 10204"/>
            </a:avLst>
          </a:prstGeom>
          <a:solidFill>
            <a:srgbClr val="E0F2E7"/>
          </a:solidFill>
          <a:ln w="0">
            <a:noFill/>
            <a:prstDash val="solid"/>
          </a:ln>
        </p:spPr>
      </p:sp>
      <p:sp>
        <p:nvSpPr>
          <p:cNvPr id="22" name="team-shared">
            <a:extLst>
              <a:ext uri="{FF2B5EF4-FFF2-40B4-BE49-F238E27FC236}">
                <a16:creationId xmlns:a16="http://schemas.microsoft.com/office/drawing/2014/main" id="{DFB69EB5-ED53-41A1-816A-2FB5D98C5C8F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Shared work: planning, integration review, project demonstration, and submission preparation.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7368598-E522-E466-9328-94A3C2D8D38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94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op-accent-12">
            <a:extLst>
              <a:ext uri="{FF2B5EF4-FFF2-40B4-BE49-F238E27FC236}">
                <a16:creationId xmlns:a16="http://schemas.microsoft.com/office/drawing/2014/main" id="{F56C9159-BF6A-4D9C-969C-4C179CCCFB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45C43"/>
          </a:solidFill>
          <a:ln w="0">
            <a:noFill/>
            <a:prstDash val="solid"/>
          </a:ln>
        </p:spPr>
      </p:sp>
      <p:sp>
        <p:nvSpPr>
          <p:cNvPr id="2" name="slide-title-12">
            <a:extLst>
              <a:ext uri="{FF2B5EF4-FFF2-40B4-BE49-F238E27FC236}">
                <a16:creationId xmlns:a16="http://schemas.microsoft.com/office/drawing/2014/main" id="{FA26401B-A937-494D-BA3D-9E317E43338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858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150" b="1">
                <a:solidFill>
                  <a:srgbClr val="0D3B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D3B2B"/>
                </a:solidFill>
                <a:latin typeface="Arial"/>
                <a:ea typeface="Arial"/>
                <a:cs typeface="Arial"/>
              </a:rPr>
              <a:t>Outcomes and Next Steps</a:t>
            </a:r>
          </a:p>
        </p:txBody>
      </p:sp>
      <p:sp>
        <p:nvSpPr>
          <p:cNvPr id="3" name="slide-subtitle-12">
            <a:extLst>
              <a:ext uri="{FF2B5EF4-FFF2-40B4-BE49-F238E27FC236}">
                <a16:creationId xmlns:a16="http://schemas.microsoft.com/office/drawing/2014/main" id="{F9F6FEE3-5A37-4212-AF4E-686D8A3041F5}"/>
              </a:ext>
            </a:extLst>
          </p:cNvPr>
          <p:cNvSpPr>
            <a:spLocks noGrp="1"/>
          </p:cNvSpPr>
          <p:nvPr/>
        </p:nvSpPr>
        <p:spPr>
          <a:xfrm>
            <a:off x="628650" y="9810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F65"/>
                </a:solidFill>
                <a:latin typeface="Arial"/>
                <a:ea typeface="Arial"/>
                <a:cs typeface="Arial"/>
              </a:rPr>
              <a:t>A working end-to-end prototype, with validation results and clear areas for further testing.</a:t>
            </a:r>
          </a:p>
        </p:txBody>
      </p:sp>
      <p:sp>
        <p:nvSpPr>
          <p:cNvPr id="4" name="footer-rule-12">
            <a:extLst>
              <a:ext uri="{FF2B5EF4-FFF2-40B4-BE49-F238E27FC236}">
                <a16:creationId xmlns:a16="http://schemas.microsoft.com/office/drawing/2014/main" id="{437F4E57-EC56-4AD5-8E58-69DE44F1E6B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D7E2D9"/>
            </a:solidFill>
            <a:prstDash val="solid"/>
          </a:ln>
        </p:spPr>
      </p:sp>
      <p:sp>
        <p:nvSpPr>
          <p:cNvPr id="5" name="footer-brand-12">
            <a:extLst>
              <a:ext uri="{FF2B5EF4-FFF2-40B4-BE49-F238E27FC236}">
                <a16:creationId xmlns:a16="http://schemas.microsoft.com/office/drawing/2014/main" id="{CEFCEFE5-D766-4D46-8C28-E967C5A094AC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E6F65"/>
                </a:solidFill>
                <a:latin typeface="Arial"/>
                <a:ea typeface="Arial"/>
                <a:cs typeface="Arial"/>
              </a:rPr>
              <a:t>ECOSORT AI  </a:t>
            </a:r>
          </a:p>
        </p:txBody>
      </p:sp>
      <p:sp>
        <p:nvSpPr>
          <p:cNvPr id="6" name="footer-number-12">
            <a:extLst>
              <a:ext uri="{FF2B5EF4-FFF2-40B4-BE49-F238E27FC236}">
                <a16:creationId xmlns:a16="http://schemas.microsoft.com/office/drawing/2014/main" id="{7290EAF2-1389-4059-AFAB-527BB991C7C0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5E6F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F6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limits-head">
            <a:extLst>
              <a:ext uri="{FF2B5EF4-FFF2-40B4-BE49-F238E27FC236}">
                <a16:creationId xmlns:a16="http://schemas.microsoft.com/office/drawing/2014/main" id="{DC9CC52F-7DA7-4670-BE98-416A1E7CBDC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E76F5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76F57"/>
                </a:solidFill>
                <a:latin typeface="Arial"/>
                <a:ea typeface="Arial"/>
                <a:cs typeface="Arial"/>
              </a:rPr>
              <a:t>Project outcomes and limitations</a:t>
            </a:r>
          </a:p>
        </p:txBody>
      </p:sp>
      <p:sp>
        <p:nvSpPr>
          <p:cNvPr id="8" name="limits-list">
            <a:extLst>
              <a:ext uri="{FF2B5EF4-FFF2-40B4-BE49-F238E27FC236}">
                <a16:creationId xmlns:a16="http://schemas.microsoft.com/office/drawing/2014/main" id="{56435E06-5787-4003-96FC-8C2712562BB8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953000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7251D"/>
                </a:solidFill>
                <a:latin typeface="Arial"/>
                <a:ea typeface="Arial"/>
                <a:cs typeface="Arial"/>
              </a:rPr>
              <a:t>One image receives one dominant class, even when several objects appear.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7251D"/>
                </a:solidFill>
                <a:latin typeface="Arial"/>
                <a:ea typeface="Arial"/>
                <a:cs typeface="Arial"/>
              </a:rPr>
              <a:t>The 12 labels do not cover every waste material or local disposal rule.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dirty="0">
                <a:solidFill>
                  <a:srgbClr val="17251D"/>
                </a:solidFill>
                <a:latin typeface="Arial"/>
                <a:ea typeface="Arial"/>
                <a:cs typeface="Arial"/>
              </a:rPr>
              <a:t>The saved metadata does not include per-class precision, recall, or a confusion matrix.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17251D"/>
                </a:solidFill>
                <a:latin typeface="Arial"/>
                <a:ea typeface="Arial"/>
                <a:cs typeface="Arial"/>
              </a:rPr>
              <a:t>Softmax</a:t>
            </a:r>
            <a:r>
              <a:rPr sz="1500" dirty="0">
                <a:solidFill>
                  <a:srgbClr val="17251D"/>
                </a:solidFill>
                <a:latin typeface="Arial"/>
                <a:ea typeface="Arial"/>
                <a:cs typeface="Arial"/>
              </a:rPr>
              <a:t> scores are not a calibrated guarantee of correctness.</a:t>
            </a:r>
          </a:p>
        </p:txBody>
      </p:sp>
      <p:sp>
        <p:nvSpPr>
          <p:cNvPr id="9" name="limits-divider">
            <a:extLst>
              <a:ext uri="{FF2B5EF4-FFF2-40B4-BE49-F238E27FC236}">
                <a16:creationId xmlns:a16="http://schemas.microsoft.com/office/drawing/2014/main" id="{1F4264AF-297C-4D46-B491-A241469E64ED}"/>
              </a:ext>
            </a:extLst>
          </p:cNvPr>
          <p:cNvSpPr>
            <a:spLocks noGrp="1"/>
          </p:cNvSpPr>
          <p:nvPr/>
        </p:nvSpPr>
        <p:spPr>
          <a:xfrm>
            <a:off x="6048375" y="1714500"/>
            <a:ext cx="0" cy="3810000"/>
          </a:xfrm>
          <a:prstGeom prst="line">
            <a:avLst/>
          </a:prstGeom>
          <a:noFill/>
          <a:ln w="19050">
            <a:solidFill>
              <a:srgbClr val="D7E2D9"/>
            </a:solidFill>
            <a:prstDash val="solid"/>
          </a:ln>
        </p:spPr>
      </p:sp>
      <p:sp>
        <p:nvSpPr>
          <p:cNvPr id="10" name="next-head">
            <a:extLst>
              <a:ext uri="{FF2B5EF4-FFF2-40B4-BE49-F238E27FC236}">
                <a16:creationId xmlns:a16="http://schemas.microsoft.com/office/drawing/2014/main" id="{2565B94D-076D-44DC-88BD-CB7FF3CB1ECD}"/>
              </a:ext>
            </a:extLst>
          </p:cNvPr>
          <p:cNvSpPr>
            <a:spLocks noGrp="1"/>
          </p:cNvSpPr>
          <p:nvPr/>
        </p:nvSpPr>
        <p:spPr>
          <a:xfrm>
            <a:off x="6572250" y="1666875"/>
            <a:ext cx="485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886A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86A2"/>
                </a:solidFill>
                <a:latin typeface="Arial"/>
                <a:ea typeface="Arial"/>
                <a:cs typeface="Arial"/>
              </a:rPr>
              <a:t>Recommended improvements</a:t>
            </a:r>
          </a:p>
        </p:txBody>
      </p:sp>
      <p:sp>
        <p:nvSpPr>
          <p:cNvPr id="11" name="next-list">
            <a:extLst>
              <a:ext uri="{FF2B5EF4-FFF2-40B4-BE49-F238E27FC236}">
                <a16:creationId xmlns:a16="http://schemas.microsoft.com/office/drawing/2014/main" id="{07674E9D-DE6D-40AF-9C17-26E213F1EBCE}"/>
              </a:ext>
            </a:extLst>
          </p:cNvPr>
          <p:cNvSpPr>
            <a:spLocks noGrp="1"/>
          </p:cNvSpPr>
          <p:nvPr/>
        </p:nvSpPr>
        <p:spPr>
          <a:xfrm>
            <a:off x="6572250" y="2190750"/>
            <a:ext cx="4953000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lvl9pPr>
          </a:lstStyle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Add a held-out test set with per-class metrics and error analysis.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Collect more balanced images across phones, lighting, and backgrounds.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Calibrate the 40% low-confidence threshold on a held-out set.</a:t>
            </a:r>
          </a:p>
          <a:p>
            <a:pPr marL="228600" indent="-114300">
              <a:spcAft>
                <a:spcPts val="600"/>
              </a:spcAft>
              <a:buChar char="•"/>
              <a:defRPr sz="1500">
                <a:solidFill>
                  <a:srgbClr val="17251D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1D"/>
                </a:solidFill>
                <a:latin typeface="Arial"/>
                <a:ea typeface="Arial"/>
                <a:cs typeface="Arial"/>
              </a:rPr>
              <a:t>Explore detection for multiple items and verified local disposal guidance.</a:t>
            </a:r>
          </a:p>
        </p:txBody>
      </p:sp>
      <p:sp>
        <p:nvSpPr>
          <p:cNvPr id="12" name="limits-conclusion">
            <a:extLst>
              <a:ext uri="{FF2B5EF4-FFF2-40B4-BE49-F238E27FC236}">
                <a16:creationId xmlns:a16="http://schemas.microsoft.com/office/drawing/2014/main" id="{143ADB24-56AE-4D40-B807-55C285B5E9DB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504825"/>
          </a:xfrm>
          <a:prstGeom prst="roundRect">
            <a:avLst>
              <a:gd name="adj" fmla="val 9434"/>
            </a:avLst>
          </a:prstGeom>
          <a:solidFill>
            <a:srgbClr val="0D3B2B"/>
          </a:solidFill>
          <a:ln w="0">
            <a:noFill/>
            <a:prstDash val="solid"/>
          </a:ln>
        </p:spPr>
      </p:sp>
      <p:sp>
        <p:nvSpPr>
          <p:cNvPr id="13" name="limits-conclusion-text">
            <a:extLst>
              <a:ext uri="{FF2B5EF4-FFF2-40B4-BE49-F238E27FC236}">
                <a16:creationId xmlns:a16="http://schemas.microsoft.com/office/drawing/2014/main" id="{FC051B1F-002E-4694-B9F6-0F074548FC5B}"/>
              </a:ext>
            </a:extLst>
          </p:cNvPr>
          <p:cNvSpPr>
            <a:spLocks noGrp="1"/>
          </p:cNvSpPr>
          <p:nvPr/>
        </p:nvSpPr>
        <p:spPr>
          <a:xfrm>
            <a:off x="895350" y="552450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project demonstrates an end-to-end path from labeled images to a usable waste-classification app.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D9AF5B-392B-9D06-D5F5-84CB8ADD7E4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96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losing-accent">
            <a:extLst>
              <a:ext uri="{FF2B5EF4-FFF2-40B4-BE49-F238E27FC236}">
                <a16:creationId xmlns:a16="http://schemas.microsoft.com/office/drawing/2014/main" id="{98666D44-6413-43D1-94C2-975B8409DE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B6DC37"/>
          </a:solidFill>
          <a:ln w="0">
            <a:noFill/>
            <a:prstDash val="solid"/>
          </a:ln>
        </p:spPr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527B63F0-69BA-4E74-99FB-4C11DE652961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closing-subtitle">
            <a:extLst>
              <a:ext uri="{FF2B5EF4-FFF2-40B4-BE49-F238E27FC236}">
                <a16:creationId xmlns:a16="http://schemas.microsoft.com/office/drawing/2014/main" id="{FFFC8C1C-038C-449F-A85B-C5B322946D19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990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defPPr>
            <a:lvl1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1pPr>
            <a:lvl2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2pPr>
            <a:lvl3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3pPr>
            <a:lvl4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4pPr>
            <a:lvl5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5pPr>
            <a:lvl6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6pPr>
            <a:lvl7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7pPr>
            <a:lvl8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8pPr>
            <a:lvl9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025" b="0">
                <a:solidFill>
                  <a:srgbClr val="BCE5C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CE5C9"/>
                </a:solidFill>
                <a:latin typeface="Arial"/>
                <a:ea typeface="Arial"/>
                <a:cs typeface="Arial"/>
              </a:rPr>
              <a:t>EcoSort AI  |  AI-Powered Waste Classification</a:t>
            </a:r>
          </a:p>
        </p:txBody>
      </p:sp>
      <p:sp>
        <p:nvSpPr>
          <p:cNvPr id="4" name="closing-rule">
            <a:extLst>
              <a:ext uri="{FF2B5EF4-FFF2-40B4-BE49-F238E27FC236}">
                <a16:creationId xmlns:a16="http://schemas.microsoft.com/office/drawing/2014/main" id="{2F5C0900-5F0E-42BA-95FD-87F98EF8C9C1}"/>
              </a:ext>
            </a:extLst>
          </p:cNvPr>
          <p:cNvSpPr>
            <a:spLocks noGrp="1"/>
          </p:cNvSpPr>
          <p:nvPr/>
        </p:nvSpPr>
        <p:spPr>
          <a:xfrm>
            <a:off x="3381375" y="3714750"/>
            <a:ext cx="5429250" cy="0"/>
          </a:xfrm>
          <a:prstGeom prst="line">
            <a:avLst/>
          </a:prstGeom>
          <a:noFill/>
          <a:ln w="19050">
            <a:solidFill>
              <a:srgbClr val="35634D"/>
            </a:solidFill>
            <a:prstDash val="solid"/>
          </a:ln>
        </p:spPr>
      </p:sp>
      <p:sp>
        <p:nvSpPr>
          <p:cNvPr id="5" name="closing-team">
            <a:extLst>
              <a:ext uri="{FF2B5EF4-FFF2-40B4-BE49-F238E27FC236}">
                <a16:creationId xmlns:a16="http://schemas.microsoft.com/office/drawing/2014/main" id="{09C64736-6C6F-4093-9768-F5587D92D481}"/>
              </a:ext>
            </a:extLst>
          </p:cNvPr>
          <p:cNvSpPr>
            <a:spLocks noGrp="1"/>
          </p:cNvSpPr>
          <p:nvPr/>
        </p:nvSpPr>
        <p:spPr>
          <a:xfrm>
            <a:off x="1238250" y="4048125"/>
            <a:ext cx="971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Arshpreet Singh     Sar</a:t>
            </a:r>
            <a:r>
              <a:rPr lang="en-IN" dirty="0"/>
              <a:t>a</a:t>
            </a:r>
            <a:r>
              <a:rPr sz="18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bjit</a:t>
            </a:r>
            <a:r>
              <a:rPr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Singh     Pooja</a:t>
            </a:r>
          </a:p>
        </p:txBody>
      </p:sp>
      <p:sp>
        <p:nvSpPr>
          <p:cNvPr id="6" name="closing-question">
            <a:extLst>
              <a:ext uri="{FF2B5EF4-FFF2-40B4-BE49-F238E27FC236}">
                <a16:creationId xmlns:a16="http://schemas.microsoft.com/office/drawing/2014/main" id="{98FD983A-C522-4A93-A485-E1771796CD4F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990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325" b="1">
                <a:solidFill>
                  <a:srgbClr val="B6DC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DC37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7" name="footer-rule-13">
            <a:extLst>
              <a:ext uri="{FF2B5EF4-FFF2-40B4-BE49-F238E27FC236}">
                <a16:creationId xmlns:a16="http://schemas.microsoft.com/office/drawing/2014/main" id="{4F1B623C-D5D2-4174-A0F3-4BEDC7A05F9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9525">
            <a:solidFill>
              <a:srgbClr val="35634D"/>
            </a:solidFill>
            <a:prstDash val="solid"/>
          </a:ln>
        </p:spPr>
      </p:sp>
      <p:sp>
        <p:nvSpPr>
          <p:cNvPr id="8" name="footer-brand-13">
            <a:extLst>
              <a:ext uri="{FF2B5EF4-FFF2-40B4-BE49-F238E27FC236}">
                <a16:creationId xmlns:a16="http://schemas.microsoft.com/office/drawing/2014/main" id="{5FE1E68C-21A4-42C0-BF62-0AE024E390BF}"/>
              </a:ext>
            </a:extLst>
          </p:cNvPr>
          <p:cNvSpPr>
            <a:spLocks noGrp="1"/>
          </p:cNvSpPr>
          <p:nvPr/>
        </p:nvSpPr>
        <p:spPr>
          <a:xfrm>
            <a:off x="609600" y="6524625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C9DED0"/>
                </a:solidFill>
                <a:latin typeface="Arial"/>
                <a:ea typeface="Arial"/>
                <a:cs typeface="Arial"/>
              </a:rPr>
              <a:t>ECOSORT AI </a:t>
            </a:r>
          </a:p>
        </p:txBody>
      </p:sp>
      <p:sp>
        <p:nvSpPr>
          <p:cNvPr id="9" name="footer-number-13">
            <a:extLst>
              <a:ext uri="{FF2B5EF4-FFF2-40B4-BE49-F238E27FC236}">
                <a16:creationId xmlns:a16="http://schemas.microsoft.com/office/drawing/2014/main" id="{87328DE7-7140-4706-B65D-FF8F7B228104}"/>
              </a:ext>
            </a:extLst>
          </p:cNvPr>
          <p:cNvSpPr>
            <a:spLocks noGrp="1"/>
          </p:cNvSpPr>
          <p:nvPr/>
        </p:nvSpPr>
        <p:spPr>
          <a:xfrm>
            <a:off x="11191875" y="65151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1">
                <a:solidFill>
                  <a:srgbClr val="C9DE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DED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EBBD73-9552-A4BB-7637-D2C7591E76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200" y="1778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297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1708</Words>
  <Application>Microsoft Office PowerPoint</Application>
  <DocSecurity>0</DocSecurity>
  <PresentationFormat>Widescreen</PresentationFormat>
  <Paragraphs>238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Arshpreet Sin</cp:lastModifiedBy>
  <cp:revision>2</cp:revision>
  <dcterms:created xsi:type="dcterms:W3CDTF">2026-10-18T04:27:31Z</dcterms:created>
  <dcterms:modified xsi:type="dcterms:W3CDTF">2026-10-18T17:12:39Z</dcterms:modified>
</cp:coreProperties>
</file>