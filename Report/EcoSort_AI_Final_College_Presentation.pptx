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6d8a07421d4aa7" /><Relationship Type="http://schemas.openxmlformats.org/officeDocument/2006/relationships/extended-properties" Target="/docProps/app.xml" Id="R66c5c5f5e6964f14" /><Relationship Type="http://schemas.openxmlformats.org/officeDocument/2006/relationships/officeDocument" Target="/ppt/presentation.xml" Id="R2f21cc61eea740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392046ab414517"/>
  </p:sldMasterIdLst>
  <p:notesMasterIdLst>
    <p:notesMasterId xmlns:r="http://schemas.openxmlformats.org/officeDocument/2006/relationships" r:id="Rf5b816d21f4140f8"/>
  </p:notesMasterIdLst>
  <p:sldIdLst>
    <p:sldId xmlns:r="http://schemas.openxmlformats.org/officeDocument/2006/relationships" id="256" r:id="Rdb9b9dd979244944"/>
    <p:sldId xmlns:r="http://schemas.openxmlformats.org/officeDocument/2006/relationships" id="257" r:id="Ra7c0bc93bc48481a"/>
    <p:sldId xmlns:r="http://schemas.openxmlformats.org/officeDocument/2006/relationships" id="258" r:id="R2dab61fa7e0043bd"/>
    <p:sldId xmlns:r="http://schemas.openxmlformats.org/officeDocument/2006/relationships" id="259" r:id="R66dca3f03b96499c"/>
    <p:sldId xmlns:r="http://schemas.openxmlformats.org/officeDocument/2006/relationships" id="260" r:id="Rf9c13f6b96fd45bb"/>
    <p:sldId xmlns:r="http://schemas.openxmlformats.org/officeDocument/2006/relationships" id="261" r:id="R7c42f99b07994151"/>
    <p:sldId xmlns:r="http://schemas.openxmlformats.org/officeDocument/2006/relationships" id="262" r:id="R9e6950f7b26b45b7"/>
    <p:sldId xmlns:r="http://schemas.openxmlformats.org/officeDocument/2006/relationships" id="263" r:id="Raeec275f44894584"/>
    <p:sldId xmlns:r="http://schemas.openxmlformats.org/officeDocument/2006/relationships" id="264" r:id="R08bd646e23a44880"/>
    <p:sldId xmlns:r="http://schemas.openxmlformats.org/officeDocument/2006/relationships" id="265" r:id="R88d9666829fe482a"/>
    <p:sldId xmlns:r="http://schemas.openxmlformats.org/officeDocument/2006/relationships" id="266" r:id="Rb0e175f0626d4a88"/>
    <p:sldId xmlns:r="http://schemas.openxmlformats.org/officeDocument/2006/relationships" id="267" r:id="Rbef448b45a6a4cfc"/>
    <p:sldId xmlns:r="http://schemas.openxmlformats.org/officeDocument/2006/relationships" id="268" r:id="Rd6e7152e43af45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e7429ffa194d8d" /><Relationship Type="http://schemas.openxmlformats.org/officeDocument/2006/relationships/slideMaster" Target="/ppt/slideMasters/slideMaster1.xml" Id="Rf5392046ab414517" /><Relationship Type="http://schemas.openxmlformats.org/officeDocument/2006/relationships/notesMaster" Target="/ppt/notesMasters/notesMaster1.xml" Id="Rf5b816d21f4140f8" /><Relationship Type="http://schemas.openxmlformats.org/officeDocument/2006/relationships/presProps" Target="/ppt/presProps.xml" Id="R5332cbd2a5a74043" /><Relationship Type="http://schemas.openxmlformats.org/officeDocument/2006/relationships/tableStyles" Target="/ppt/tableStyles.xml" Id="Rccee49d1d210451a" /><Relationship Type="http://schemas.openxmlformats.org/officeDocument/2006/relationships/slide" Target="/ppt/slides/slide1.xml" Id="Rdb9b9dd979244944" /><Relationship Type="http://schemas.openxmlformats.org/officeDocument/2006/relationships/slide" Target="/ppt/slides/slide2.xml" Id="Ra7c0bc93bc48481a" /><Relationship Type="http://schemas.openxmlformats.org/officeDocument/2006/relationships/slide" Target="/ppt/slides/slide3.xml" Id="R2dab61fa7e0043bd" /><Relationship Type="http://schemas.openxmlformats.org/officeDocument/2006/relationships/slide" Target="/ppt/slides/slide4.xml" Id="R66dca3f03b96499c" /><Relationship Type="http://schemas.openxmlformats.org/officeDocument/2006/relationships/slide" Target="/ppt/slides/slide5.xml" Id="Rf9c13f6b96fd45bb" /><Relationship Type="http://schemas.openxmlformats.org/officeDocument/2006/relationships/slide" Target="/ppt/slides/slide6.xml" Id="R7c42f99b07994151" /><Relationship Type="http://schemas.openxmlformats.org/officeDocument/2006/relationships/slide" Target="/ppt/slides/slide7.xml" Id="R9e6950f7b26b45b7" /><Relationship Type="http://schemas.openxmlformats.org/officeDocument/2006/relationships/slide" Target="/ppt/slides/slide8.xml" Id="Raeec275f44894584" /><Relationship Type="http://schemas.openxmlformats.org/officeDocument/2006/relationships/slide" Target="/ppt/slides/slide9.xml" Id="R08bd646e23a44880" /><Relationship Type="http://schemas.openxmlformats.org/officeDocument/2006/relationships/slide" Target="/ppt/slides/slide10.xml" Id="R88d9666829fe482a" /><Relationship Type="http://schemas.openxmlformats.org/officeDocument/2006/relationships/slide" Target="/ppt/slides/slide11.xml" Id="Rb0e175f0626d4a88" /><Relationship Type="http://schemas.openxmlformats.org/officeDocument/2006/relationships/slide" Target="/ppt/slides/slide12.xml" Id="Rbef448b45a6a4cfc" /><Relationship Type="http://schemas.openxmlformats.org/officeDocument/2006/relationships/slide" Target="/ppt/slides/slide13.xml" Id="Rd6e7152e43af45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df457abf304e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69b4b83dfd431e" /><Relationship Type="http://schemas.openxmlformats.org/officeDocument/2006/relationships/notesMaster" Target="/ppt/notesMasters/notesMaster1.xml" Id="Re0a75544e45d4a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80eaeab399447e" /><Relationship Type="http://schemas.openxmlformats.org/officeDocument/2006/relationships/notesMaster" Target="/ppt/notesMasters/notesMaster1.xml" Id="Rb9085de0938043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e150287abc45d6" /><Relationship Type="http://schemas.openxmlformats.org/officeDocument/2006/relationships/notesMaster" Target="/ppt/notesMasters/notesMaster1.xml" Id="R45ee87adc53d4b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654effee0c42b0" /><Relationship Type="http://schemas.openxmlformats.org/officeDocument/2006/relationships/notesMaster" Target="/ppt/notesMasters/notesMaster1.xml" Id="R3185a4a34c5d4c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707e4c917048ed" /><Relationship Type="http://schemas.openxmlformats.org/officeDocument/2006/relationships/notesMaster" Target="/ppt/notesMasters/notesMaster1.xml" Id="R968a578601bf44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4eefbc7ba849f0" /><Relationship Type="http://schemas.openxmlformats.org/officeDocument/2006/relationships/notesMaster" Target="/ppt/notesMasters/notesMaster1.xml" Id="Rf3aef82d83ec4c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0d7967f2bd4394" /><Relationship Type="http://schemas.openxmlformats.org/officeDocument/2006/relationships/notesMaster" Target="/ppt/notesMasters/notesMaster1.xml" Id="Rce409cc0c0784e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e0fc5d305b4b62" /><Relationship Type="http://schemas.openxmlformats.org/officeDocument/2006/relationships/notesMaster" Target="/ppt/notesMasters/notesMaster1.xml" Id="R8609137f7f6445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0275341a4745e3" /><Relationship Type="http://schemas.openxmlformats.org/officeDocument/2006/relationships/notesMaster" Target="/ppt/notesMasters/notesMaster1.xml" Id="R3e3ea2e4336e41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00617b306b4178" /><Relationship Type="http://schemas.openxmlformats.org/officeDocument/2006/relationships/notesMaster" Target="/ppt/notesMasters/notesMaster1.xml" Id="R3434a226d50945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23d6df60bf4adc" /><Relationship Type="http://schemas.openxmlformats.org/officeDocument/2006/relationships/notesMaster" Target="/ppt/notesMasters/notesMaster1.xml" Id="R87018c2f373946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957ba0bb844380" /><Relationship Type="http://schemas.openxmlformats.org/officeDocument/2006/relationships/notesMaster" Target="/ppt/notesMasters/notesMaster1.xml" Id="R75cee233538141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264c1a0c5542ac" /><Relationship Type="http://schemas.openxmlformats.org/officeDocument/2006/relationships/notesMaster" Target="/ppt/notesMasters/notesMaster1.xml" Id="R36118a3cc60141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Project repository, app brand asset in static/garbage-ai-logo.jpg.</a:t>
            </a:r>
          </a:p>
          <a:p xmlns:a="http://schemas.openxmlformats.org/drawingml/2006/main">
            <a:r>
              <a:t>Presenter cue: Introduce the team and state the project's goal in one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README.md, app.py, templates/index.html.</a:t>
            </a:r>
          </a:p>
          <a:p xmlns:a="http://schemas.openxmlformats.org/drawingml/2006/main">
            <a:r>
              <a:t>Presenter cue: Explain that the app is a decision aid. It does not replace local waste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models/metadata.json and README.md. Counts sum to 15,515 images.</a:t>
            </a:r>
          </a:p>
          <a:p xmlns:a="http://schemas.openxmlformats.org/drawingml/2006/main">
            <a:r>
              <a:t>Presenter cue: Point out the class imbalance and connect it to class-weighted training.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garbage_classification_model.ipynb, sections 3-8.</a:t>
            </a:r>
          </a:p>
          <a:p xmlns:a="http://schemas.openxmlformats.org/drawingml/2006/main">
            <a:r>
              <a:t>Presenter cue: Mention that augmentation is used during training, not to alter the user's captured image in the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garbage_classification_model.ipynb, section 9 and section 11.</a:t>
            </a:r>
          </a:p>
          <a:p xmlns:a="http://schemas.openxmlformats.org/drawingml/2006/main">
            <a:r>
              <a:t>Presenter cue: Explain why transfer learning is useful when building a classifier for a focused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garbage_classification_model.ipynb, sections 7, 10, and 11.</a:t>
            </a:r>
          </a:p>
          <a:p xmlns:a="http://schemas.openxmlformats.org/drawingml/2006/main">
            <a:r>
              <a:t>Presenter cue: The maximum epochs are upper bounds because early stopping can end training sooner.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models/metadata.json and models/training_history.png. Validation accuracy 0.9468256, validation loss 0.1720355.</a:t>
            </a:r>
          </a:p>
          <a:p xmlns:a="http://schemas.openxmlformats.org/drawingml/2006/main">
            <a:r>
              <a:t>Presenter cue: Separate this validation result from an independent real-world test score, which the repository does not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templates/index.html and app.py routes / and /api/predict-frame. Interface previews are reconstructed from the project's implemented controls; the Flask/TensorFlow server was not available for live capture.</a:t>
            </a:r>
          </a:p>
          <a:p xmlns:a="http://schemas.openxmlformats.org/drawingml/2006/main">
            <a:r>
              <a:t>Presenter cue: The browser shows a live camera preview. The user captures and reviews a still image, then starts one prediction. The app does not continuously classify video frames.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app.py, especially predict_image(), load_model(), index(), and predict_frame().</a:t>
            </a:r>
          </a:p>
          <a:p xmlns:a="http://schemas.openxmlformats.org/drawingml/2006/main">
            <a:r>
              <a:t>Presenter cue: Describe the difference between the client-side camera stream and the single still image sent for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static/manifest.webmanifest, static/service-worker.js, render.yaml, Procfile, runtime.txt, and .python-version.</a:t>
            </a:r>
          </a:p>
          <a:p xmlns:a="http://schemas.openxmlformats.org/drawingml/2006/main">
            <a:r>
              <a:t>Presenter cue: Clarify that this is a mobile-friendly PWA, not a native Android APK, and inference is server-side.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Team names supplied by the user. Role assignments are proposed from the project's work areas because contribution history is not recorded in the repository.</a:t>
            </a:r>
          </a:p>
          <a:p xmlns:a="http://schemas.openxmlformats.org/drawingml/2006/main">
            <a:r>
              <a:t>Presenter cue: Confirm the role split reflects the team's actual contributions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models/metadata.json and garbage_classification_model.ipynb. The repository reports validation metrics but no independent test metrics.</a:t>
            </a:r>
          </a:p>
          <a:p xmlns:a="http://schemas.openxmlformats.org/drawingml/2006/main">
            <a:r>
              <a:t>Presenter cue: Discuss next steps as future work, not as features already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Project repository.</a:t>
            </a:r>
          </a:p>
          <a:p xmlns:a="http://schemas.openxmlformats.org/drawingml/2006/main">
            <a:r>
              <a:t>Presenter cue: Invite questions about the model, camera capture flow, or validation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0418bc5b34f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4a4e95d3140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529311a8841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b5028268547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989cc476249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d6d6c82fd48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045D67-3754-4904-AD47-B9B597B714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C51366-6FEF-4264-A64D-7C0B63B074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797A19F-A145-4955-A346-65E6973CA4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140F63-719B-41AA-A49B-F7B2A6319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577D09-52C7-448F-91F8-9B0C2D32D5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A85DFB-A896-48FA-A836-709DAD094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605CE4-3158-4646-902C-9873048AD2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842977-58FA-4A22-BE1C-D4B7927102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95886B-4445-485E-977E-7472CBD4A3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190B41-1879-4839-9A4A-733F0518BD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257543717f4bca" /><Relationship Type="http://schemas.openxmlformats.org/officeDocument/2006/relationships/slideLayout" Target="/ppt/slideLayouts/slideLayout1.xml" Id="R928078de436d44f2" /><Relationship Type="http://schemas.openxmlformats.org/officeDocument/2006/relationships/slideLayout" Target="/ppt/slideLayouts/slideLayout2.xml" Id="Ra44494bb97db412e" /><Relationship Type="http://schemas.openxmlformats.org/officeDocument/2006/relationships/slideLayout" Target="/ppt/slideLayouts/slideLayout3.xml" Id="Re82ab4eb74dc4be1" /><Relationship Type="http://schemas.openxmlformats.org/officeDocument/2006/relationships/slideLayout" Target="/ppt/slideLayouts/slideLayout4.xml" Id="R6af78e146cdd4392" /><Relationship Type="http://schemas.openxmlformats.org/officeDocument/2006/relationships/slideLayout" Target="/ppt/slideLayouts/slideLayout5.xml" Id="R8a7999449c1647ac" /><Relationship Type="http://schemas.openxmlformats.org/officeDocument/2006/relationships/slideLayout" Target="/ppt/slideLayouts/slideLayout6.xml" Id="R0fb4f7bce0f744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8078de436d44f2"/>
    <p:sldLayoutId xmlns:r="http://schemas.openxmlformats.org/officeDocument/2006/relationships" id="2147483650" r:id="Ra44494bb97db412e"/>
    <p:sldLayoutId xmlns:r="http://schemas.openxmlformats.org/officeDocument/2006/relationships" id="2147483651" r:id="Re82ab4eb74dc4be1"/>
    <p:sldLayoutId xmlns:r="http://schemas.openxmlformats.org/officeDocument/2006/relationships" id="2147483652" r:id="R6af78e146cdd4392"/>
    <p:sldLayoutId xmlns:r="http://schemas.openxmlformats.org/officeDocument/2006/relationships" id="2147483653" r:id="R8a7999449c1647ac"/>
    <p:sldLayoutId xmlns:r="http://schemas.openxmlformats.org/officeDocument/2006/relationships" id="2147483654" r:id="R0fb4f7bce0f744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1200485094d7d" /><Relationship Type="http://schemas.openxmlformats.org/officeDocument/2006/relationships/image" Target="/ppt/media/image.jpeg" Id="R74bde1ce5d0c42de" /><Relationship Type="http://schemas.openxmlformats.org/officeDocument/2006/relationships/notesSlide" Target="/ppt/notesSlides/notesSlide1.xml" Id="Rb0bca5e53e3646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163661db94a79" /><Relationship Type="http://schemas.openxmlformats.org/officeDocument/2006/relationships/notesSlide" Target="/ppt/notesSlides/notesSlide2.xml" Id="R2b52f4fe89c445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80aa502ec4a1f" /><Relationship Type="http://schemas.openxmlformats.org/officeDocument/2006/relationships/chart" Target="/ppt/slides/charts/chart1.xml" Id="Ra8651d6a68aa4986" /><Relationship Type="http://schemas.openxmlformats.org/officeDocument/2006/relationships/notesSlide" Target="/ppt/notesSlides/notesSlide3.xml" Id="Rbd25e548e6d44b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46d5bcf42d4656" /><Relationship Type="http://schemas.openxmlformats.org/officeDocument/2006/relationships/notesSlide" Target="/ppt/notesSlides/notesSlide4.xml" Id="R31709f46cb2b4c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b509d85a4b4098" /><Relationship Type="http://schemas.openxmlformats.org/officeDocument/2006/relationships/notesSlide" Target="/ppt/notesSlides/notesSlide5.xml" Id="R33d2e757688f41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d19d645906483d" /><Relationship Type="http://schemas.openxmlformats.org/officeDocument/2006/relationships/notesSlide" Target="/ppt/notesSlides/notesSlide6.xml" Id="R6dcbdcd56cc544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b9d53aef74f25" /><Relationship Type="http://schemas.openxmlformats.org/officeDocument/2006/relationships/image" Target="/ppt/media/image.png" Id="R254a5ed5d84b4d87" /><Relationship Type="http://schemas.openxmlformats.org/officeDocument/2006/relationships/notesSlide" Target="/ppt/notesSlides/notesSlide7.xml" Id="R166bc73ae06740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9346b7a2944695" /><Relationship Type="http://schemas.openxmlformats.org/officeDocument/2006/relationships/image" Target="/ppt/media/image2.jpeg" Id="R25613916a2054d34" /><Relationship Type="http://schemas.openxmlformats.org/officeDocument/2006/relationships/image" Target="/ppt/media/image3.jpeg" Id="Read542fc25984b62" /><Relationship Type="http://schemas.openxmlformats.org/officeDocument/2006/relationships/notesSlide" Target="/ppt/notesSlides/notesSlide8.xml" Id="Re48a907072f843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936c28cff849f1" /><Relationship Type="http://schemas.openxmlformats.org/officeDocument/2006/relationships/notesSlide" Target="/ppt/notesSlides/notesSlide9.xml" Id="R3496561e82ca46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2badc004d457e" /><Relationship Type="http://schemas.openxmlformats.org/officeDocument/2006/relationships/notesSlide" Target="/ppt/notesSlides/notesSlide10.xml" Id="Rb06abd9063ee45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6b8435d544bb4" /><Relationship Type="http://schemas.openxmlformats.org/officeDocument/2006/relationships/notesSlide" Target="/ppt/notesSlides/notesSlide11.xml" Id="Rb45a22cac8494c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28df40330488d" /><Relationship Type="http://schemas.openxmlformats.org/officeDocument/2006/relationships/notesSlide" Target="/ppt/notesSlides/notesSlide12.xml" Id="R51ffdbb8c6f640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0ab9b5e2f24160" /><Relationship Type="http://schemas.openxmlformats.org/officeDocument/2006/relationships/notesSlide" Target="/ppt/notesSlides/notesSlide13.xml" Id="R7c4c955a8e614c81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Image count by class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0D3B2B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Images</c:v>
          </c:tx>
          <c:spPr>
            <a:solidFill xmlns:a="http://schemas.openxmlformats.org/drawingml/2006/main">
              <a:srgbClr val="25865E"/>
            </a:solidFill>
          </c:spPr>
          <c:invertIfNegative val="0"/>
          <c:cat>
            <c:strLit>
              <c:ptCount val="12"/>
              <c:pt idx="0">
                <c:v>battery</c:v>
              </c:pt>
              <c:pt idx="1">
                <c:v>biological</c:v>
              </c:pt>
              <c:pt idx="2">
                <c:v>brown-glass</c:v>
              </c:pt>
              <c:pt idx="3">
                <c:v>cardboard</c:v>
              </c:pt>
              <c:pt idx="4">
                <c:v>clothes</c:v>
              </c:pt>
              <c:pt idx="5">
                <c:v>green-glass</c:v>
              </c:pt>
              <c:pt idx="6">
                <c:v>metal</c:v>
              </c:pt>
              <c:pt idx="7">
                <c:v>paper</c:v>
              </c:pt>
              <c:pt idx="8">
                <c:v>plastic</c:v>
              </c:pt>
              <c:pt idx="9">
                <c:v>shoes</c:v>
              </c:pt>
              <c:pt idx="10">
                <c:v>trash</c:v>
              </c:pt>
              <c:pt idx="11">
                <c:v>white-glass</c:v>
              </c:pt>
            </c:strLit>
          </c:cat>
          <c:val>
            <c:numLit>
              <c:formatCode>General</c:formatCode>
              <c:ptCount val="12"/>
              <c:pt idx="0">
                <c:v>945</c:v>
              </c:pt>
              <c:pt idx="1">
                <c:v>985</c:v>
              </c:pt>
              <c:pt idx="2">
                <c:v>607</c:v>
              </c:pt>
              <c:pt idx="3">
                <c:v>891</c:v>
              </c:pt>
              <c:pt idx="4">
                <c:v>5325</c:v>
              </c:pt>
              <c:pt idx="5">
                <c:v>629</c:v>
              </c:pt>
              <c:pt idx="6">
                <c:v>769</c:v>
              </c:pt>
              <c:pt idx="7">
                <c:v>1050</c:v>
              </c:pt>
              <c:pt idx="8">
                <c:v>865</c:v>
              </c:pt>
              <c:pt idx="9">
                <c:v>1977</c:v>
              </c:pt>
              <c:pt idx="10">
                <c:v>697</c:v>
              </c:pt>
              <c:pt idx="11">
                <c:v>775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2D9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3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ver-left-rule">
            <a:extLst xmlns:a="http://schemas.openxmlformats.org/drawingml/2006/main">
              <a:ext uri="{FF2B5EF4-FFF2-40B4-BE49-F238E27FC236}">
                <a16:creationId xmlns:a16="http://schemas.microsoft.com/office/drawing/2014/main" id="{30FDF704-F786-45FB-8B07-32132D9A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C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right-field">
            <a:extLst xmlns:a="http://schemas.openxmlformats.org/drawingml/2006/main">
              <a:ext uri="{FF2B5EF4-FFF2-40B4-BE49-F238E27FC236}">
                <a16:creationId xmlns:a16="http://schemas.microsoft.com/office/drawing/2014/main" id="{BCB451B4-23BC-4979-99B8-27611359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6219A-74C0-4512-9243-446D2DA264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de1ce5d0c42de"/>
          <a:stretch xmlns:a="http://schemas.openxmlformats.org/drawingml/2006/main"/>
        </p:blipFill>
        <p:spPr>
          <a:xfrm xmlns:a="http://schemas.openxmlformats.org/drawingml/2006/main">
            <a:off x="8572500" y="1381125"/>
            <a:ext cx="3333750" cy="3333750"/>
          </a:xfrm>
          <a:prstGeom xmlns:a="http://schemas.openxmlformats.org/drawingml/2006/main" prst="ellipse">
            <a:avLst/>
          </a:prstGeom>
        </p:spPr>
      </p:pic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C43E188-2045-4CD4-9BDD-D3D28D0B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6DC37"/>
                </a:solidFill>
                <a:latin typeface="Arial"/>
                <a:ea typeface="Arial"/>
                <a:cs typeface="Arial"/>
              </a:rPr>
              <a:t>COLLEGE PROJECT SUBMISSION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CFAE38C-A37A-472E-BB25-C173E7B1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704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AI-Powered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Waste Classification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3363CBB-3515-4335-9391-9CA22D87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CE5C9"/>
                </a:solidFill>
                <a:latin typeface="Arial"/>
                <a:ea typeface="Arial"/>
                <a:cs typeface="Arial"/>
              </a:rPr>
              <a:t>EcoSort AI</a:t>
            </a:r>
          </a:p>
        </p:txBody>
      </p:sp>
      <p:sp>
        <p:nvSpPr>
          <p:cNvPr id="7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A4068ADD-9061-4D6B-B20F-BD802072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634D"/>
            </a:solidFill>
            <a:prstDash val="solid"/>
          </a:ln>
        </p:spPr>
      </p:sp>
      <p:sp>
        <p:nvSpPr>
          <p:cNvPr id="8" name="cover-team-label">
            <a:extLst xmlns:a="http://schemas.openxmlformats.org/drawingml/2006/main">
              <a:ext uri="{FF2B5EF4-FFF2-40B4-BE49-F238E27FC236}">
                <a16:creationId xmlns:a16="http://schemas.microsoft.com/office/drawing/2014/main" id="{4A9AE872-890F-44D3-869C-85DDC7C5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DED0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9" name="cover-team">
            <a:extLst xmlns:a="http://schemas.openxmlformats.org/drawingml/2006/main">
              <a:ext uri="{FF2B5EF4-FFF2-40B4-BE49-F238E27FC236}">
                <a16:creationId xmlns:a16="http://schemas.microsoft.com/office/drawing/2014/main" id="{E86E1BB7-AC25-4B19-A00F-CF5422B4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Arshpreet Singh   |   Sarbjit Singh   |   Pooja</a:t>
            </a:r>
          </a:p>
        </p:txBody>
      </p:sp>
      <p:sp>
        <p:nvSpPr>
          <p:cNvPr id="10" name="cover-institution">
            <a:extLst xmlns:a="http://schemas.openxmlformats.org/drawingml/2006/main">
              <a:ext uri="{FF2B5EF4-FFF2-40B4-BE49-F238E27FC236}">
                <a16:creationId xmlns:a16="http://schemas.microsoft.com/office/drawing/2014/main" id="{9662B17A-6AC5-476F-9060-D8887AB9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IK Gujral Punjab Technical University  /  Hoshiarpur Campus</a:t>
            </a:r>
          </a:p>
        </p:txBody>
      </p:sp>
      <p:sp>
        <p:nvSpPr>
          <p:cNvPr id="11" name="cover-department">
            <a:extLst xmlns:a="http://schemas.openxmlformats.org/drawingml/2006/main">
              <a:ext uri="{FF2B5EF4-FFF2-40B4-BE49-F238E27FC236}">
                <a16:creationId xmlns:a16="http://schemas.microsoft.com/office/drawing/2014/main" id="{7EBADB96-0285-4CB4-A4EB-0AD49094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Department of Computer Science and Engineering</a:t>
            </a:r>
          </a:p>
        </p:txBody>
      </p:sp>
      <p:sp>
        <p:nvSpPr>
          <p:cNvPr id="12" name="cover-mentors">
            <a:extLst xmlns:a="http://schemas.openxmlformats.org/drawingml/2006/main">
              <a:ext uri="{FF2B5EF4-FFF2-40B4-BE49-F238E27FC236}">
                <a16:creationId xmlns:a16="http://schemas.microsoft.com/office/drawing/2014/main" id="{C7CD8C6F-B59A-48B5-BF94-BEC8C8E2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733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Project Mentor and HOD: Dr. Brijesh Bakariya  /  Project Co-Mentor: Er. Satyam Sharma</a:t>
            </a:r>
          </a:p>
        </p:txBody>
      </p:sp>
      <p:sp>
        <p:nvSpPr>
          <p:cNvPr id="13" name="cover-field-label">
            <a:extLst xmlns:a="http://schemas.openxmlformats.org/drawingml/2006/main">
              <a:ext uri="{FF2B5EF4-FFF2-40B4-BE49-F238E27FC236}">
                <a16:creationId xmlns:a16="http://schemas.microsoft.com/office/drawing/2014/main" id="{FB856F5D-A3E4-4C89-81D3-9B534397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Deep Learning  /  Computer Vision  /  Sustainability</a:t>
            </a:r>
          </a:p>
        </p:txBody>
      </p:sp>
      <p:sp>
        <p:nvSpPr>
          <p:cNvPr id="14" name="cover-footer-rule-dark">
            <a:extLst xmlns:a="http://schemas.openxmlformats.org/drawingml/2006/main">
              <a:ext uri="{FF2B5EF4-FFF2-40B4-BE49-F238E27FC236}">
                <a16:creationId xmlns:a16="http://schemas.microsoft.com/office/drawing/2014/main" id="{E36DB459-954F-49FD-8286-5E1D1D1B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58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634D"/>
            </a:solidFill>
            <a:prstDash val="solid"/>
          </a:ln>
        </p:spPr>
      </p:sp>
      <p:sp>
        <p:nvSpPr>
          <p:cNvPr id="15" name="cover-footer-rule-light">
            <a:extLst xmlns:a="http://schemas.openxmlformats.org/drawingml/2006/main">
              <a:ext uri="{FF2B5EF4-FFF2-40B4-BE49-F238E27FC236}">
                <a16:creationId xmlns:a16="http://schemas.microsoft.com/office/drawing/2014/main" id="{151823A3-FA1E-45AB-B554-087EDB3C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29375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16" name="cover-footer-brand">
            <a:extLst xmlns:a="http://schemas.openxmlformats.org/drawingml/2006/main">
              <a:ext uri="{FF2B5EF4-FFF2-40B4-BE49-F238E27FC236}">
                <a16:creationId xmlns:a16="http://schemas.microsoft.com/office/drawing/2014/main" id="{54B456F0-FB0A-4530-B526-07B6F663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DED0"/>
                </a:solidFill>
                <a:latin typeface="Arial"/>
                <a:ea typeface="Arial"/>
                <a:cs typeface="Arial"/>
              </a:rPr>
              <a:t>ECOSORT AI  /  COLLEGE PROJECT</a:t>
            </a:r>
          </a:p>
        </p:txBody>
      </p:sp>
      <p:sp>
        <p:nvSpPr>
          <p:cNvPr id="17" name="cover-footer-number">
            <a:extLst xmlns:a="http://schemas.openxmlformats.org/drawingml/2006/main">
              <a:ext uri="{FF2B5EF4-FFF2-40B4-BE49-F238E27FC236}">
                <a16:creationId xmlns:a16="http://schemas.microsoft.com/office/drawing/2014/main" id="{0823D7AA-5AB8-4324-B72D-744B6A6E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6299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075673CA-785D-496A-9503-D7270408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F8A0E1D9-A465-4C12-82B0-B400F2A9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3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C99F120C-BE06-4CA5-860B-C8ADADC4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A browser-based assistant that predicts the material category of a waste photo.</a:t>
            </a:r>
          </a:p>
        </p:txBody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7E722963-CB72-40F4-83EB-1315B6A2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5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E4DE3902-8B6D-430D-ABE2-04FC7FC7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/  COLLEGE PROJECT</a:t>
            </a:r>
          </a:p>
        </p:txBody>
      </p:sp>
      <p:sp>
        <p:nvSpPr>
          <p:cNvPr id="6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A17A1D86-D202-4E4F-BE5E-EFD71074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overview-divider">
            <a:extLst xmlns:a="http://schemas.openxmlformats.org/drawingml/2006/main">
              <a:ext uri="{FF2B5EF4-FFF2-40B4-BE49-F238E27FC236}">
                <a16:creationId xmlns:a16="http://schemas.microsoft.com/office/drawing/2014/main" id="{0EE74E0C-0855-4877-B11A-3A8F5266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66875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D9"/>
            </a:solidFill>
            <a:prstDash val="solid"/>
          </a:ln>
        </p:spPr>
      </p:sp>
      <p:sp>
        <p:nvSpPr>
          <p:cNvPr id="8" name="overview-problem-head">
            <a:extLst xmlns:a="http://schemas.openxmlformats.org/drawingml/2006/main">
              <a:ext uri="{FF2B5EF4-FFF2-40B4-BE49-F238E27FC236}">
                <a16:creationId xmlns:a16="http://schemas.microsoft.com/office/drawing/2014/main" id="{1B106EDF-5543-4FD1-9D24-6C9107DA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9" name="overview-problem">
            <a:extLst xmlns:a="http://schemas.openxmlformats.org/drawingml/2006/main">
              <a:ext uri="{FF2B5EF4-FFF2-40B4-BE49-F238E27FC236}">
                <a16:creationId xmlns:a16="http://schemas.microsoft.com/office/drawing/2014/main" id="{9205CD38-6393-445E-8BE3-3B15273B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People often face uncertainty when sorting everyday waste. A wrong choice can contaminate otherwise recyclable material.</a:t>
            </a:r>
          </a:p>
        </p:txBody>
      </p:sp>
      <p:sp>
        <p:nvSpPr>
          <p:cNvPr id="10" name="overview-goal-head">
            <a:extLst xmlns:a="http://schemas.openxmlformats.org/drawingml/2006/main">
              <a:ext uri="{FF2B5EF4-FFF2-40B4-BE49-F238E27FC236}">
                <a16:creationId xmlns:a16="http://schemas.microsoft.com/office/drawing/2014/main" id="{E3562A0C-5E1F-4342-A9A2-9B089349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Project goal</a:t>
            </a:r>
          </a:p>
        </p:txBody>
      </p:sp>
      <p:sp>
        <p:nvSpPr>
          <p:cNvPr id="11" name="overview-goal">
            <a:extLst xmlns:a="http://schemas.openxmlformats.org/drawingml/2006/main">
              <a:ext uri="{FF2B5EF4-FFF2-40B4-BE49-F238E27FC236}">
                <a16:creationId xmlns:a16="http://schemas.microsoft.com/office/drawing/2014/main" id="{6F3B4C43-EE14-4731-AB82-688CDB96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Use a trained image classifier to return a likely waste class and confidence scores through a simple photo or camera workflow.</a:t>
            </a:r>
          </a:p>
        </p:txBody>
      </p:sp>
      <p:sp>
        <p:nvSpPr>
          <p:cNvPr id="12" name="overview-delivers-head">
            <a:extLst xmlns:a="http://schemas.openxmlformats.org/drawingml/2006/main">
              <a:ext uri="{FF2B5EF4-FFF2-40B4-BE49-F238E27FC236}">
                <a16:creationId xmlns:a16="http://schemas.microsoft.com/office/drawing/2014/main" id="{EE420E92-6AAE-4551-8898-9570AF49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What the project delivers</a:t>
            </a:r>
          </a:p>
        </p:txBody>
      </p:sp>
      <p:sp>
        <p:nvSpPr>
          <p:cNvPr id="13" name="overview-delivers">
            <a:extLst xmlns:a="http://schemas.openxmlformats.org/drawingml/2006/main">
              <a:ext uri="{FF2B5EF4-FFF2-40B4-BE49-F238E27FC236}">
                <a16:creationId xmlns:a16="http://schemas.microsoft.com/office/drawing/2014/main" id="{BDE219BD-C8A6-427A-B968-EB03BF1A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3346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12-class image classification model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Photo upload and ranked prediction results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Camera preview with capture, review, and predict steps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Mobile-friendly installable web app</a:t>
            </a:r>
          </a:p>
        </p:txBody>
      </p:sp>
    </p:spTree>
    <p:extLst>
      <p:ext uri="{BB962C8B-B14F-4D97-AF65-F5344CB8AC3E}">
        <p14:creationId xmlns:p14="http://schemas.microsoft.com/office/powerpoint/2010/main" val="1953494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A0C3F1A2-8ED7-4845-BC78-E89A0137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1BA9F187-9516-4ED3-B1DA-9E263A85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Dataset and Waste Classes</a:t>
            </a:r>
          </a:p>
        </p:txBody>
      </p:sp>
      <p:sp>
        <p:nvSpPr>
          <p:cNvPr id="3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93922AF6-9AFE-45E6-A37B-0B7AE328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Folder-based image dataset with one directory for each target label.</a:t>
            </a:r>
          </a:p>
        </p:txBody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F445440D-EA57-46E0-9AA7-35C02715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5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095DA289-9A36-4C1B-B498-E762700A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/  COLLEGE PROJECT</a:t>
            </a:r>
          </a:p>
        </p:txBody>
      </p:sp>
      <p:sp>
        <p:nvSpPr>
          <p:cNvPr id="6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B4C86AF9-51A6-4DE9-BA07-6E5A1C48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dataset-total">
            <a:extLst xmlns:a="http://schemas.openxmlformats.org/drawingml/2006/main">
              <a:ext uri="{FF2B5EF4-FFF2-40B4-BE49-F238E27FC236}">
                <a16:creationId xmlns:a16="http://schemas.microsoft.com/office/drawing/2014/main" id="{85EB9069-0C05-4983-9EE2-39096B36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>
            <a:def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15,515</a:t>
            </a:r>
          </a:p>
        </p:txBody>
      </p:sp>
      <p:sp>
        <p:nvSpPr>
          <p:cNvPr id="8" name="dataset-total-label">
            <a:extLst xmlns:a="http://schemas.openxmlformats.org/drawingml/2006/main">
              <a:ext uri="{FF2B5EF4-FFF2-40B4-BE49-F238E27FC236}">
                <a16:creationId xmlns:a16="http://schemas.microsoft.com/office/drawing/2014/main" id="{D6FC6D8F-860E-4BF2-9C62-2F2E9D6B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57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images across 12 classes</a:t>
            </a:r>
          </a:p>
        </p:txBody>
      </p:sp>
      <p:sp>
        <p:nvSpPr>
          <p:cNvPr id="9" name="dataset-largest">
            <a:extLst xmlns:a="http://schemas.openxmlformats.org/drawingml/2006/main">
              <a:ext uri="{FF2B5EF4-FFF2-40B4-BE49-F238E27FC236}">
                <a16:creationId xmlns:a16="http://schemas.microsoft.com/office/drawing/2014/main" id="{FF33E7C3-7C14-422F-A8D2-21766DA2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Clothes is the largest class</a:t>
            </a:r>
          </a:p>
        </p:txBody>
      </p:sp>
      <p:sp>
        <p:nvSpPr>
          <p:cNvPr id="10" name="dataset-imbalance">
            <a:extLst xmlns:a="http://schemas.openxmlformats.org/drawingml/2006/main">
              <a:ext uri="{FF2B5EF4-FFF2-40B4-BE49-F238E27FC236}">
                <a16:creationId xmlns:a16="http://schemas.microsoft.com/office/drawing/2014/main" id="{B22BADF8-11E8-405F-BD58-ACDB7038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5,325 images, about 34% of the dataset. Class weights help address this imbalance during training.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63D997BC-E92E-4390-8043-C2163314E201}"/>
              </a:ext>
            </a:extLst>
          </p:cNvPr>
          <p:cNvGraphicFramePr/>
          <p:nvPr/>
        </p:nvGraphicFramePr>
        <p:xfrm>
          <a:off xmlns:a="http://schemas.openxmlformats.org/drawingml/2006/main" x="4095750" y="1428750"/>
          <a:ext xmlns:a="http://schemas.openxmlformats.org/drawingml/2006/main" cx="73342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651d6a68aa4986"/>
          </a:graphicData>
        </a:graphic>
      </p:graphicFrame>
    </p:spTree>
    <p:extLst>
      <p:ext uri="{BB962C8B-B14F-4D97-AF65-F5344CB8AC3E}">
        <p14:creationId xmlns:p14="http://schemas.microsoft.com/office/powerpoint/2010/main" val="957586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C03BDBB6-902C-44D3-BE34-9D333FCB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366C58C1-DBEA-4F90-9A37-928D9455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Methodology: Image Preparation</a:t>
            </a:r>
          </a:p>
        </p:txBody>
      </p:sp>
      <p:sp>
        <p:nvSpPr>
          <p:cNvPr id="3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32455FAA-F87C-4C03-B450-BECD8D55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The notebook loads labeled folders into a repeatable training and validation pipeline.</a:t>
            </a:r>
          </a:p>
        </p:txBody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C99DD814-996C-4CD2-AF19-D9C1109D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5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DC6B3D44-31E0-4D11-9E32-C218A11E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/  COLLEGE PROJECT</a:t>
            </a:r>
          </a:p>
        </p:txBody>
      </p:sp>
      <p:sp>
        <p:nvSpPr>
          <p:cNvPr id="6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6EED9DF8-B9B0-4A08-B545-569AF326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prep-flow-line">
            <a:extLst xmlns:a="http://schemas.openxmlformats.org/drawingml/2006/main">
              <a:ext uri="{FF2B5EF4-FFF2-40B4-BE49-F238E27FC236}">
                <a16:creationId xmlns:a16="http://schemas.microsoft.com/office/drawing/2014/main" id="{3B073729-F067-4A96-A8E0-C5E304E8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7E2D9"/>
            </a:solidFill>
            <a:prstDash val="solid"/>
          </a:ln>
        </p:spPr>
      </p:sp>
      <p:sp>
        <p:nvSpPr>
          <p:cNvPr id="8" name="step-number-bg-1-92">
            <a:extLst xmlns:a="http://schemas.openxmlformats.org/drawingml/2006/main">
              <a:ext uri="{FF2B5EF4-FFF2-40B4-BE49-F238E27FC236}">
                <a16:creationId xmlns:a16="http://schemas.microsoft.com/office/drawing/2014/main" id="{78B5691F-E84B-4118-BF89-0B9A2D85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ber-1-92">
            <a:extLst xmlns:a="http://schemas.openxmlformats.org/drawingml/2006/main">
              <a:ext uri="{FF2B5EF4-FFF2-40B4-BE49-F238E27FC236}">
                <a16:creationId xmlns:a16="http://schemas.microsoft.com/office/drawing/2014/main" id="{3C0C2C17-9219-4E6E-82F6-F6A899E3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step-label-1-92">
            <a:extLst xmlns:a="http://schemas.openxmlformats.org/drawingml/2006/main">
              <a:ext uri="{FF2B5EF4-FFF2-40B4-BE49-F238E27FC236}">
                <a16:creationId xmlns:a16="http://schemas.microsoft.com/office/drawing/2014/main" id="{6A45D91A-D068-4E68-8AC9-0930C9AD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Organize</a:t>
            </a:r>
          </a:p>
        </p:txBody>
      </p:sp>
      <p:sp>
        <p:nvSpPr>
          <p:cNvPr id="11" name="step-detail-1-92">
            <a:extLst xmlns:a="http://schemas.openxmlformats.org/drawingml/2006/main">
              <a:ext uri="{FF2B5EF4-FFF2-40B4-BE49-F238E27FC236}">
                <a16:creationId xmlns:a16="http://schemas.microsoft.com/office/drawing/2014/main" id="{DA5BF3AE-E705-4E47-859D-5DD27185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Each class has its own folder. TensorFlow infers labels from folder names.</a:t>
            </a:r>
          </a:p>
        </p:txBody>
      </p:sp>
      <p:sp>
        <p:nvSpPr>
          <p:cNvPr id="12" name="step-number-bg-2-385">
            <a:extLst xmlns:a="http://schemas.openxmlformats.org/drawingml/2006/main">
              <a:ext uri="{FF2B5EF4-FFF2-40B4-BE49-F238E27FC236}">
                <a16:creationId xmlns:a16="http://schemas.microsoft.com/office/drawing/2014/main" id="{12CDB149-F1E6-452F-B1DD-E2325BA4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002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6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number-2-385">
            <a:extLst xmlns:a="http://schemas.openxmlformats.org/drawingml/2006/main">
              <a:ext uri="{FF2B5EF4-FFF2-40B4-BE49-F238E27FC236}">
                <a16:creationId xmlns:a16="http://schemas.microsoft.com/office/drawing/2014/main" id="{B26B866B-3424-4A04-91A3-51B633BA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383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step-label-2-385">
            <a:extLst xmlns:a="http://schemas.openxmlformats.org/drawingml/2006/main">
              <a:ext uri="{FF2B5EF4-FFF2-40B4-BE49-F238E27FC236}">
                <a16:creationId xmlns:a16="http://schemas.microsoft.com/office/drawing/2014/main" id="{9F8B734F-12D7-4971-8693-D6B6838F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90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5" name="step-detail-2-385">
            <a:extLst xmlns:a="http://schemas.openxmlformats.org/drawingml/2006/main">
              <a:ext uri="{FF2B5EF4-FFF2-40B4-BE49-F238E27FC236}">
                <a16:creationId xmlns:a16="http://schemas.microsoft.com/office/drawing/2014/main" id="{4367B1E1-E503-4384-A08E-553D9CBA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00375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80% training and 20% validation with seed 42 for repeatability.</a:t>
            </a:r>
          </a:p>
        </p:txBody>
      </p:sp>
      <p:sp>
        <p:nvSpPr>
          <p:cNvPr id="16" name="step-number-bg-3-678">
            <a:extLst xmlns:a="http://schemas.openxmlformats.org/drawingml/2006/main">
              <a:ext uri="{FF2B5EF4-FFF2-40B4-BE49-F238E27FC236}">
                <a16:creationId xmlns:a16="http://schemas.microsoft.com/office/drawing/2014/main" id="{36826EEF-7C94-4B9A-BC12-333A6BA4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number-3-678">
            <a:extLst xmlns:a="http://schemas.openxmlformats.org/drawingml/2006/main">
              <a:ext uri="{FF2B5EF4-FFF2-40B4-BE49-F238E27FC236}">
                <a16:creationId xmlns:a16="http://schemas.microsoft.com/office/drawing/2014/main" id="{58D11F6B-8D93-4DB0-A097-9E1205E7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step-label-3-678">
            <a:extLst xmlns:a="http://schemas.openxmlformats.org/drawingml/2006/main">
              <a:ext uri="{FF2B5EF4-FFF2-40B4-BE49-F238E27FC236}">
                <a16:creationId xmlns:a16="http://schemas.microsoft.com/office/drawing/2014/main" id="{110FE965-2D73-4336-8584-94E8FEA1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Resize</a:t>
            </a:r>
          </a:p>
        </p:txBody>
      </p:sp>
      <p:sp>
        <p:nvSpPr>
          <p:cNvPr id="19" name="step-detail-3-678">
            <a:extLst xmlns:a="http://schemas.openxmlformats.org/drawingml/2006/main">
              <a:ext uri="{FF2B5EF4-FFF2-40B4-BE49-F238E27FC236}">
                <a16:creationId xmlns:a16="http://schemas.microsoft.com/office/drawing/2014/main" id="{1789C34C-C140-42DD-915E-7BF2E0AE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Convert images to RGB and resize to 224 x 224 pixels.</a:t>
            </a:r>
          </a:p>
        </p:txBody>
      </p:sp>
      <p:sp>
        <p:nvSpPr>
          <p:cNvPr id="20" name="step-number-bg-4-971">
            <a:extLst xmlns:a="http://schemas.openxmlformats.org/drawingml/2006/main">
              <a:ext uri="{FF2B5EF4-FFF2-40B4-BE49-F238E27FC236}">
                <a16:creationId xmlns:a16="http://schemas.microsoft.com/office/drawing/2014/main" id="{65A4AFFF-2246-4B7D-B7B3-2440B1B3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002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ber-4-971">
            <a:extLst xmlns:a="http://schemas.openxmlformats.org/drawingml/2006/main">
              <a:ext uri="{FF2B5EF4-FFF2-40B4-BE49-F238E27FC236}">
                <a16:creationId xmlns:a16="http://schemas.microsoft.com/office/drawing/2014/main" id="{463E981D-79AF-4A57-919F-602E0A9A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383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step-label-4-971">
            <a:extLst xmlns:a="http://schemas.openxmlformats.org/drawingml/2006/main">
              <a:ext uri="{FF2B5EF4-FFF2-40B4-BE49-F238E27FC236}">
                <a16:creationId xmlns:a16="http://schemas.microsoft.com/office/drawing/2014/main" id="{AEFB70BC-75FD-4283-8787-728C81DA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90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23" name="step-detail-4-971">
            <a:extLst xmlns:a="http://schemas.openxmlformats.org/drawingml/2006/main">
              <a:ext uri="{FF2B5EF4-FFF2-40B4-BE49-F238E27FC236}">
                <a16:creationId xmlns:a16="http://schemas.microsoft.com/office/drawing/2014/main" id="{DA017676-CFD2-4021-B17E-D7C6391C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000375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Load in batches of 32 and prefetch the input pipeline.</a:t>
            </a:r>
          </a:p>
        </p:txBody>
      </p:sp>
      <p:sp>
        <p:nvSpPr>
          <p:cNvPr id="24" name="prep-augmentation-band">
            <a:extLst xmlns:a="http://schemas.openxmlformats.org/drawingml/2006/main">
              <a:ext uri="{FF2B5EF4-FFF2-40B4-BE49-F238E27FC236}">
                <a16:creationId xmlns:a16="http://schemas.microsoft.com/office/drawing/2014/main" id="{B6765096-BF9A-49DF-BA46-D9BDB5D2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44200" cy="1209675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E0F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ep-augmentation-title">
            <a:extLst xmlns:a="http://schemas.openxmlformats.org/drawingml/2006/main">
              <a:ext uri="{FF2B5EF4-FFF2-40B4-BE49-F238E27FC236}">
                <a16:creationId xmlns:a16="http://schemas.microsoft.com/office/drawing/2014/main" id="{C4DED78F-4B0F-4088-A17E-7E3E12A2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Training-time augmentation</a:t>
            </a:r>
          </a:p>
        </p:txBody>
      </p:sp>
      <p:sp>
        <p:nvSpPr>
          <p:cNvPr id="26" name="prep-augmentation-copy">
            <a:extLst xmlns:a="http://schemas.openxmlformats.org/drawingml/2006/main">
              <a:ext uri="{FF2B5EF4-FFF2-40B4-BE49-F238E27FC236}">
                <a16:creationId xmlns:a16="http://schemas.microsoft.com/office/drawing/2014/main" id="{AFA51A49-1796-4400-AAB6-157CEBE2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Random horizontal flip, rotation, zoom, and contrast variation help expose the model to modest changes in object position and image appearance.</a:t>
            </a:r>
          </a:p>
        </p:txBody>
      </p:sp>
    </p:spTree>
    <p:extLst>
      <p:ext uri="{BB962C8B-B14F-4D97-AF65-F5344CB8AC3E}">
        <p14:creationId xmlns:p14="http://schemas.microsoft.com/office/powerpoint/2010/main" val="11441075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1547D103-3B7B-4C72-B080-1E7E7644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F6BFF2C9-9AD8-4063-84AF-CAACBE0C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Methodology: MobileNetV2</a:t>
            </a:r>
          </a:p>
        </p:txBody>
      </p:sp>
      <p:sp>
        <p:nvSpPr>
          <p:cNvPr id="3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62782413-5D67-4AD0-BECA-8813163C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Transfer learning reuses visual features and learns a new classifier for the project classes.</a:t>
            </a:r>
          </a:p>
        </p:txBody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E0336ECC-9161-44D1-B44F-25DFA905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5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1AA0C5BE-DFF1-44A6-97E1-97E16CE4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/  COLLEGE PROJECT</a:t>
            </a:r>
          </a:p>
        </p:txBody>
      </p:sp>
      <p:sp>
        <p:nvSpPr>
          <p:cNvPr id="6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474E4138-FB93-4F74-B541-7146DD3B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model-stage-0">
            <a:extLst xmlns:a="http://schemas.openxmlformats.org/drawingml/2006/main">
              <a:ext uri="{FF2B5EF4-FFF2-40B4-BE49-F238E27FC236}">
                <a16:creationId xmlns:a16="http://schemas.microsoft.com/office/drawing/2014/main" id="{505C6454-5E83-44FB-9790-634DBDAC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762125" cy="1952625"/>
          </a:xfrm>
          <a:prstGeom xmlns:a="http://schemas.openxmlformats.org/drawingml/2006/main" prst="roundRect">
            <a:avLst>
              <a:gd name="adj" fmla="val 3784"/>
            </a:avLst>
          </a:prstGeom>
          <a:solidFill xmlns:a="http://schemas.openxmlformats.org/drawingml/2006/main">
            <a:srgbClr val="E2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el-title-0">
            <a:extLst xmlns:a="http://schemas.openxmlformats.org/drawingml/2006/main">
              <a:ext uri="{FF2B5EF4-FFF2-40B4-BE49-F238E27FC236}">
                <a16:creationId xmlns:a16="http://schemas.microsoft.com/office/drawing/2014/main" id="{7416AB5A-F9D8-4489-BDBF-80A49658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495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Input image</a:t>
            </a:r>
          </a:p>
        </p:txBody>
      </p:sp>
      <p:sp>
        <p:nvSpPr>
          <p:cNvPr id="9" name="model-detail-0">
            <a:extLst xmlns:a="http://schemas.openxmlformats.org/drawingml/2006/main">
              <a:ext uri="{FF2B5EF4-FFF2-40B4-BE49-F238E27FC236}">
                <a16:creationId xmlns:a16="http://schemas.microsoft.com/office/drawing/2014/main" id="{8595D57C-04F0-4D25-9DFB-8822B08D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495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224 x 224</a:t>
            </a:r>
          </a:p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RGB</a:t>
            </a:r>
          </a:p>
        </p:txBody>
      </p:sp>
      <p:sp>
        <p:nvSpPr>
          <p:cNvPr id="10" name="model-connector-0">
            <a:extLst xmlns:a="http://schemas.openxmlformats.org/drawingml/2006/main">
              <a:ext uri="{FF2B5EF4-FFF2-40B4-BE49-F238E27FC236}">
                <a16:creationId xmlns:a16="http://schemas.microsoft.com/office/drawing/2014/main" id="{187E0084-FE30-4256-A8A2-5D7A42E3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337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86A2"/>
            </a:solidFill>
            <a:prstDash val="solid"/>
          </a:ln>
        </p:spPr>
      </p:sp>
      <p:sp>
        <p:nvSpPr>
          <p:cNvPr id="11" name="model-stage-1">
            <a:extLst xmlns:a="http://schemas.openxmlformats.org/drawingml/2006/main">
              <a:ext uri="{FF2B5EF4-FFF2-40B4-BE49-F238E27FC236}">
                <a16:creationId xmlns:a16="http://schemas.microsoft.com/office/drawing/2014/main" id="{D0151C00-A5EB-43C2-840F-B3C6569A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857375" cy="1952625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E0F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odel-title-1">
            <a:extLst xmlns:a="http://schemas.openxmlformats.org/drawingml/2006/main">
              <a:ext uri="{FF2B5EF4-FFF2-40B4-BE49-F238E27FC236}">
                <a16:creationId xmlns:a16="http://schemas.microsoft.com/office/drawing/2014/main" id="{C60A4DB8-E15B-42A0-9C1D-DE6DB1C5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1590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Augmentation</a:t>
            </a:r>
          </a:p>
        </p:txBody>
      </p:sp>
      <p:sp>
        <p:nvSpPr>
          <p:cNvPr id="13" name="model-detail-1">
            <a:extLst xmlns:a="http://schemas.openxmlformats.org/drawingml/2006/main">
              <a:ext uri="{FF2B5EF4-FFF2-40B4-BE49-F238E27FC236}">
                <a16:creationId xmlns:a16="http://schemas.microsoft.com/office/drawing/2014/main" id="{6727B345-40D1-40A3-A3D9-DBF2AF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33750"/>
            <a:ext cx="1590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Flip, rotate,</a:t>
            </a:r>
          </a:p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zoom, contrast</a:t>
            </a:r>
          </a:p>
        </p:txBody>
      </p:sp>
      <p:sp>
        <p:nvSpPr>
          <p:cNvPr id="14" name="model-connector-1">
            <a:extLst xmlns:a="http://schemas.openxmlformats.org/drawingml/2006/main">
              <a:ext uri="{FF2B5EF4-FFF2-40B4-BE49-F238E27FC236}">
                <a16:creationId xmlns:a16="http://schemas.microsoft.com/office/drawing/2014/main" id="{5C09E4A1-FA9A-4685-A3AD-117A023E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337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86A2"/>
            </a:solidFill>
            <a:prstDash val="solid"/>
          </a:ln>
        </p:spPr>
      </p:sp>
      <p:sp>
        <p:nvSpPr>
          <p:cNvPr id="15" name="model-stage-2">
            <a:extLst xmlns:a="http://schemas.openxmlformats.org/drawingml/2006/main">
              <a:ext uri="{FF2B5EF4-FFF2-40B4-BE49-F238E27FC236}">
                <a16:creationId xmlns:a16="http://schemas.microsoft.com/office/drawing/2014/main" id="{7BB64C18-82BB-419A-AA9A-8C06E382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2143125" cy="1952625"/>
          </a:xfrm>
          <a:prstGeom xmlns:a="http://schemas.openxmlformats.org/drawingml/2006/main" prst="roundRect">
            <a:avLst>
              <a:gd name="adj" fmla="val 3415"/>
            </a:avLst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odel-title-2">
            <a:extLst xmlns:a="http://schemas.openxmlformats.org/drawingml/2006/main">
              <a:ext uri="{FF2B5EF4-FFF2-40B4-BE49-F238E27FC236}">
                <a16:creationId xmlns:a16="http://schemas.microsoft.com/office/drawing/2014/main" id="{3A99C98E-C50A-4FD1-848C-8982FA2C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47950"/>
            <a:ext cx="1876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17" name="model-detail-2">
            <a:extLst xmlns:a="http://schemas.openxmlformats.org/drawingml/2006/main">
              <a:ext uri="{FF2B5EF4-FFF2-40B4-BE49-F238E27FC236}">
                <a16:creationId xmlns:a16="http://schemas.microsoft.com/office/drawing/2014/main" id="{A47F3B53-D966-49D6-99D4-262671C0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33750"/>
            <a:ext cx="1876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ImageNet backbone</a:t>
            </a:r>
          </a:p>
          <a:p xmlns:a="http://schemas.openxmlformats.org/drawingml/2006/main">
            <a: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initially frozen</a:t>
            </a:r>
          </a:p>
        </p:txBody>
      </p:sp>
      <p:sp>
        <p:nvSpPr>
          <p:cNvPr id="18" name="model-connector-2">
            <a:extLst xmlns:a="http://schemas.openxmlformats.org/drawingml/2006/main">
              <a:ext uri="{FF2B5EF4-FFF2-40B4-BE49-F238E27FC236}">
                <a16:creationId xmlns:a16="http://schemas.microsoft.com/office/drawing/2014/main" id="{C0AC6764-A5F5-43A4-943C-E29002E7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337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86A2"/>
            </a:solidFill>
            <a:prstDash val="solid"/>
          </a:ln>
        </p:spPr>
      </p:sp>
      <p:sp>
        <p:nvSpPr>
          <p:cNvPr id="19" name="model-stage-3">
            <a:extLst xmlns:a="http://schemas.openxmlformats.org/drawingml/2006/main">
              <a:ext uri="{FF2B5EF4-FFF2-40B4-BE49-F238E27FC236}">
                <a16:creationId xmlns:a16="http://schemas.microsoft.com/office/drawing/2014/main" id="{2F2241AF-DC43-4EE8-9097-743FB513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1857375" cy="1952625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CEB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odel-title-3">
            <a:extLst xmlns:a="http://schemas.openxmlformats.org/drawingml/2006/main">
              <a:ext uri="{FF2B5EF4-FFF2-40B4-BE49-F238E27FC236}">
                <a16:creationId xmlns:a16="http://schemas.microsoft.com/office/drawing/2014/main" id="{19837FF5-0027-4A8B-85A5-CC15C24A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1590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Classification head</a:t>
            </a:r>
          </a:p>
        </p:txBody>
      </p:sp>
      <p:sp>
        <p:nvSpPr>
          <p:cNvPr id="21" name="model-detail-3">
            <a:extLst xmlns:a="http://schemas.openxmlformats.org/drawingml/2006/main">
              <a:ext uri="{FF2B5EF4-FFF2-40B4-BE49-F238E27FC236}">
                <a16:creationId xmlns:a16="http://schemas.microsoft.com/office/drawing/2014/main" id="{E0C5AEEC-C7B2-40E0-A766-4BA2A759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1590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Global pooling</a:t>
            </a:r>
          </a:p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Dropout 0.25</a:t>
            </a:r>
          </a:p>
        </p:txBody>
      </p:sp>
      <p:sp>
        <p:nvSpPr>
          <p:cNvPr id="22" name="model-connector-3">
            <a:extLst xmlns:a="http://schemas.openxmlformats.org/drawingml/2006/main">
              <a:ext uri="{FF2B5EF4-FFF2-40B4-BE49-F238E27FC236}">
                <a16:creationId xmlns:a16="http://schemas.microsoft.com/office/drawing/2014/main" id="{3C983365-0739-4217-AD8C-55496247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33375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86A2"/>
            </a:solidFill>
            <a:prstDash val="solid"/>
          </a:ln>
        </p:spPr>
      </p:sp>
      <p:sp>
        <p:nvSpPr>
          <p:cNvPr id="23" name="model-stage-4">
            <a:extLst xmlns:a="http://schemas.openxmlformats.org/drawingml/2006/main">
              <a:ext uri="{FF2B5EF4-FFF2-40B4-BE49-F238E27FC236}">
                <a16:creationId xmlns:a16="http://schemas.microsoft.com/office/drawing/2014/main" id="{414EA587-5EBA-407F-9089-3739D7DE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1476375" cy="195262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B6DC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odel-title-4">
            <a:extLst xmlns:a="http://schemas.openxmlformats.org/drawingml/2006/main">
              <a:ext uri="{FF2B5EF4-FFF2-40B4-BE49-F238E27FC236}">
                <a16:creationId xmlns:a16="http://schemas.microsoft.com/office/drawing/2014/main" id="{294BD13C-E0E5-48FA-B2D2-2D696E33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47950"/>
            <a:ext cx="1209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12 outputs</a:t>
            </a:r>
          </a:p>
        </p:txBody>
      </p:sp>
      <p:sp>
        <p:nvSpPr>
          <p:cNvPr id="25" name="model-detail-4">
            <a:extLst xmlns:a="http://schemas.openxmlformats.org/drawingml/2006/main">
              <a:ext uri="{FF2B5EF4-FFF2-40B4-BE49-F238E27FC236}">
                <a16:creationId xmlns:a16="http://schemas.microsoft.com/office/drawing/2014/main" id="{C2ECC860-75A8-4844-9170-F93F8C3F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33750"/>
            <a:ext cx="1209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Softmax</a:t>
            </a:r>
          </a:p>
          <a:p xmlns:a="http://schemas.openxmlformats.org/drawingml/2006/main">
            <a: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class scores</a:t>
            </a:r>
          </a:p>
        </p:txBody>
      </p:sp>
      <p:sp>
        <p:nvSpPr>
          <p:cNvPr id="26" name="model-headline">
            <a:extLst xmlns:a="http://schemas.openxmlformats.org/drawingml/2006/main">
              <a:ext uri="{FF2B5EF4-FFF2-40B4-BE49-F238E27FC236}">
                <a16:creationId xmlns:a16="http://schemas.microsoft.com/office/drawing/2014/main" id="{37FA0F0A-452C-4A3D-BEA0-FA24148C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Fine-tuning</a:t>
            </a:r>
          </a:p>
        </p:txBody>
      </p:sp>
      <p:sp>
        <p:nvSpPr>
          <p:cNvPr id="27" name="model-finetune-copy">
            <a:extLst xmlns:a="http://schemas.openxmlformats.org/drawingml/2006/main">
              <a:ext uri="{FF2B5EF4-FFF2-40B4-BE49-F238E27FC236}">
                <a16:creationId xmlns:a16="http://schemas.microsoft.com/office/drawing/2014/main" id="{EDFD5779-C9FD-4DF2-BE1F-643D0887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After training the new head, the notebook unfreezes the final 30 MobileNetV2 layers and fine-tunes them at a lower learning rate.</a:t>
            </a:r>
          </a:p>
        </p:txBody>
      </p:sp>
    </p:spTree>
    <p:extLst>
      <p:ext uri="{BB962C8B-B14F-4D97-AF65-F5344CB8AC3E}">
        <p14:creationId xmlns:p14="http://schemas.microsoft.com/office/powerpoint/2010/main" val="639216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F21F1EA5-784C-4DFA-9B43-1C2CBD70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C32A1F68-4B8C-4A89-B018-54C63BD0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Methodology: Training Strategy</a:t>
            </a:r>
          </a:p>
        </p:txBody>
      </p:sp>
      <p:sp>
        <p:nvSpPr>
          <p:cNvPr id="3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6421274A-AF3A-414F-A3CE-4AC5F917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The notebook trains a new classification head, then fine-tunes part of the pretrained backbone.</a:t>
            </a:r>
          </a:p>
        </p:txBody>
      </p:sp>
      <p:sp>
        <p:nvSpPr>
          <p:cNvPr id="4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9C7D20F0-A51D-419C-9FBD-26ACC79E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5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039DAFC2-7F70-47BB-AAA3-62C5E553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/  COLLEGE PROJECT</a:t>
            </a:r>
          </a:p>
        </p:txBody>
      </p:sp>
      <p:sp>
        <p:nvSpPr>
          <p:cNvPr id="6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3A81F726-7625-439B-BB0B-794CF2EA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training-stage-one-band">
            <a:extLst xmlns:a="http://schemas.openxmlformats.org/drawingml/2006/main">
              <a:ext uri="{FF2B5EF4-FFF2-40B4-BE49-F238E27FC236}">
                <a16:creationId xmlns:a16="http://schemas.microsoft.com/office/drawing/2014/main" id="{8F10CFF9-A8D2-455B-AE78-D68FDC81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2387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0F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aining-stage-one-number">
            <a:extLst xmlns:a="http://schemas.openxmlformats.org/drawingml/2006/main">
              <a:ext uri="{FF2B5EF4-FFF2-40B4-BE49-F238E27FC236}">
                <a16:creationId xmlns:a16="http://schemas.microsoft.com/office/drawing/2014/main" id="{BA227CD7-4BDB-48C0-B88A-682377B2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1175"/>
            <a:ext cx="704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raining-stage-one-title">
            <a:extLst xmlns:a="http://schemas.openxmlformats.org/drawingml/2006/main">
              <a:ext uri="{FF2B5EF4-FFF2-40B4-BE49-F238E27FC236}">
                <a16:creationId xmlns:a16="http://schemas.microsoft.com/office/drawing/2014/main" id="{11F51271-3BC6-443D-81DA-0FCAF2D2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8478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Train the new head</a:t>
            </a:r>
          </a:p>
        </p:txBody>
      </p:sp>
      <p:sp>
        <p:nvSpPr>
          <p:cNvPr id="10" name="training-stage-one-copy">
            <a:extLst xmlns:a="http://schemas.openxmlformats.org/drawingml/2006/main">
              <a:ext uri="{FF2B5EF4-FFF2-40B4-BE49-F238E27FC236}">
                <a16:creationId xmlns:a16="http://schemas.microsoft.com/office/drawing/2014/main" id="{DC02A566-B31A-49F9-90F4-79092298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57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Freeze MobileNetV2 and learn the 12-class output layer for up to 12 epochs.</a:t>
            </a:r>
          </a:p>
        </p:txBody>
      </p:sp>
      <p:sp>
        <p:nvSpPr>
          <p:cNvPr id="11" name="training-stage-two-band">
            <a:extLst xmlns:a="http://schemas.openxmlformats.org/drawingml/2006/main">
              <a:ext uri="{FF2B5EF4-FFF2-40B4-BE49-F238E27FC236}">
                <a16:creationId xmlns:a16="http://schemas.microsoft.com/office/drawing/2014/main" id="{9301CB94-B490-49D6-B436-B084E1BE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2387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2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aining-stage-two-number">
            <a:extLst xmlns:a="http://schemas.openxmlformats.org/drawingml/2006/main">
              <a:ext uri="{FF2B5EF4-FFF2-40B4-BE49-F238E27FC236}">
                <a16:creationId xmlns:a16="http://schemas.microsoft.com/office/drawing/2014/main" id="{13ECCCA8-E05E-47E1-9320-66D0EA5B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81175"/>
            <a:ext cx="704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raining-stage-two-title">
            <a:extLst xmlns:a="http://schemas.openxmlformats.org/drawingml/2006/main">
              <a:ext uri="{FF2B5EF4-FFF2-40B4-BE49-F238E27FC236}">
                <a16:creationId xmlns:a16="http://schemas.microsoft.com/office/drawing/2014/main" id="{80C310BC-61D9-4444-A298-823ACA99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8478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Fine-tune the backbone</a:t>
            </a:r>
          </a:p>
        </p:txBody>
      </p:sp>
      <p:sp>
        <p:nvSpPr>
          <p:cNvPr id="14" name="training-stage-two-copy">
            <a:extLst xmlns:a="http://schemas.openxmlformats.org/drawingml/2006/main">
              <a:ext uri="{FF2B5EF4-FFF2-40B4-BE49-F238E27FC236}">
                <a16:creationId xmlns:a16="http://schemas.microsoft.com/office/drawing/2014/main" id="{0E9FAEA7-7980-414D-8360-B0DE96B7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57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Unfreeze the final 30 layers and train for up to 5 more epochs at learning rate 1e-5.</a:t>
            </a:r>
          </a:p>
        </p:txBody>
      </p:sp>
      <p:sp>
        <p:nvSpPr>
          <p:cNvPr id="15" name="training-controls-title">
            <a:extLst xmlns:a="http://schemas.openxmlformats.org/drawingml/2006/main">
              <a:ext uri="{FF2B5EF4-FFF2-40B4-BE49-F238E27FC236}">
                <a16:creationId xmlns:a16="http://schemas.microsoft.com/office/drawing/2014/main" id="{B804FDA0-4D2A-4666-B633-6C4D025A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Controls used during training</a:t>
            </a:r>
          </a:p>
        </p:txBody>
      </p:sp>
      <p:sp>
        <p:nvSpPr>
          <p:cNvPr id="16" name="training-controls">
            <a:extLst xmlns:a="http://schemas.openxmlformats.org/drawingml/2006/main">
              <a:ext uri="{FF2B5EF4-FFF2-40B4-BE49-F238E27FC236}">
                <a16:creationId xmlns:a16="http://schemas.microsoft.com/office/drawing/2014/main" id="{4BC09139-FF21-45B1-90FE-C9E21B4F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Class weights address unequal class counts.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Early stopping monitors validation loss and restores best weights.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ReduceLROnPlateau lowers the learning rate when validation loss stalls.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A checkpoint keeps the model with the best validation accuracy.</a:t>
            </a:r>
          </a:p>
        </p:txBody>
      </p:sp>
    </p:spTree>
    <p:extLst>
      <p:ext uri="{BB962C8B-B14F-4D97-AF65-F5344CB8AC3E}">
        <p14:creationId xmlns:p14="http://schemas.microsoft.com/office/powerpoint/2010/main" val="1700484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01F019BC-C225-4F2F-8050-2FEA5390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8D8FEB43-EC9A-43FC-8753-8C584BA7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Model Results</a:t>
            </a:r>
          </a:p>
        </p:txBody>
      </p:sp>
      <p:sp>
        <p:nvSpPr>
          <p:cNvPr id="3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EC289CA1-E0DE-4E71-9BC8-E0972DD4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Saved validation metrics show how the selected model performed on the project validation split.</a:t>
            </a:r>
          </a:p>
        </p:txBody>
      </p:sp>
      <p:sp>
        <p:nvSpPr>
          <p:cNvPr id="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1C250A4E-1830-4E3A-8806-E6E29152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5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66503C7D-29A9-41AD-9950-69AB10B8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/  COLLEGE PROJECT</a:t>
            </a:r>
          </a:p>
        </p:txBody>
      </p:sp>
      <p:sp>
        <p:nvSpPr>
          <p:cNvPr id="6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CA34933F-DCA3-4513-88F6-69A16E38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sult-accuracy">
            <a:extLst xmlns:a="http://schemas.openxmlformats.org/drawingml/2006/main">
              <a:ext uri="{FF2B5EF4-FFF2-40B4-BE49-F238E27FC236}">
                <a16:creationId xmlns:a16="http://schemas.microsoft.com/office/drawing/2014/main" id="{4AE08B03-9555-4AB3-8928-1F93274C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94.68%</a:t>
            </a:r>
          </a:p>
        </p:txBody>
      </p:sp>
      <p:sp>
        <p:nvSpPr>
          <p:cNvPr id="8" name="result-accuracy-label">
            <a:extLst xmlns:a="http://schemas.openxmlformats.org/drawingml/2006/main">
              <a:ext uri="{FF2B5EF4-FFF2-40B4-BE49-F238E27FC236}">
                <a16:creationId xmlns:a16="http://schemas.microsoft.com/office/drawing/2014/main" id="{D52E7B37-F710-4887-B863-C61EA115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Validation accuracy</a:t>
            </a:r>
          </a:p>
        </p:txBody>
      </p:sp>
      <p:sp>
        <p:nvSpPr>
          <p:cNvPr id="9" name="result-loss">
            <a:extLst xmlns:a="http://schemas.openxmlformats.org/drawingml/2006/main">
              <a:ext uri="{FF2B5EF4-FFF2-40B4-BE49-F238E27FC236}">
                <a16:creationId xmlns:a16="http://schemas.microsoft.com/office/drawing/2014/main" id="{00F367A2-7061-4809-A91B-ACD01AA2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0.172</a:t>
            </a:r>
          </a:p>
        </p:txBody>
      </p:sp>
      <p:sp>
        <p:nvSpPr>
          <p:cNvPr id="10" name="result-loss-label">
            <a:extLst xmlns:a="http://schemas.openxmlformats.org/drawingml/2006/main">
              <a:ext uri="{FF2B5EF4-FFF2-40B4-BE49-F238E27FC236}">
                <a16:creationId xmlns:a16="http://schemas.microsoft.com/office/drawing/2014/main" id="{EED09432-5C2A-44B9-8F6B-04B17B9F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11" name="result-caveat">
            <a:extLst xmlns:a="http://schemas.openxmlformats.org/drawingml/2006/main">
              <a:ext uri="{FF2B5EF4-FFF2-40B4-BE49-F238E27FC236}">
                <a16:creationId xmlns:a16="http://schemas.microsoft.com/office/drawing/2014/main" id="{F854EDA5-4C9E-494A-BE59-D9EFF2A1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Validation split only. The repository does not report an independent test score. New images may differ in lighting, background, or object type.</a:t>
            </a:r>
          </a:p>
        </p:txBody>
      </p:sp>
      <p:sp>
        <p:nvSpPr>
          <p:cNvPr id="12" name="result-abstention">
            <a:extLst xmlns:a="http://schemas.openxmlformats.org/drawingml/2006/main">
              <a:ext uri="{FF2B5EF4-FFF2-40B4-BE49-F238E27FC236}">
                <a16:creationId xmlns:a16="http://schemas.microsoft.com/office/drawing/2014/main" id="{8B16AC34-0882-4FD4-8E7F-8813C646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6F57"/>
                </a:solidFill>
                <a:latin typeface="Arial"/>
                <a:ea typeface="Arial"/>
                <a:cs typeface="Arial"/>
              </a:rPr>
              <a:t>Below 40% top score: show an 'Image not confidently classified' popup.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4DF67-C135-44A1-A66F-212627F48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a5ed5d84b4d87"/>
          <a:stretch xmlns:a="http://schemas.openxmlformats.org/drawingml/2006/main"/>
        </p:blipFill>
        <p:spPr>
          <a:xfrm xmlns:a="http://schemas.openxmlformats.org/drawingml/2006/main">
            <a:off x="4667250" y="2247900"/>
            <a:ext cx="6858000" cy="2743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7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top-accent-8">
            <a:extLst xmlns:a="http://schemas.openxmlformats.org/drawingml/2006/main">
              <a:ext uri="{FF2B5EF4-FFF2-40B4-BE49-F238E27FC236}">
                <a16:creationId xmlns:a16="http://schemas.microsoft.com/office/drawing/2014/main" id="{3DB1E7E4-2334-403F-B6EC-88C80F23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6AEE86C5-05AE-41FA-AC8D-10A9850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Implementation: App Screens</a:t>
            </a:r>
          </a:p>
        </p:txBody>
      </p:sp>
      <p:sp>
        <p:nvSpPr>
          <p:cNvPr id="3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C9DC6D0D-C4DB-4A68-8E79-1A562212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Upload or capture a still. Scores below the 40% threshold trigger a low-confidence popup.</a:t>
            </a:r>
          </a:p>
        </p:txBody>
      </p:sp>
      <p:sp>
        <p:nvSpPr>
          <p:cNvPr id="4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50F3644F-694D-443D-9CB4-0C910698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5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F3CBE37A-7971-4E96-8493-75A1F441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/  COLLEGE PROJECT</a:t>
            </a:r>
          </a:p>
        </p:txBody>
      </p:sp>
      <p:sp>
        <p:nvSpPr>
          <p:cNvPr id="6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50355973-8974-4B14-9A8E-B449D993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upload-preview-frame">
            <a:extLst xmlns:a="http://schemas.openxmlformats.org/drawingml/2006/main">
              <a:ext uri="{FF2B5EF4-FFF2-40B4-BE49-F238E27FC236}">
                <a16:creationId xmlns:a16="http://schemas.microsoft.com/office/drawing/2014/main" id="{936BEC1B-7F83-47B2-AF4E-CCF86503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2862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8" name="upload-preview-chrome">
            <a:extLst xmlns:a="http://schemas.openxmlformats.org/drawingml/2006/main">
              <a:ext uri="{FF2B5EF4-FFF2-40B4-BE49-F238E27FC236}">
                <a16:creationId xmlns:a16="http://schemas.microsoft.com/office/drawing/2014/main" id="{A9B10940-0C3D-4F40-84DD-F06959D5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upload-preview-dot-0">
            <a:extLst xmlns:a="http://schemas.openxmlformats.org/drawingml/2006/main">
              <a:ext uri="{FF2B5EF4-FFF2-40B4-BE49-F238E27FC236}">
                <a16:creationId xmlns:a16="http://schemas.microsoft.com/office/drawing/2014/main" id="{B06B3D07-B119-4A23-8DAF-E63EB47B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9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upload-preview-dot-1">
            <a:extLst xmlns:a="http://schemas.openxmlformats.org/drawingml/2006/main">
              <a:ext uri="{FF2B5EF4-FFF2-40B4-BE49-F238E27FC236}">
                <a16:creationId xmlns:a16="http://schemas.microsoft.com/office/drawing/2014/main" id="{A95F4FA6-5C95-419C-9006-1EBAC7EB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09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DC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pload-preview-dot-2">
            <a:extLst xmlns:a="http://schemas.openxmlformats.org/drawingml/2006/main">
              <a:ext uri="{FF2B5EF4-FFF2-40B4-BE49-F238E27FC236}">
                <a16:creationId xmlns:a16="http://schemas.microsoft.com/office/drawing/2014/main" id="{F82A08F9-289B-4D49-BB09-281B9814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9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8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upload-preview-brand-mark">
            <a:extLst xmlns:a="http://schemas.openxmlformats.org/drawingml/2006/main">
              <a:ext uri="{FF2B5EF4-FFF2-40B4-BE49-F238E27FC236}">
                <a16:creationId xmlns:a16="http://schemas.microsoft.com/office/drawing/2014/main" id="{4B3E94E2-BB97-4185-A198-F2DDCF5F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upload-preview-brand">
            <a:extLst xmlns:a="http://schemas.openxmlformats.org/drawingml/2006/main">
              <a:ext uri="{FF2B5EF4-FFF2-40B4-BE49-F238E27FC236}">
                <a16:creationId xmlns:a16="http://schemas.microsoft.com/office/drawing/2014/main" id="{BA03055D-316B-4BB0-B18C-5E12B5BA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335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EcoSort AI</a:t>
            </a:r>
          </a:p>
        </p:txBody>
      </p:sp>
      <p:sp>
        <p:nvSpPr>
          <p:cNvPr id="14" name="upload-preview-eyebrow">
            <a:extLst xmlns:a="http://schemas.openxmlformats.org/drawingml/2006/main">
              <a:ext uri="{FF2B5EF4-FFF2-40B4-BE49-F238E27FC236}">
                <a16:creationId xmlns:a16="http://schemas.microsoft.com/office/drawing/2014/main" id="{3EFF7A6B-75B8-4169-B631-545556EB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865E"/>
                </a:solidFill>
                <a:latin typeface="Arial"/>
                <a:ea typeface="Arial"/>
                <a:cs typeface="Arial"/>
              </a:rPr>
              <a:t>AI-POWERED WASTE SORTING</a:t>
            </a:r>
          </a:p>
        </p:txBody>
      </p:sp>
      <p:sp>
        <p:nvSpPr>
          <p:cNvPr id="15" name="upload-preview-headline">
            <a:extLst xmlns:a="http://schemas.openxmlformats.org/drawingml/2006/main">
              <a:ext uri="{FF2B5EF4-FFF2-40B4-BE49-F238E27FC236}">
                <a16:creationId xmlns:a16="http://schemas.microsoft.com/office/drawing/2014/main" id="{4966BD1B-6440-40D0-A298-10271F37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83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Know where it goes.</a:t>
            </a:r>
          </a:p>
        </p:txBody>
      </p:sp>
      <p:sp>
        <p:nvSpPr>
          <p:cNvPr id="16" name="upload-preview-subhead">
            <a:extLst xmlns:a="http://schemas.openxmlformats.org/drawingml/2006/main">
              <a:ext uri="{FF2B5EF4-FFF2-40B4-BE49-F238E27FC236}">
                <a16:creationId xmlns:a16="http://schemas.microsoft.com/office/drawing/2014/main" id="{74E0332B-FB8F-4363-BB7C-7DEB403B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83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Choose a photo to identify a waste item.</a:t>
            </a:r>
          </a:p>
        </p:txBody>
      </p:sp>
      <p:sp>
        <p:nvSpPr>
          <p:cNvPr id="17" name="upload-preview-tab-active">
            <a:extLst xmlns:a="http://schemas.openxmlformats.org/drawingml/2006/main">
              <a:ext uri="{FF2B5EF4-FFF2-40B4-BE49-F238E27FC236}">
                <a16:creationId xmlns:a16="http://schemas.microsoft.com/office/drawing/2014/main" id="{CFB428CA-974A-4EA6-A5F2-349F205D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409825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0F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upload-preview-tab-inactive">
            <a:extLst xmlns:a="http://schemas.openxmlformats.org/drawingml/2006/main">
              <a:ext uri="{FF2B5EF4-FFF2-40B4-BE49-F238E27FC236}">
                <a16:creationId xmlns:a16="http://schemas.microsoft.com/office/drawing/2014/main" id="{C02382AD-0E63-4947-8A43-409F227E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00400"/>
            <a:ext cx="2409825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upload-preview-tab-upload">
            <a:extLst xmlns:a="http://schemas.openxmlformats.org/drawingml/2006/main">
              <a:ext uri="{FF2B5EF4-FFF2-40B4-BE49-F238E27FC236}">
                <a16:creationId xmlns:a16="http://schemas.microsoft.com/office/drawing/2014/main" id="{F68532C6-0E29-4D04-B177-90C9E18B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2390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Upload a photo</a:t>
            </a:r>
          </a:p>
        </p:txBody>
      </p:sp>
      <p:sp>
        <p:nvSpPr>
          <p:cNvPr id="20" name="upload-preview-tab-camera">
            <a:extLst xmlns:a="http://schemas.openxmlformats.org/drawingml/2006/main">
              <a:ext uri="{FF2B5EF4-FFF2-40B4-BE49-F238E27FC236}">
                <a16:creationId xmlns:a16="http://schemas.microsoft.com/office/drawing/2014/main" id="{D2D857E4-7244-443D-AAE1-9BF6B429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57550"/>
            <a:ext cx="2390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Scan live</a:t>
            </a:r>
          </a:p>
        </p:txBody>
      </p:sp>
      <p:sp>
        <p:nvSpPr>
          <p:cNvPr id="21" name="upload-preview-left-panel">
            <a:extLst xmlns:a="http://schemas.openxmlformats.org/drawingml/2006/main">
              <a:ext uri="{FF2B5EF4-FFF2-40B4-BE49-F238E27FC236}">
                <a16:creationId xmlns:a16="http://schemas.microsoft.com/office/drawing/2014/main" id="{881574A4-4F06-47E2-9A75-34380B84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453259" cy="1838325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22" name="upload-preview-panel-title">
            <a:extLst xmlns:a="http://schemas.openxmlformats.org/drawingml/2006/main">
              <a:ext uri="{FF2B5EF4-FFF2-40B4-BE49-F238E27FC236}">
                <a16:creationId xmlns:a16="http://schemas.microsoft.com/office/drawing/2014/main" id="{6856D5AB-1391-460B-ACCD-19FF851C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224447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What do you want to sort?</a:t>
            </a:r>
          </a:p>
        </p:txBody>
      </p:sp>
      <p:sp>
        <p:nvSpPr>
          <p:cNvPr id="23" name="upload-preview-model">
            <a:extLst xmlns:a="http://schemas.openxmlformats.org/drawingml/2006/main">
              <a:ext uri="{FF2B5EF4-FFF2-40B4-BE49-F238E27FC236}">
                <a16:creationId xmlns:a16="http://schemas.microsoft.com/office/drawing/2014/main" id="{A6EF711E-FB19-440C-830A-921DCF3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24447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Model  ·  best_garbage_classifier.keras</a:t>
            </a:r>
          </a:p>
        </p:txBody>
      </p:sp>
      <p:sp>
        <p:nvSpPr>
          <p:cNvPr id="24" name="upload-preview-drop">
            <a:extLst xmlns:a="http://schemas.openxmlformats.org/drawingml/2006/main">
              <a:ext uri="{FF2B5EF4-FFF2-40B4-BE49-F238E27FC236}">
                <a16:creationId xmlns:a16="http://schemas.microsoft.com/office/drawing/2014/main" id="{450AC171-CFB8-4CB2-BAE4-C0518EF6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2140077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5F8F4"/>
          </a:solidFill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25" name="upload-preview-drop-copy">
            <a:extLst xmlns:a="http://schemas.openxmlformats.org/drawingml/2006/main">
              <a:ext uri="{FF2B5EF4-FFF2-40B4-BE49-F238E27FC236}">
                <a16:creationId xmlns:a16="http://schemas.microsoft.com/office/drawing/2014/main" id="{C54D13CC-D342-44B7-B6CE-9199FB78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48175"/>
            <a:ext cx="193128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Choose a clear photo</a:t>
            </a:r>
          </a:p>
          <a:p xmlns:a="http://schemas.openxmlformats.org/drawingml/2006/main">
            <a: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JPG, PNG, BMP or WEBP</a:t>
            </a:r>
          </a:p>
        </p:txBody>
      </p:sp>
      <p:sp>
        <p:nvSpPr>
          <p:cNvPr id="26" name="upload-preview-action">
            <a:extLst xmlns:a="http://schemas.openxmlformats.org/drawingml/2006/main">
              <a:ext uri="{FF2B5EF4-FFF2-40B4-BE49-F238E27FC236}">
                <a16:creationId xmlns:a16="http://schemas.microsoft.com/office/drawing/2014/main" id="{D6695987-ECAF-4A16-8CC3-04E3A2E1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53025"/>
            <a:ext cx="2140077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upload-preview-action-copy">
            <a:extLst xmlns:a="http://schemas.openxmlformats.org/drawingml/2006/main">
              <a:ext uri="{FF2B5EF4-FFF2-40B4-BE49-F238E27FC236}">
                <a16:creationId xmlns:a16="http://schemas.microsoft.com/office/drawing/2014/main" id="{65157A04-4439-4A85-800D-8AA7168B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19700"/>
            <a:ext cx="208788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category</a:t>
            </a:r>
          </a:p>
        </p:txBody>
      </p:sp>
      <p:sp>
        <p:nvSpPr>
          <p:cNvPr id="28" name="upload-preview-result-panel">
            <a:extLst xmlns:a="http://schemas.openxmlformats.org/drawingml/2006/main">
              <a:ext uri="{FF2B5EF4-FFF2-40B4-BE49-F238E27FC236}">
                <a16:creationId xmlns:a16="http://schemas.microsoft.com/office/drawing/2014/main" id="{F4825848-1620-460A-AB2A-6511C701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044" y="3581400"/>
            <a:ext cx="2296668" cy="1838325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5F8F4"/>
          </a:solidFill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29" name="upload-preview-result-kicker">
            <a:extLst xmlns:a="http://schemas.openxmlformats.org/drawingml/2006/main">
              <a:ext uri="{FF2B5EF4-FFF2-40B4-BE49-F238E27FC236}">
                <a16:creationId xmlns:a16="http://schemas.microsoft.com/office/drawing/2014/main" id="{1CDD2314-FCEE-4D05-8D75-AA201AA1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294" y="3676650"/>
            <a:ext cx="208788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865E"/>
                </a:solidFill>
                <a:latin typeface="Arial"/>
                <a:ea typeface="Arial"/>
                <a:cs typeface="Arial"/>
              </a:rPr>
              <a:t>SCAN RESULT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10D783-BC50-4E81-9866-8CC1D8555E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13916a2054d34"/>
          <a:srcRect xmlns:a="http://schemas.openxmlformats.org/drawingml/2006/main" l="0" t="34623" r="0" b="34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95294" y="3895725"/>
            <a:ext cx="2087880" cy="857250"/>
          </a:xfrm>
          <a:prstGeom xmlns:a="http://schemas.openxmlformats.org/drawingml/2006/main" prst="rect">
            <a:avLst/>
          </a:prstGeom>
        </p:spPr>
      </p:pic>
      <p:sp>
        <p:nvSpPr>
          <p:cNvPr id="31" name="upload-preview-class">
            <a:extLst xmlns:a="http://schemas.openxmlformats.org/drawingml/2006/main">
              <a:ext uri="{FF2B5EF4-FFF2-40B4-BE49-F238E27FC236}">
                <a16:creationId xmlns:a16="http://schemas.microsoft.com/office/drawing/2014/main" id="{B9FC3C39-D5F4-4B12-A78E-3FD04703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294" y="4810125"/>
            <a:ext cx="2087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Plastic</a:t>
            </a:r>
          </a:p>
        </p:txBody>
      </p:sp>
      <p:sp>
        <p:nvSpPr>
          <p:cNvPr id="32" name="upload-preview-confidence">
            <a:extLst xmlns:a="http://schemas.openxmlformats.org/drawingml/2006/main">
              <a:ext uri="{FF2B5EF4-FFF2-40B4-BE49-F238E27FC236}">
                <a16:creationId xmlns:a16="http://schemas.microsoft.com/office/drawing/2014/main" id="{E5169FAA-8BB7-49B6-A5EA-E4EA0BBE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294" y="5057775"/>
            <a:ext cx="208788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Likely category · sample preview</a:t>
            </a:r>
          </a:p>
        </p:txBody>
      </p:sp>
      <p:sp>
        <p:nvSpPr>
          <p:cNvPr id="33" name="camera-preview-frame">
            <a:extLst xmlns:a="http://schemas.openxmlformats.org/drawingml/2006/main">
              <a:ext uri="{FF2B5EF4-FFF2-40B4-BE49-F238E27FC236}">
                <a16:creationId xmlns:a16="http://schemas.microsoft.com/office/drawing/2014/main" id="{A697C4E0-A4A3-4823-A0B9-A2673806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2862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34" name="camera-preview-chrome">
            <a:extLst xmlns:a="http://schemas.openxmlformats.org/drawingml/2006/main">
              <a:ext uri="{FF2B5EF4-FFF2-40B4-BE49-F238E27FC236}">
                <a16:creationId xmlns:a16="http://schemas.microsoft.com/office/drawing/2014/main" id="{D3606569-1849-4A65-802C-49F7FDC8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amera-preview-dot-0">
            <a:extLst xmlns:a="http://schemas.openxmlformats.org/drawingml/2006/main">
              <a:ext uri="{FF2B5EF4-FFF2-40B4-BE49-F238E27FC236}">
                <a16:creationId xmlns:a16="http://schemas.microsoft.com/office/drawing/2014/main" id="{EC8C227A-026D-47C1-93F3-90FACECC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09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amera-preview-dot-1">
            <a:extLst xmlns:a="http://schemas.openxmlformats.org/drawingml/2006/main">
              <a:ext uri="{FF2B5EF4-FFF2-40B4-BE49-F238E27FC236}">
                <a16:creationId xmlns:a16="http://schemas.microsoft.com/office/drawing/2014/main" id="{2088949F-4415-4ACC-A84D-AFCF0CE8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609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DC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amera-preview-dot-2">
            <a:extLst xmlns:a="http://schemas.openxmlformats.org/drawingml/2006/main">
              <a:ext uri="{FF2B5EF4-FFF2-40B4-BE49-F238E27FC236}">
                <a16:creationId xmlns:a16="http://schemas.microsoft.com/office/drawing/2014/main" id="{9DD72B8D-41CD-431D-AFCB-9FA23787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9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8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mera-preview-brand-mark">
            <a:extLst xmlns:a="http://schemas.openxmlformats.org/drawingml/2006/main">
              <a:ext uri="{FF2B5EF4-FFF2-40B4-BE49-F238E27FC236}">
                <a16:creationId xmlns:a16="http://schemas.microsoft.com/office/drawing/2014/main" id="{94E5A496-708E-4708-BCEC-FF7C0F84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24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amera-preview-brand">
            <a:extLst xmlns:a="http://schemas.openxmlformats.org/drawingml/2006/main">
              <a:ext uri="{FF2B5EF4-FFF2-40B4-BE49-F238E27FC236}">
                <a16:creationId xmlns:a16="http://schemas.microsoft.com/office/drawing/2014/main" id="{3F222353-16C9-42E6-B0B2-9392056F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335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EcoSort AI</a:t>
            </a:r>
          </a:p>
        </p:txBody>
      </p:sp>
      <p:sp>
        <p:nvSpPr>
          <p:cNvPr id="40" name="camera-preview-eyebrow">
            <a:extLst xmlns:a="http://schemas.openxmlformats.org/drawingml/2006/main">
              <a:ext uri="{FF2B5EF4-FFF2-40B4-BE49-F238E27FC236}">
                <a16:creationId xmlns:a16="http://schemas.microsoft.com/office/drawing/2014/main" id="{DB3C4E7F-1C89-4416-A985-D623ED4A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865E"/>
                </a:solidFill>
                <a:latin typeface="Arial"/>
                <a:ea typeface="Arial"/>
                <a:cs typeface="Arial"/>
              </a:rPr>
              <a:t>AI-POWERED WASTE SORTING</a:t>
            </a:r>
          </a:p>
        </p:txBody>
      </p:sp>
      <p:sp>
        <p:nvSpPr>
          <p:cNvPr id="41" name="camera-preview-headline">
            <a:extLst xmlns:a="http://schemas.openxmlformats.org/drawingml/2006/main">
              <a:ext uri="{FF2B5EF4-FFF2-40B4-BE49-F238E27FC236}">
                <a16:creationId xmlns:a16="http://schemas.microsoft.com/office/drawing/2014/main" id="{A9D23835-70CE-4FB5-96CE-9434D60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83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Point. Scan. Sort.</a:t>
            </a:r>
          </a:p>
        </p:txBody>
      </p:sp>
      <p:sp>
        <p:nvSpPr>
          <p:cNvPr id="42" name="camera-preview-subhead">
            <a:extLst xmlns:a="http://schemas.openxmlformats.org/drawingml/2006/main">
              <a:ext uri="{FF2B5EF4-FFF2-40B4-BE49-F238E27FC236}">
                <a16:creationId xmlns:a16="http://schemas.microsoft.com/office/drawing/2014/main" id="{A2C70893-17F9-41C6-A436-78920682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3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Capture an item, review it, then predict.</a:t>
            </a:r>
          </a:p>
        </p:txBody>
      </p:sp>
      <p:sp>
        <p:nvSpPr>
          <p:cNvPr id="43" name="camera-preview-tab-active">
            <a:extLst xmlns:a="http://schemas.openxmlformats.org/drawingml/2006/main">
              <a:ext uri="{FF2B5EF4-FFF2-40B4-BE49-F238E27FC236}">
                <a16:creationId xmlns:a16="http://schemas.microsoft.com/office/drawing/2014/main" id="{03C6B64C-4A70-40A0-A740-55A23E99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2409825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amera-preview-tab-inactive">
            <a:extLst xmlns:a="http://schemas.openxmlformats.org/drawingml/2006/main">
              <a:ext uri="{FF2B5EF4-FFF2-40B4-BE49-F238E27FC236}">
                <a16:creationId xmlns:a16="http://schemas.microsoft.com/office/drawing/2014/main" id="{D448CF92-C13A-4AF8-AED0-82C9585C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00400"/>
            <a:ext cx="2409825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0F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amera-preview-tab-upload">
            <a:extLst xmlns:a="http://schemas.openxmlformats.org/drawingml/2006/main">
              <a:ext uri="{FF2B5EF4-FFF2-40B4-BE49-F238E27FC236}">
                <a16:creationId xmlns:a16="http://schemas.microsoft.com/office/drawing/2014/main" id="{677CE1FA-5A53-4069-8424-8B0EAF32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2390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Upload a photo</a:t>
            </a:r>
          </a:p>
        </p:txBody>
      </p:sp>
      <p:sp>
        <p:nvSpPr>
          <p:cNvPr id="46" name="camera-preview-tab-camera">
            <a:extLst xmlns:a="http://schemas.openxmlformats.org/drawingml/2006/main">
              <a:ext uri="{FF2B5EF4-FFF2-40B4-BE49-F238E27FC236}">
                <a16:creationId xmlns:a16="http://schemas.microsoft.com/office/drawing/2014/main" id="{0699E0CC-BE46-401B-9C62-187E0ADD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57550"/>
            <a:ext cx="2390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Scan live</a:t>
            </a:r>
          </a:p>
        </p:txBody>
      </p:sp>
      <p:sp>
        <p:nvSpPr>
          <p:cNvPr id="47" name="camera-preview-left-panel">
            <a:extLst xmlns:a="http://schemas.openxmlformats.org/drawingml/2006/main">
              <a:ext uri="{FF2B5EF4-FFF2-40B4-BE49-F238E27FC236}">
                <a16:creationId xmlns:a16="http://schemas.microsoft.com/office/drawing/2014/main" id="{D9BF858B-AF49-4EEE-9643-85C2E2E3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81400"/>
            <a:ext cx="2453259" cy="1838325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48" name="camera-preview-panel-title">
            <a:extLst xmlns:a="http://schemas.openxmlformats.org/drawingml/2006/main">
              <a:ext uri="{FF2B5EF4-FFF2-40B4-BE49-F238E27FC236}">
                <a16:creationId xmlns:a16="http://schemas.microsoft.com/office/drawing/2014/main" id="{EE2A4788-0CE3-489B-A8AA-45579288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224447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Live camera</a:t>
            </a:r>
          </a:p>
        </p:txBody>
      </p:sp>
      <p:sp>
        <p:nvSpPr>
          <p:cNvPr id="49" name="camera-preview-camera-instructions">
            <a:extLst xmlns:a="http://schemas.openxmlformats.org/drawingml/2006/main">
              <a:ext uri="{FF2B5EF4-FFF2-40B4-BE49-F238E27FC236}">
                <a16:creationId xmlns:a16="http://schemas.microsoft.com/office/drawing/2014/main" id="{92F97125-C510-4165-877A-4F6836C2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90975"/>
            <a:ext cx="224447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Center one item in the camera preview.</a:t>
            </a:r>
          </a:p>
        </p:txBody>
      </p:sp>
      <p:sp>
        <p:nvSpPr>
          <p:cNvPr id="50" name="camera-preview-capture">
            <a:extLst xmlns:a="http://schemas.openxmlformats.org/drawingml/2006/main">
              <a:ext uri="{FF2B5EF4-FFF2-40B4-BE49-F238E27FC236}">
                <a16:creationId xmlns:a16="http://schemas.microsoft.com/office/drawing/2014/main" id="{1638658F-0BC9-47C6-B5AA-E9ECA31D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2140077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amera-preview-capture-label">
            <a:extLst xmlns:a="http://schemas.openxmlformats.org/drawingml/2006/main">
              <a:ext uri="{FF2B5EF4-FFF2-40B4-BE49-F238E27FC236}">
                <a16:creationId xmlns:a16="http://schemas.microsoft.com/office/drawing/2014/main" id="{694E145B-7992-4DD4-AADE-F3D4FC81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57700"/>
            <a:ext cx="20878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Capture photo</a:t>
            </a:r>
          </a:p>
        </p:txBody>
      </p:sp>
      <p:sp>
        <p:nvSpPr>
          <p:cNvPr id="52" name="camera-preview-review-note">
            <a:extLst xmlns:a="http://schemas.openxmlformats.org/drawingml/2006/main">
              <a:ext uri="{FF2B5EF4-FFF2-40B4-BE49-F238E27FC236}">
                <a16:creationId xmlns:a16="http://schemas.microsoft.com/office/drawing/2014/main" id="{C0A09F9B-B7CE-4350-AF6B-3016D5BE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2244471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Review the captured image, then select Predict image.</a:t>
            </a:r>
          </a:p>
        </p:txBody>
      </p:sp>
      <p:sp>
        <p:nvSpPr>
          <p:cNvPr id="53" name="camera-preview-result-panel">
            <a:extLst xmlns:a="http://schemas.openxmlformats.org/drawingml/2006/main">
              <a:ext uri="{FF2B5EF4-FFF2-40B4-BE49-F238E27FC236}">
                <a16:creationId xmlns:a16="http://schemas.microsoft.com/office/drawing/2014/main" id="{77B6F545-A242-4773-8B7F-23FF5F74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744" y="3581400"/>
            <a:ext cx="2296668" cy="1838325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5F8F4"/>
          </a:solidFill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54" name="camera-preview-result-kicker">
            <a:extLst xmlns:a="http://schemas.openxmlformats.org/drawingml/2006/main">
              <a:ext uri="{FF2B5EF4-FFF2-40B4-BE49-F238E27FC236}">
                <a16:creationId xmlns:a16="http://schemas.microsoft.com/office/drawing/2014/main" id="{0D33D920-6243-4B56-9A17-BA40EAE7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994" y="3676650"/>
            <a:ext cx="208788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865E"/>
                </a:solidFill>
                <a:latin typeface="Arial"/>
                <a:ea typeface="Arial"/>
                <a:cs typeface="Arial"/>
              </a:rPr>
              <a:t>CAPTURE REVIEW</a:t>
            </a:r>
          </a:p>
        </p:txBody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124028-5A26-4AA6-A27C-E30CA125A9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542fc25984b62"/>
          <a:srcRect xmlns:a="http://schemas.openxmlformats.org/drawingml/2006/main" l="0" t="31889" r="0" b="31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95994" y="3895725"/>
            <a:ext cx="2087880" cy="1009650"/>
          </a:xfrm>
          <a:prstGeom xmlns:a="http://schemas.openxmlformats.org/drawingml/2006/main" prst="rect">
            <a:avLst/>
          </a:prstGeom>
        </p:spPr>
      </p:pic>
      <p:sp>
        <p:nvSpPr>
          <p:cNvPr id="56" name="camera-preview-class">
            <a:extLst xmlns:a="http://schemas.openxmlformats.org/drawingml/2006/main">
              <a:ext uri="{FF2B5EF4-FFF2-40B4-BE49-F238E27FC236}">
                <a16:creationId xmlns:a16="http://schemas.microsoft.com/office/drawing/2014/main" id="{88A23BB0-2D71-4B20-95F7-9300EA6F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994" y="4962525"/>
            <a:ext cx="2087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Captured item</a:t>
            </a:r>
          </a:p>
        </p:txBody>
      </p:sp>
      <p:sp>
        <p:nvSpPr>
          <p:cNvPr id="57" name="camera-preview-confidence">
            <a:extLst xmlns:a="http://schemas.openxmlformats.org/drawingml/2006/main">
              <a:ext uri="{FF2B5EF4-FFF2-40B4-BE49-F238E27FC236}">
                <a16:creationId xmlns:a16="http://schemas.microsoft.com/office/drawing/2014/main" id="{D8C6313C-4A60-457A-ACA1-C66922DC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994" y="5191125"/>
            <a:ext cx="208788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Ready for prediction</a:t>
            </a:r>
          </a:p>
        </p:txBody>
      </p:sp>
      <p:sp>
        <p:nvSpPr>
          <p:cNvPr id="58" name="upload-preview-caption">
            <a:extLst xmlns:a="http://schemas.openxmlformats.org/drawingml/2006/main">
              <a:ext uri="{FF2B5EF4-FFF2-40B4-BE49-F238E27FC236}">
                <a16:creationId xmlns:a16="http://schemas.microsoft.com/office/drawing/2014/main" id="{F8276BE9-3D19-447E-9436-A13FF846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UPLOAD SCREEN  /  Interface preview</a:t>
            </a:r>
          </a:p>
        </p:txBody>
      </p:sp>
      <p:sp>
        <p:nvSpPr>
          <p:cNvPr id="59" name="camera-preview-caption">
            <a:extLst xmlns:a="http://schemas.openxmlformats.org/drawingml/2006/main">
              <a:ext uri="{FF2B5EF4-FFF2-40B4-BE49-F238E27FC236}">
                <a16:creationId xmlns:a16="http://schemas.microsoft.com/office/drawing/2014/main" id="{E26844FC-D097-4DCB-BA9F-ED8A0C85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05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6F57"/>
                </a:solidFill>
                <a:latin typeface="Arial"/>
                <a:ea typeface="Arial"/>
                <a:cs typeface="Arial"/>
              </a:rPr>
              <a:t>CAMERA SCREEN  /  Interface preview</a:t>
            </a:r>
          </a:p>
        </p:txBody>
      </p:sp>
    </p:spTree>
    <p:extLst>
      <p:ext uri="{BB962C8B-B14F-4D97-AF65-F5344CB8AC3E}">
        <p14:creationId xmlns:p14="http://schemas.microsoft.com/office/powerpoint/2010/main" val="2116876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accent-9">
            <a:extLst xmlns:a="http://schemas.openxmlformats.org/drawingml/2006/main">
              <a:ext uri="{FF2B5EF4-FFF2-40B4-BE49-F238E27FC236}">
                <a16:creationId xmlns:a16="http://schemas.microsoft.com/office/drawing/2014/main" id="{464BA51B-669E-41E6-B8F1-FE245E75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A7B95B3D-AF12-4062-99B4-8287BC68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Implementation: Application Architecture</a:t>
            </a:r>
          </a:p>
        </p:txBody>
      </p:sp>
      <p:sp>
        <p:nvSpPr>
          <p:cNvPr id="3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59DDDECE-E479-4387-A028-25C2D4BF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The browser captures or uploads an image. Flask runs TensorFlow inference and returns ranked labels.</a:t>
            </a:r>
          </a:p>
        </p:txBody>
      </p:sp>
      <p:sp>
        <p:nvSpPr>
          <p:cNvPr id="4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01B2231A-28D1-4BEB-9CFA-A50A9183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5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CD0C0AA8-71B3-4D2D-9DFC-591C1066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/  COLLEGE PROJECT</a:t>
            </a:r>
          </a:p>
        </p:txBody>
      </p:sp>
      <p:sp>
        <p:nvSpPr>
          <p:cNvPr id="6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F86489C2-6D41-419A-9C66-E3D42847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arch-box-0">
            <a:extLst xmlns:a="http://schemas.openxmlformats.org/drawingml/2006/main">
              <a:ext uri="{FF2B5EF4-FFF2-40B4-BE49-F238E27FC236}">
                <a16:creationId xmlns:a16="http://schemas.microsoft.com/office/drawing/2014/main" id="{04E38336-A1E8-4A6E-8E8A-68797978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286000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2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47CDE880-FAD7-4CC0-A980-AD49FE4C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9" name="arch-detail-0">
            <a:extLst xmlns:a="http://schemas.openxmlformats.org/drawingml/2006/main">
              <a:ext uri="{FF2B5EF4-FFF2-40B4-BE49-F238E27FC236}">
                <a16:creationId xmlns:a16="http://schemas.microsoft.com/office/drawing/2014/main" id="{0576115B-4464-4EC5-88F8-06BE9330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Photo upload</a:t>
            </a:r>
          </a:p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Camera preview</a:t>
            </a:r>
          </a:p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Captured still</a:t>
            </a:r>
          </a:p>
        </p:txBody>
      </p:sp>
      <p:sp>
        <p:nvSpPr>
          <p:cNvPr id="10" name="arch-link-0">
            <a:extLst xmlns:a="http://schemas.openxmlformats.org/drawingml/2006/main">
              <a:ext uri="{FF2B5EF4-FFF2-40B4-BE49-F238E27FC236}">
                <a16:creationId xmlns:a16="http://schemas.microsoft.com/office/drawing/2014/main" id="{D1B2744F-E395-4ED6-84F2-769E4851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8607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86A2"/>
            </a:solidFill>
            <a:prstDash val="solid"/>
          </a:ln>
        </p:spPr>
      </p:sp>
      <p:sp>
        <p:nvSpPr>
          <p:cNvPr id="11" name="arch-box-1">
            <a:extLst xmlns:a="http://schemas.openxmlformats.org/drawingml/2006/main">
              <a:ext uri="{FF2B5EF4-FFF2-40B4-BE49-F238E27FC236}">
                <a16:creationId xmlns:a16="http://schemas.microsoft.com/office/drawing/2014/main" id="{9367935F-4410-4EF3-8D3B-6AD5BB88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05000"/>
            <a:ext cx="2286000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0F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18860961-464D-4E0B-8328-76DDCF76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431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Flask app</a:t>
            </a:r>
          </a:p>
        </p:txBody>
      </p:sp>
      <p:sp>
        <p:nvSpPr>
          <p:cNvPr id="13" name="arch-detail-1">
            <a:extLst xmlns:a="http://schemas.openxmlformats.org/drawingml/2006/main">
              <a:ext uri="{FF2B5EF4-FFF2-40B4-BE49-F238E27FC236}">
                <a16:creationId xmlns:a16="http://schemas.microsoft.com/office/drawing/2014/main" id="{2E509443-AC16-443F-B86B-033C495E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6225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Validate request</a:t>
            </a:r>
          </a:p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Choose saved model</a:t>
            </a:r>
          </a:p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Return response</a:t>
            </a:r>
          </a:p>
        </p:txBody>
      </p:sp>
      <p:sp>
        <p:nvSpPr>
          <p:cNvPr id="14" name="arch-link-1">
            <a:extLst xmlns:a="http://schemas.openxmlformats.org/drawingml/2006/main">
              <a:ext uri="{FF2B5EF4-FFF2-40B4-BE49-F238E27FC236}">
                <a16:creationId xmlns:a16="http://schemas.microsoft.com/office/drawing/2014/main" id="{D8CB6652-15FC-47A7-BF17-57BEA266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8607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86A2"/>
            </a:solidFill>
            <a:prstDash val="solid"/>
          </a:ln>
        </p:spPr>
      </p:sp>
      <p:sp>
        <p:nvSpPr>
          <p:cNvPr id="15" name="arch-box-2">
            <a:extLst xmlns:a="http://schemas.openxmlformats.org/drawingml/2006/main">
              <a:ext uri="{FF2B5EF4-FFF2-40B4-BE49-F238E27FC236}">
                <a16:creationId xmlns:a16="http://schemas.microsoft.com/office/drawing/2014/main" id="{D1DF00A7-DC30-4F05-AB4B-B08CB7E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05000"/>
            <a:ext cx="2286000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CEB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D718CC9E-3EE0-40BC-A274-2F06FEFC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Image pipeline</a:t>
            </a:r>
          </a:p>
        </p:txBody>
      </p:sp>
      <p:sp>
        <p:nvSpPr>
          <p:cNvPr id="17" name="arch-detail-2">
            <a:extLst xmlns:a="http://schemas.openxmlformats.org/drawingml/2006/main">
              <a:ext uri="{FF2B5EF4-FFF2-40B4-BE49-F238E27FC236}">
                <a16:creationId xmlns:a16="http://schemas.microsoft.com/office/drawing/2014/main" id="{709710DB-AB07-49CB-A1A7-2336EB35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6225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Decode image</a:t>
            </a:r>
          </a:p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RGB conversion</a:t>
            </a:r>
          </a:p>
          <a:p xmlns:a="http://schemas.openxmlformats.org/drawingml/2006/main"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Resize to 224 x 224</a:t>
            </a:r>
          </a:p>
        </p:txBody>
      </p:sp>
      <p:sp>
        <p:nvSpPr>
          <p:cNvPr id="18" name="arch-link-2">
            <a:extLst xmlns:a="http://schemas.openxmlformats.org/drawingml/2006/main">
              <a:ext uri="{FF2B5EF4-FFF2-40B4-BE49-F238E27FC236}">
                <a16:creationId xmlns:a16="http://schemas.microsoft.com/office/drawing/2014/main" id="{484AD953-F03A-409D-A59F-DEB56927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8607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86A2"/>
            </a:solidFill>
            <a:prstDash val="solid"/>
          </a:ln>
        </p:spPr>
      </p:sp>
      <p:sp>
        <p:nvSpPr>
          <p:cNvPr id="19" name="arch-box-3">
            <a:extLst xmlns:a="http://schemas.openxmlformats.org/drawingml/2006/main">
              <a:ext uri="{FF2B5EF4-FFF2-40B4-BE49-F238E27FC236}">
                <a16:creationId xmlns:a16="http://schemas.microsoft.com/office/drawing/2014/main" id="{D20095A9-F764-4588-9E04-10B1917D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05000"/>
            <a:ext cx="1962150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0D3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2EBDA066-E87B-46B5-AD3D-48777E3E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431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Keras model</a:t>
            </a:r>
          </a:p>
        </p:txBody>
      </p:sp>
      <p:sp>
        <p:nvSpPr>
          <p:cNvPr id="21" name="arch-detail-3">
            <a:extLst xmlns:a="http://schemas.openxmlformats.org/drawingml/2006/main">
              <a:ext uri="{FF2B5EF4-FFF2-40B4-BE49-F238E27FC236}">
                <a16:creationId xmlns:a16="http://schemas.microsoft.com/office/drawing/2014/main" id="{6CF5E092-4C59-4D45-811A-F5AB36D9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62250"/>
            <a:ext cx="1657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Class probabilities</a:t>
            </a:r>
          </a:p>
          <a:p xmlns:a="http://schemas.openxmlformats.org/drawingml/2006/main">
            <a: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Top five predictions</a:t>
            </a:r>
          </a:p>
        </p:txBody>
      </p:sp>
      <p:sp>
        <p:nvSpPr>
          <p:cNvPr id="22" name="arch-endpoint-band">
            <a:extLst xmlns:a="http://schemas.openxmlformats.org/drawingml/2006/main">
              <a:ext uri="{FF2B5EF4-FFF2-40B4-BE49-F238E27FC236}">
                <a16:creationId xmlns:a16="http://schemas.microsoft.com/office/drawing/2014/main" id="{19F57B6B-4E50-4676-95CC-D23C4998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23" name="arch-endpoint-label">
            <a:extLst xmlns:a="http://schemas.openxmlformats.org/drawingml/2006/main">
              <a:ext uri="{FF2B5EF4-FFF2-40B4-BE49-F238E27FC236}">
                <a16:creationId xmlns:a16="http://schemas.microsoft.com/office/drawing/2014/main" id="{819D9A43-8FF0-4BED-A758-753F28EB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CAMERA API</a:t>
            </a:r>
          </a:p>
        </p:txBody>
      </p:sp>
      <p:sp>
        <p:nvSpPr>
          <p:cNvPr id="24" name="arch-endpoint">
            <a:extLst xmlns:a="http://schemas.openxmlformats.org/drawingml/2006/main">
              <a:ext uri="{FF2B5EF4-FFF2-40B4-BE49-F238E27FC236}">
                <a16:creationId xmlns:a16="http://schemas.microsoft.com/office/drawing/2014/main" id="{72326BD8-AA5B-4722-98A1-DA93A5FB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196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POST /api/predict-frame</a:t>
            </a:r>
          </a:p>
        </p:txBody>
      </p:sp>
      <p:sp>
        <p:nvSpPr>
          <p:cNvPr id="25" name="arch-endpoint-detail">
            <a:extLst xmlns:a="http://schemas.openxmlformats.org/drawingml/2006/main">
              <a:ext uri="{FF2B5EF4-FFF2-40B4-BE49-F238E27FC236}">
                <a16:creationId xmlns:a16="http://schemas.microsoft.com/office/drawing/2014/main" id="{95182756-38BB-4C70-BA21-6C3994B6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19675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025"/>
          </a:bodyPr>
          <a:lstStyle xmlns:a="http://schemas.openxmlformats.org/drawingml/2006/main">
            <a:def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Accepts the selected model and a captured JPEG data URL. The response contains the top label and up to five scores.</a:t>
            </a:r>
          </a:p>
        </p:txBody>
      </p:sp>
    </p:spTree>
    <p:extLst>
      <p:ext uri="{BB962C8B-B14F-4D97-AF65-F5344CB8AC3E}">
        <p14:creationId xmlns:p14="http://schemas.microsoft.com/office/powerpoint/2010/main" val="2026943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-10">
            <a:extLst xmlns:a="http://schemas.openxmlformats.org/drawingml/2006/main">
              <a:ext uri="{FF2B5EF4-FFF2-40B4-BE49-F238E27FC236}">
                <a16:creationId xmlns:a16="http://schemas.microsoft.com/office/drawing/2014/main" id="{C095057D-BB87-4050-B333-7750B74E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BE9B04EE-2078-43ED-992C-E722854B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Implementation: Mobile App and Deployment</a:t>
            </a:r>
          </a:p>
        </p:txBody>
      </p:sp>
      <p:sp>
        <p:nvSpPr>
          <p:cNvPr id="3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AB4C91AF-D08C-46F8-826E-CE40730D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The project runs as an installable web app. The model stays on the server and needs a network connection.</a:t>
            </a:r>
          </a:p>
        </p:txBody>
      </p:sp>
      <p:sp>
        <p:nvSpPr>
          <p:cNvPr id="4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F79F720E-D4B8-45DB-B1B9-D4110912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5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96C53540-DF64-49C5-8FDC-9833B33B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/  COLLEGE PROJECT</a:t>
            </a:r>
          </a:p>
        </p:txBody>
      </p:sp>
      <p:sp>
        <p:nvSpPr>
          <p:cNvPr id="6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ABEC641C-A6AE-4B68-BAB3-5B3430E4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mobile-left-head">
            <a:extLst xmlns:a="http://schemas.openxmlformats.org/drawingml/2006/main">
              <a:ext uri="{FF2B5EF4-FFF2-40B4-BE49-F238E27FC236}">
                <a16:creationId xmlns:a16="http://schemas.microsoft.com/office/drawing/2014/main" id="{D9A0C0BE-844F-448F-857F-AC2612A5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Mobile experience</a:t>
            </a:r>
          </a:p>
        </p:txBody>
      </p:sp>
      <p:sp>
        <p:nvSpPr>
          <p:cNvPr id="8" name="mobile-left-list">
            <a:extLst xmlns:a="http://schemas.openxmlformats.org/drawingml/2006/main">
              <a:ext uri="{FF2B5EF4-FFF2-40B4-BE49-F238E27FC236}">
                <a16:creationId xmlns:a16="http://schemas.microsoft.com/office/drawing/2014/main" id="{734CB72C-B2DA-45FB-B798-50A3D6C7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Responsive layout for phone and desktop screens.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PWA manifest, app icon, and service worker for the web shell.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Rear-facing camera is preferred when the browser supports it.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HTTPS is required for camera access on a hosted site.</a:t>
            </a:r>
          </a:p>
        </p:txBody>
      </p:sp>
      <p:sp>
        <p:nvSpPr>
          <p:cNvPr id="9" name="mobile-column-rule">
            <a:extLst xmlns:a="http://schemas.openxmlformats.org/drawingml/2006/main">
              <a:ext uri="{FF2B5EF4-FFF2-40B4-BE49-F238E27FC236}">
                <a16:creationId xmlns:a16="http://schemas.microsoft.com/office/drawing/2014/main" id="{85433D0D-DCF7-4967-96AB-1F37B9CE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76400"/>
            <a:ext cx="0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D9"/>
            </a:solidFill>
            <a:prstDash val="solid"/>
          </a:ln>
        </p:spPr>
      </p:sp>
      <p:sp>
        <p:nvSpPr>
          <p:cNvPr id="10" name="mobile-right-head">
            <a:extLst xmlns:a="http://schemas.openxmlformats.org/drawingml/2006/main">
              <a:ext uri="{FF2B5EF4-FFF2-40B4-BE49-F238E27FC236}">
                <a16:creationId xmlns:a16="http://schemas.microsoft.com/office/drawing/2014/main" id="{473AD557-B28E-4F77-9DAC-23387DD7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Hosting configuration</a:t>
            </a:r>
          </a:p>
        </p:txBody>
      </p:sp>
      <p:sp>
        <p:nvSpPr>
          <p:cNvPr id="11" name="mobile-runtime">
            <a:extLst xmlns:a="http://schemas.openxmlformats.org/drawingml/2006/main">
              <a:ext uri="{FF2B5EF4-FFF2-40B4-BE49-F238E27FC236}">
                <a16:creationId xmlns:a16="http://schemas.microsoft.com/office/drawing/2014/main" id="{FBFE6E8C-7477-44F7-AD4E-DE83FAAA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Python 3.11.9</a:t>
            </a:r>
          </a:p>
        </p:txBody>
      </p:sp>
      <p:sp>
        <p:nvSpPr>
          <p:cNvPr id="12" name="mobile-runtime-detail">
            <a:extLst xmlns:a="http://schemas.openxmlformats.org/drawingml/2006/main">
              <a:ext uri="{FF2B5EF4-FFF2-40B4-BE49-F238E27FC236}">
                <a16:creationId xmlns:a16="http://schemas.microsoft.com/office/drawing/2014/main" id="{DE1BFA83-F842-42C0-A857-642AA814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Pinned for TensorFlow package compatibility.</a:t>
            </a:r>
          </a:p>
        </p:txBody>
      </p:sp>
      <p:sp>
        <p:nvSpPr>
          <p:cNvPr id="13" name="mobile-command">
            <a:extLst xmlns:a="http://schemas.openxmlformats.org/drawingml/2006/main">
              <a:ext uri="{FF2B5EF4-FFF2-40B4-BE49-F238E27FC236}">
                <a16:creationId xmlns:a16="http://schemas.microsoft.com/office/drawing/2014/main" id="{2885D00A-5349-4925-87AD-518A618E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4810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gunicorn --bind 0.0.0.0:$PORT app:app</a:t>
            </a:r>
          </a:p>
        </p:txBody>
      </p:sp>
      <p:sp>
        <p:nvSpPr>
          <p:cNvPr id="14" name="mobile-deploy-detail">
            <a:extLst xmlns:a="http://schemas.openxmlformats.org/drawingml/2006/main">
              <a:ext uri="{FF2B5EF4-FFF2-40B4-BE49-F238E27FC236}">
                <a16:creationId xmlns:a16="http://schemas.microsoft.com/office/drawing/2014/main" id="{1DA315D1-996F-4CFE-BA71-27E4DB99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Render reads render.yaml, installs requirements.txt, then runs the Flask app through Gunicorn.</a:t>
            </a:r>
          </a:p>
        </p:txBody>
      </p:sp>
      <p:sp>
        <p:nvSpPr>
          <p:cNvPr id="15" name="mobile-online-note">
            <a:extLst xmlns:a="http://schemas.openxmlformats.org/drawingml/2006/main">
              <a:ext uri="{FF2B5EF4-FFF2-40B4-BE49-F238E27FC236}">
                <a16:creationId xmlns:a16="http://schemas.microsoft.com/office/drawing/2014/main" id="{F009609F-4E68-4BC2-8F6D-C5242468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00625"/>
            <a:ext cx="4619625" cy="762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B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obile-online-text">
            <a:extLst xmlns:a="http://schemas.openxmlformats.org/drawingml/2006/main">
              <a:ext uri="{FF2B5EF4-FFF2-40B4-BE49-F238E27FC236}">
                <a16:creationId xmlns:a16="http://schemas.microsoft.com/office/drawing/2014/main" id="{EEB52239-8BF7-4664-8412-D73C90CE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72075"/>
            <a:ext cx="4238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Camera permissions and predictions depend on a secure, reachable website.</a:t>
            </a:r>
          </a:p>
        </p:txBody>
      </p:sp>
    </p:spTree>
    <p:extLst>
      <p:ext uri="{BB962C8B-B14F-4D97-AF65-F5344CB8AC3E}">
        <p14:creationId xmlns:p14="http://schemas.microsoft.com/office/powerpoint/2010/main" val="12757403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-11">
            <a:extLst xmlns:a="http://schemas.openxmlformats.org/drawingml/2006/main">
              <a:ext uri="{FF2B5EF4-FFF2-40B4-BE49-F238E27FC236}">
                <a16:creationId xmlns:a16="http://schemas.microsoft.com/office/drawing/2014/main" id="{F05229AA-82DE-4BE8-ADF6-481B8468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0B7590DD-9941-42D7-AC59-3A0597C2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Team Roles</a:t>
            </a:r>
          </a:p>
        </p:txBody>
      </p:sp>
      <p:sp>
        <p:nvSpPr>
          <p:cNvPr id="3" name="slide-subtitle-11">
            <a:extLst xmlns:a="http://schemas.openxmlformats.org/drawingml/2006/main">
              <a:ext uri="{FF2B5EF4-FFF2-40B4-BE49-F238E27FC236}">
                <a16:creationId xmlns:a16="http://schemas.microsoft.com/office/drawing/2014/main" id="{5989FFAA-2104-4F43-9E84-794499ED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Suggested role allocation mapped to the project's machine learning, application, and presentation work.</a:t>
            </a:r>
          </a:p>
        </p:txBody>
      </p:sp>
      <p:sp>
        <p:nvSpPr>
          <p:cNvPr id="4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F5C8D381-3614-4EAE-A183-C3F0326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5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699041EB-CE2B-49E8-A629-25B43F6C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/  COLLEGE PROJECT</a:t>
            </a:r>
          </a:p>
        </p:txBody>
      </p:sp>
      <p:sp>
        <p:nvSpPr>
          <p:cNvPr id="6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549E6321-F094-404D-A0ED-E0749C3E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team-name-0">
            <a:extLst xmlns:a="http://schemas.openxmlformats.org/drawingml/2006/main">
              <a:ext uri="{FF2B5EF4-FFF2-40B4-BE49-F238E27FC236}">
                <a16:creationId xmlns:a16="http://schemas.microsoft.com/office/drawing/2014/main" id="{DF9B9AFE-E634-4F23-BFAD-64F25B6B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Arshpreet Singh</a:t>
            </a:r>
          </a:p>
        </p:txBody>
      </p:sp>
      <p:sp>
        <p:nvSpPr>
          <p:cNvPr id="8" name="team-role-underline-0">
            <a:extLst xmlns:a="http://schemas.openxmlformats.org/drawingml/2006/main">
              <a:ext uri="{FF2B5EF4-FFF2-40B4-BE49-F238E27FC236}">
                <a16:creationId xmlns:a16="http://schemas.microsoft.com/office/drawing/2014/main" id="{DD27F477-B5A0-4C75-827E-B2D050F5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4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am-role-0">
            <a:extLst xmlns:a="http://schemas.openxmlformats.org/drawingml/2006/main">
              <a:ext uri="{FF2B5EF4-FFF2-40B4-BE49-F238E27FC236}">
                <a16:creationId xmlns:a16="http://schemas.microsoft.com/office/drawing/2014/main" id="{17E330DC-6557-4770-922E-8DB897B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Dataset and ML</a:t>
            </a:r>
          </a:p>
        </p:txBody>
      </p:sp>
      <p:sp>
        <p:nvSpPr>
          <p:cNvPr id="10" name="team-tasks-0">
            <a:extLst xmlns:a="http://schemas.openxmlformats.org/drawingml/2006/main">
              <a:ext uri="{FF2B5EF4-FFF2-40B4-BE49-F238E27FC236}">
                <a16:creationId xmlns:a16="http://schemas.microsoft.com/office/drawing/2014/main" id="{1069AFFA-EFDD-4036-B481-005EE563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Dataset review</a:t>
            </a:r>
          </a:p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MobileNetV2 training</a:t>
            </a:r>
          </a:p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Class weighting</a:t>
            </a:r>
          </a:p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Model evaluation</a:t>
            </a:r>
          </a:p>
        </p:txBody>
      </p:sp>
      <p:sp>
        <p:nvSpPr>
          <p:cNvPr id="11" name="team-divider-0">
            <a:extLst xmlns:a="http://schemas.openxmlformats.org/drawingml/2006/main">
              <a:ext uri="{FF2B5EF4-FFF2-40B4-BE49-F238E27FC236}">
                <a16:creationId xmlns:a16="http://schemas.microsoft.com/office/drawing/2014/main" id="{EA4052A0-68FB-4C08-8B89-9B59BD49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924050"/>
            <a:ext cx="0" cy="3267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D9"/>
            </a:solidFill>
            <a:prstDash val="solid"/>
          </a:ln>
        </p:spPr>
      </p:sp>
      <p:sp>
        <p:nvSpPr>
          <p:cNvPr id="12" name="team-name-1">
            <a:extLst xmlns:a="http://schemas.openxmlformats.org/drawingml/2006/main">
              <a:ext uri="{FF2B5EF4-FFF2-40B4-BE49-F238E27FC236}">
                <a16:creationId xmlns:a16="http://schemas.microsoft.com/office/drawing/2014/main" id="{5F09A418-F4A5-4849-9BC7-9ADBFBEB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Sarbjit Singh</a:t>
            </a:r>
          </a:p>
        </p:txBody>
      </p:sp>
      <p:sp>
        <p:nvSpPr>
          <p:cNvPr id="13" name="team-role-underline-1">
            <a:extLst xmlns:a="http://schemas.openxmlformats.org/drawingml/2006/main">
              <a:ext uri="{FF2B5EF4-FFF2-40B4-BE49-F238E27FC236}">
                <a16:creationId xmlns:a16="http://schemas.microsoft.com/office/drawing/2014/main" id="{246CE9D9-D157-4BD3-A320-DCD78A18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64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6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am-role-1">
            <a:extLst xmlns:a="http://schemas.openxmlformats.org/drawingml/2006/main">
              <a:ext uri="{FF2B5EF4-FFF2-40B4-BE49-F238E27FC236}">
                <a16:creationId xmlns:a16="http://schemas.microsoft.com/office/drawing/2014/main" id="{57270D07-1551-4275-A7E5-AFF8202B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Backend and integration</a:t>
            </a:r>
          </a:p>
        </p:txBody>
      </p:sp>
      <p:sp>
        <p:nvSpPr>
          <p:cNvPr id="15" name="team-tasks-1">
            <a:extLst xmlns:a="http://schemas.openxmlformats.org/drawingml/2006/main">
              <a:ext uri="{FF2B5EF4-FFF2-40B4-BE49-F238E27FC236}">
                <a16:creationId xmlns:a16="http://schemas.microsoft.com/office/drawing/2014/main" id="{ABCAD717-1B53-4BC1-9FCF-C6CBE472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Flask routes and APIs</a:t>
            </a:r>
          </a:p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Model loading and inference</a:t>
            </a:r>
          </a:p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Upload and camera integration</a:t>
            </a:r>
          </a:p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Deployment configuration</a:t>
            </a:r>
          </a:p>
        </p:txBody>
      </p:sp>
      <p:sp>
        <p:nvSpPr>
          <p:cNvPr id="16" name="team-divider-1">
            <a:extLst xmlns:a="http://schemas.openxmlformats.org/drawingml/2006/main">
              <a:ext uri="{FF2B5EF4-FFF2-40B4-BE49-F238E27FC236}">
                <a16:creationId xmlns:a16="http://schemas.microsoft.com/office/drawing/2014/main" id="{9F902D55-6233-429B-A84A-8DABC9C9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24050"/>
            <a:ext cx="0" cy="3267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D9"/>
            </a:solidFill>
            <a:prstDash val="solid"/>
          </a:ln>
        </p:spPr>
      </p:sp>
      <p:sp>
        <p:nvSpPr>
          <p:cNvPr id="17" name="team-name-2">
            <a:extLst xmlns:a="http://schemas.openxmlformats.org/drawingml/2006/main">
              <a:ext uri="{FF2B5EF4-FFF2-40B4-BE49-F238E27FC236}">
                <a16:creationId xmlns:a16="http://schemas.microsoft.com/office/drawing/2014/main" id="{375D3BD7-8A4D-4D5B-AD0C-CD87519F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Pooja</a:t>
            </a:r>
          </a:p>
        </p:txBody>
      </p:sp>
      <p:sp>
        <p:nvSpPr>
          <p:cNvPr id="18" name="team-role-underline-2">
            <a:extLst xmlns:a="http://schemas.openxmlformats.org/drawingml/2006/main">
              <a:ext uri="{FF2B5EF4-FFF2-40B4-BE49-F238E27FC236}">
                <a16:creationId xmlns:a16="http://schemas.microsoft.com/office/drawing/2014/main" id="{401F32BE-6486-4955-8A8B-5A6F5ED3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64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am-role-2">
            <a:extLst xmlns:a="http://schemas.openxmlformats.org/drawingml/2006/main">
              <a:ext uri="{FF2B5EF4-FFF2-40B4-BE49-F238E27FC236}">
                <a16:creationId xmlns:a16="http://schemas.microsoft.com/office/drawing/2014/main" id="{93D05B01-5E84-4CF8-ACE7-404C0459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6F57"/>
                </a:solidFill>
                <a:latin typeface="Arial"/>
                <a:ea typeface="Arial"/>
                <a:cs typeface="Arial"/>
              </a:rPr>
              <a:t>UI, testing, and documentation</a:t>
            </a:r>
          </a:p>
        </p:txBody>
      </p:sp>
      <p:sp>
        <p:nvSpPr>
          <p:cNvPr id="20" name="team-tasks-2">
            <a:extLst xmlns:a="http://schemas.openxmlformats.org/drawingml/2006/main">
              <a:ext uri="{FF2B5EF4-FFF2-40B4-BE49-F238E27FC236}">
                <a16:creationId xmlns:a16="http://schemas.microsoft.com/office/drawing/2014/main" id="{607831C1-400B-42D1-989A-D0C3FBB7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81400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Responsive interface</a:t>
            </a:r>
          </a:p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Capture and review flow</a:t>
            </a:r>
          </a:p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Mobile PWA experience</a:t>
            </a:r>
          </a:p>
          <a:p xmlns:a="http://schemas.openxmlformats.org/drawingml/2006/main"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Testing and project report</a:t>
            </a:r>
          </a:p>
        </p:txBody>
      </p:sp>
      <p:sp>
        <p:nvSpPr>
          <p:cNvPr id="21" name="team-shared-band">
            <a:extLst xmlns:a="http://schemas.openxmlformats.org/drawingml/2006/main">
              <a:ext uri="{FF2B5EF4-FFF2-40B4-BE49-F238E27FC236}">
                <a16:creationId xmlns:a16="http://schemas.microsoft.com/office/drawing/2014/main" id="{AEEA6959-6CD9-4B1E-810D-604B24D4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0F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am-shared">
            <a:extLst xmlns:a="http://schemas.openxmlformats.org/drawingml/2006/main">
              <a:ext uri="{FF2B5EF4-FFF2-40B4-BE49-F238E27FC236}">
                <a16:creationId xmlns:a16="http://schemas.microsoft.com/office/drawing/2014/main" id="{DFB69EB5-ED53-41A1-816A-2FB5D98C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Shared work: planning, integration review, project demonstration, and submission preparation.</a:t>
            </a:r>
          </a:p>
        </p:txBody>
      </p:sp>
    </p:spTree>
    <p:extLst>
      <p:ext uri="{BB962C8B-B14F-4D97-AF65-F5344CB8AC3E}">
        <p14:creationId xmlns:p14="http://schemas.microsoft.com/office/powerpoint/2010/main" val="10713948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-12">
            <a:extLst xmlns:a="http://schemas.openxmlformats.org/drawingml/2006/main">
              <a:ext uri="{FF2B5EF4-FFF2-40B4-BE49-F238E27FC236}">
                <a16:creationId xmlns:a16="http://schemas.microsoft.com/office/drawing/2014/main" id="{F56C9159-BF6A-4D9C-969C-4C179CCC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FA26401B-A937-494D-BA3D-9E317E43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Outcomes and Next Steps</a:t>
            </a:r>
          </a:p>
        </p:txBody>
      </p:sp>
      <p:sp>
        <p:nvSpPr>
          <p:cNvPr id="3" name="slide-subtitle-12">
            <a:extLst xmlns:a="http://schemas.openxmlformats.org/drawingml/2006/main">
              <a:ext uri="{FF2B5EF4-FFF2-40B4-BE49-F238E27FC236}">
                <a16:creationId xmlns:a16="http://schemas.microsoft.com/office/drawing/2014/main" id="{F9F6FEE3-5A37-4212-AF4E-686D8A30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A working end-to-end prototype, with validation results and clear areas for further testing.</a:t>
            </a:r>
          </a:p>
        </p:txBody>
      </p:sp>
      <p:sp>
        <p:nvSpPr>
          <p:cNvPr id="4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437F4E57-EC56-4AD5-8E58-69DE44F1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D9"/>
            </a:solidFill>
            <a:prstDash val="solid"/>
          </a:ln>
        </p:spPr>
      </p:sp>
      <p:sp>
        <p:nvSpPr>
          <p:cNvPr id="5" name="footer-brand-12">
            <a:extLst xmlns:a="http://schemas.openxmlformats.org/drawingml/2006/main">
              <a:ext uri="{FF2B5EF4-FFF2-40B4-BE49-F238E27FC236}">
                <a16:creationId xmlns:a16="http://schemas.microsoft.com/office/drawing/2014/main" id="{CEFCEFE5-D766-4D46-8C28-E967C5A0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/  COLLEGE PROJECT</a:t>
            </a:r>
          </a:p>
        </p:txBody>
      </p:sp>
      <p:sp>
        <p:nvSpPr>
          <p:cNvPr id="6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7290EAF2-1389-4059-AFAB-527BB991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limits-head">
            <a:extLst xmlns:a="http://schemas.openxmlformats.org/drawingml/2006/main">
              <a:ext uri="{FF2B5EF4-FFF2-40B4-BE49-F238E27FC236}">
                <a16:creationId xmlns:a16="http://schemas.microsoft.com/office/drawing/2014/main" id="{DC9CC52F-7DA7-4670-BE98-416A1E7C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F57"/>
                </a:solidFill>
                <a:latin typeface="Arial"/>
                <a:ea typeface="Arial"/>
                <a:cs typeface="Arial"/>
              </a:rPr>
              <a:t>Project outcomes and limitations</a:t>
            </a:r>
          </a:p>
        </p:txBody>
      </p:sp>
      <p:sp>
        <p:nvSpPr>
          <p:cNvPr id="8" name="limits-list">
            <a:extLst xmlns:a="http://schemas.openxmlformats.org/drawingml/2006/main">
              <a:ext uri="{FF2B5EF4-FFF2-40B4-BE49-F238E27FC236}">
                <a16:creationId xmlns:a16="http://schemas.microsoft.com/office/drawing/2014/main" id="{56435E06-5787-4003-96FC-8C271256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One image receives one dominant class, even when several objects appear.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The 12 labels do not cover every waste material or local disposal rule.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The saved metadata does not include per-class precision, recall, or a confusion matrix.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Softmax scores are not a calibrated guarantee of correctness.</a:t>
            </a:r>
          </a:p>
        </p:txBody>
      </p:sp>
      <p:sp>
        <p:nvSpPr>
          <p:cNvPr id="9" name="limits-divider">
            <a:extLst xmlns:a="http://schemas.openxmlformats.org/drawingml/2006/main">
              <a:ext uri="{FF2B5EF4-FFF2-40B4-BE49-F238E27FC236}">
                <a16:creationId xmlns:a16="http://schemas.microsoft.com/office/drawing/2014/main" id="{1F4264AF-297C-4D46-B491-A241469E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1450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D9"/>
            </a:solidFill>
            <a:prstDash val="solid"/>
          </a:ln>
        </p:spPr>
      </p:sp>
      <p:sp>
        <p:nvSpPr>
          <p:cNvPr id="10" name="next-head">
            <a:extLst xmlns:a="http://schemas.openxmlformats.org/drawingml/2006/main">
              <a:ext uri="{FF2B5EF4-FFF2-40B4-BE49-F238E27FC236}">
                <a16:creationId xmlns:a16="http://schemas.microsoft.com/office/drawing/2014/main" id="{2565B94D-076D-44DC-88BD-CB7FF3CB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Recommended improvements</a:t>
            </a:r>
          </a:p>
        </p:txBody>
      </p:sp>
      <p:sp>
        <p:nvSpPr>
          <p:cNvPr id="11" name="next-list">
            <a:extLst xmlns:a="http://schemas.openxmlformats.org/drawingml/2006/main">
              <a:ext uri="{FF2B5EF4-FFF2-40B4-BE49-F238E27FC236}">
                <a16:creationId xmlns:a16="http://schemas.microsoft.com/office/drawing/2014/main" id="{07674E9D-DE6D-40AF-9C17-26E213F1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9530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Add a held-out test set with per-class metrics and error analysis.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Collect more balanced images across phones, lighting, and backgrounds.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Calibrate the 40% low-confidence threshold on a held-out set.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Explore detection for multiple items and verified local disposal guidance.</a:t>
            </a:r>
          </a:p>
        </p:txBody>
      </p:sp>
      <p:sp>
        <p:nvSpPr>
          <p:cNvPr id="12" name="limits-conclusion">
            <a:extLst xmlns:a="http://schemas.openxmlformats.org/drawingml/2006/main">
              <a:ext uri="{FF2B5EF4-FFF2-40B4-BE49-F238E27FC236}">
                <a16:creationId xmlns:a16="http://schemas.microsoft.com/office/drawing/2014/main" id="{143ADB24-56AE-4D40-B807-55C285B5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04825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0D3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imits-conclusion-text">
            <a:extLst xmlns:a="http://schemas.openxmlformats.org/drawingml/2006/main">
              <a:ext uri="{FF2B5EF4-FFF2-40B4-BE49-F238E27FC236}">
                <a16:creationId xmlns:a16="http://schemas.microsoft.com/office/drawing/2014/main" id="{FC051B1F-002E-4694-B9F6-0F074548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project demonstrates an end-to-end path from labeled images to a usable waste-classification app.</a:t>
            </a:r>
          </a:p>
        </p:txBody>
      </p:sp>
    </p:spTree>
    <p:extLst>
      <p:ext uri="{BB962C8B-B14F-4D97-AF65-F5344CB8AC3E}">
        <p14:creationId xmlns:p14="http://schemas.microsoft.com/office/powerpoint/2010/main" val="7494962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3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98666D44-6413-43D1-94C2-975B8409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C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527B63F0-69BA-4E74-99FB-4C11DE65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3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FFFC8C1C-038C-449F-A85B-C5B32294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CE5C9"/>
                </a:solidFill>
                <a:latin typeface="Arial"/>
                <a:ea typeface="Arial"/>
                <a:cs typeface="Arial"/>
              </a:rPr>
              <a:t>EcoSort AI  |  AI-Powered Waste Classification</a:t>
            </a:r>
          </a:p>
        </p:txBody>
      </p:sp>
      <p:sp>
        <p:nvSpPr>
          <p:cNvPr id="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2F5C0900-5F0E-42BA-95FD-87F98EF8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147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634D"/>
            </a:solidFill>
            <a:prstDash val="solid"/>
          </a:ln>
        </p:spPr>
      </p:sp>
      <p:sp>
        <p:nvSpPr>
          <p:cNvPr id="5" name="closing-team">
            <a:extLst xmlns:a="http://schemas.openxmlformats.org/drawingml/2006/main">
              <a:ext uri="{FF2B5EF4-FFF2-40B4-BE49-F238E27FC236}">
                <a16:creationId xmlns:a16="http://schemas.microsoft.com/office/drawing/2014/main" id="{09C64736-6C6F-4093-9768-F5587D92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Arshpreet Singh     Sarbjit Singh     Pooja</a:t>
            </a:r>
          </a:p>
        </p:txBody>
      </p:sp>
      <p:sp>
        <p:nvSpPr>
          <p:cNvPr id="6" name="closing-question">
            <a:extLst xmlns:a="http://schemas.openxmlformats.org/drawingml/2006/main">
              <a:ext uri="{FF2B5EF4-FFF2-40B4-BE49-F238E27FC236}">
                <a16:creationId xmlns:a16="http://schemas.microsoft.com/office/drawing/2014/main" id="{98FD983A-C522-4A93-A485-E1771796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6DC37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7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4F1B623C-D5D2-4174-A0F3-4BEDC7A0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634D"/>
            </a:solidFill>
            <a:prstDash val="solid"/>
          </a:ln>
        </p:spPr>
      </p:sp>
      <p:sp>
        <p:nvSpPr>
          <p:cNvPr id="8" name="footer-brand-13">
            <a:extLst xmlns:a="http://schemas.openxmlformats.org/drawingml/2006/main">
              <a:ext uri="{FF2B5EF4-FFF2-40B4-BE49-F238E27FC236}">
                <a16:creationId xmlns:a16="http://schemas.microsoft.com/office/drawing/2014/main" id="{5FE1E68C-21A4-42C0-BF62-0AE024E3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DED0"/>
                </a:solidFill>
                <a:latin typeface="Arial"/>
                <a:ea typeface="Arial"/>
                <a:cs typeface="Arial"/>
              </a:rPr>
              <a:t>ECOSORT AI  /  COLLEGE PROJECT</a:t>
            </a:r>
          </a:p>
        </p:txBody>
      </p:sp>
      <p:sp>
        <p:nvSpPr>
          <p:cNvPr id="9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87328DE7-7140-4706-B65D-FF8F7B22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DED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45129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2026-10-18T04:27:31.1420000Z</dcterms:created>
  <dcterms:modified xsi:type="dcterms:W3CDTF">2026-10-18T04:27:31.1420000Z</dcterms:modified>
</coreProperties>
</file>