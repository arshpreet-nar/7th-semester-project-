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6e80b2f184404d" /><Relationship Type="http://schemas.openxmlformats.org/officeDocument/2006/relationships/extended-properties" Target="/docProps/app.xml" Id="R035d7a1b7d004986" /><Relationship Type="http://schemas.openxmlformats.org/officeDocument/2006/relationships/officeDocument" Target="/ppt/presentation.xml" Id="R116b3231d25649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31c915acf74e93"/>
  </p:sldMasterIdLst>
  <p:notesMasterIdLst>
    <p:notesMasterId xmlns:r="http://schemas.openxmlformats.org/officeDocument/2006/relationships" r:id="R35077fab45324fdc"/>
  </p:notesMasterIdLst>
  <p:sldIdLst>
    <p:sldId xmlns:r="http://schemas.openxmlformats.org/officeDocument/2006/relationships" id="256" r:id="Rd1a07f1ab5a04be3"/>
    <p:sldId xmlns:r="http://schemas.openxmlformats.org/officeDocument/2006/relationships" id="257" r:id="Rc70cbf5302b84c55"/>
    <p:sldId xmlns:r="http://schemas.openxmlformats.org/officeDocument/2006/relationships" id="258" r:id="R1687ae974a19483f"/>
    <p:sldId xmlns:r="http://schemas.openxmlformats.org/officeDocument/2006/relationships" id="259" r:id="R2edcad3a2dc34404"/>
    <p:sldId xmlns:r="http://schemas.openxmlformats.org/officeDocument/2006/relationships" id="260" r:id="R5cc4fb36c46a4ab4"/>
    <p:sldId xmlns:r="http://schemas.openxmlformats.org/officeDocument/2006/relationships" id="261" r:id="Rf836d28a35184db7"/>
    <p:sldId xmlns:r="http://schemas.openxmlformats.org/officeDocument/2006/relationships" id="262" r:id="R963cb48217db4f32"/>
    <p:sldId xmlns:r="http://schemas.openxmlformats.org/officeDocument/2006/relationships" id="263" r:id="R63bce9f36ecc41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f60d8c7a3041b3" /><Relationship Type="http://schemas.openxmlformats.org/officeDocument/2006/relationships/slideMaster" Target="/ppt/slideMasters/slideMaster1.xml" Id="R6e31c915acf74e93" /><Relationship Type="http://schemas.openxmlformats.org/officeDocument/2006/relationships/notesMaster" Target="/ppt/notesMasters/notesMaster1.xml" Id="R35077fab45324fdc" /><Relationship Type="http://schemas.openxmlformats.org/officeDocument/2006/relationships/presProps" Target="/ppt/presProps.xml" Id="Rdb8aa83cb66b4e28" /><Relationship Type="http://schemas.openxmlformats.org/officeDocument/2006/relationships/tableStyles" Target="/ppt/tableStyles.xml" Id="R0af960262c4c4061" /><Relationship Type="http://schemas.openxmlformats.org/officeDocument/2006/relationships/slide" Target="/ppt/slides/slide1.xml" Id="Rd1a07f1ab5a04be3" /><Relationship Type="http://schemas.openxmlformats.org/officeDocument/2006/relationships/slide" Target="/ppt/slides/slide2.xml" Id="Rc70cbf5302b84c55" /><Relationship Type="http://schemas.openxmlformats.org/officeDocument/2006/relationships/slide" Target="/ppt/slides/slide3.xml" Id="R1687ae974a19483f" /><Relationship Type="http://schemas.openxmlformats.org/officeDocument/2006/relationships/slide" Target="/ppt/slides/slide4.xml" Id="R2edcad3a2dc34404" /><Relationship Type="http://schemas.openxmlformats.org/officeDocument/2006/relationships/slide" Target="/ppt/slides/slide5.xml" Id="R5cc4fb36c46a4ab4" /><Relationship Type="http://schemas.openxmlformats.org/officeDocument/2006/relationships/slide" Target="/ppt/slides/slide6.xml" Id="Rf836d28a35184db7" /><Relationship Type="http://schemas.openxmlformats.org/officeDocument/2006/relationships/slide" Target="/ppt/slides/slide7.xml" Id="R963cb48217db4f32" /><Relationship Type="http://schemas.openxmlformats.org/officeDocument/2006/relationships/slide" Target="/ppt/slides/slide8.xml" Id="R63bce9f36ecc41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f405ab6b094c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8954c1070c4e47" /><Relationship Type="http://schemas.openxmlformats.org/officeDocument/2006/relationships/notesMaster" Target="/ppt/notesMasters/notesMaster1.xml" Id="R156436248d614d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ba4f7491a24b94" /><Relationship Type="http://schemas.openxmlformats.org/officeDocument/2006/relationships/notesMaster" Target="/ppt/notesMasters/notesMaster1.xml" Id="R912e458db4624f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21147081e04467" /><Relationship Type="http://schemas.openxmlformats.org/officeDocument/2006/relationships/notesMaster" Target="/ppt/notesMasters/notesMaster1.xml" Id="R2d8f191734fc49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1504d96aad4f57" /><Relationship Type="http://schemas.openxmlformats.org/officeDocument/2006/relationships/notesMaster" Target="/ppt/notesMasters/notesMaster1.xml" Id="Rf59d75c203564f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cc46e8a56d40e2" /><Relationship Type="http://schemas.openxmlformats.org/officeDocument/2006/relationships/notesMaster" Target="/ppt/notesMasters/notesMaster1.xml" Id="R17378133105048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7e30bad4b84484" /><Relationship Type="http://schemas.openxmlformats.org/officeDocument/2006/relationships/notesMaster" Target="/ppt/notesMasters/notesMaster1.xml" Id="Rd661614a89c447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b73d6b8a1c4f92" /><Relationship Type="http://schemas.openxmlformats.org/officeDocument/2006/relationships/notesMaster" Target="/ppt/notesMasters/notesMaster1.xml" Id="R35c180afb1ee41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bd01e7b38ec4440" /><Relationship Type="http://schemas.openxmlformats.org/officeDocument/2006/relationships/notesMaster" Target="/ppt/notesMasters/notesMaster1.xml" Id="R236ba6cc75b04c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dataset samples and models/metadata.json.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app.py and templates/index.html. Image source: project dataset.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models/metadata.json and garbage_classification_model.ipynb.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garbage_classification_model.ipynb. The notebook uses MobileNetV2, data augmentation, class weights, EarlyStopping, and ReduceLROnPlateau.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models/metadata.json and models/training_history.png. Validation dataset count comes from garbage_classification_model.ipynb.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app.py and templates/index.html. Example image source: garbage_classification/testing/paper.jpg.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render.yaml, runtime.txt, .python-version, Procfile, requirements.txt, and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Render build log supplied for this project, render.yaml, runtime.txt, .python-version, and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e1b21e4f2f46a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112cfef4e2489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a2ad0db112480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f20d2aa32d475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fc5a9ffe60409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839983f97f4d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11F3A58-77CE-4A3E-BC8F-C4FC8F73F6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D427AC1-8CCA-45DC-8FEE-6B3E4C66074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4B7F37F-1336-474F-8868-8736B80738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2C4FA0-3D9C-47C2-926B-65EC8B6A15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C09FE13-E9A0-4017-B183-5AC22FBD80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05E4432-FDA1-44D4-9E08-1BF1BF4E53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D308FB2-CB71-49DE-B8A9-7B7EAEE53B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F03253C-FC76-44D7-8A62-53CE9024075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D50BC76-D7C9-4DDC-83E9-71F77D09E8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A5586CE-9B61-40CA-A72D-94695C3417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e5ef320dc14464" /><Relationship Type="http://schemas.openxmlformats.org/officeDocument/2006/relationships/slideLayout" Target="/ppt/slideLayouts/slideLayout1.xml" Id="Rca3e9442cb784a70" /><Relationship Type="http://schemas.openxmlformats.org/officeDocument/2006/relationships/slideLayout" Target="/ppt/slideLayouts/slideLayout2.xml" Id="R7ecb6562355c4499" /><Relationship Type="http://schemas.openxmlformats.org/officeDocument/2006/relationships/slideLayout" Target="/ppt/slideLayouts/slideLayout3.xml" Id="R8ffbf041887e4ad2" /><Relationship Type="http://schemas.openxmlformats.org/officeDocument/2006/relationships/slideLayout" Target="/ppt/slideLayouts/slideLayout4.xml" Id="R370c70ba05364064" /><Relationship Type="http://schemas.openxmlformats.org/officeDocument/2006/relationships/slideLayout" Target="/ppt/slideLayouts/slideLayout5.xml" Id="R6956b1ba6940485c" /><Relationship Type="http://schemas.openxmlformats.org/officeDocument/2006/relationships/slideLayout" Target="/ppt/slideLayouts/slideLayout6.xml" Id="R87af24daad6c4f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3e9442cb784a70"/>
    <p:sldLayoutId xmlns:r="http://schemas.openxmlformats.org/officeDocument/2006/relationships" id="2147483650" r:id="R7ecb6562355c4499"/>
    <p:sldLayoutId xmlns:r="http://schemas.openxmlformats.org/officeDocument/2006/relationships" id="2147483651" r:id="R8ffbf041887e4ad2"/>
    <p:sldLayoutId xmlns:r="http://schemas.openxmlformats.org/officeDocument/2006/relationships" id="2147483652" r:id="R370c70ba05364064"/>
    <p:sldLayoutId xmlns:r="http://schemas.openxmlformats.org/officeDocument/2006/relationships" id="2147483653" r:id="R6956b1ba6940485c"/>
    <p:sldLayoutId xmlns:r="http://schemas.openxmlformats.org/officeDocument/2006/relationships" id="2147483654" r:id="R87af24daad6c4f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fba898189242b8" /><Relationship Type="http://schemas.openxmlformats.org/officeDocument/2006/relationships/image" Target="/ppt/media/image.jpeg" Id="R01b1ba13fbda4233" /><Relationship Type="http://schemas.openxmlformats.org/officeDocument/2006/relationships/image" Target="/ppt/media/image2.jpeg" Id="R3bd2a18af4f04b1f" /><Relationship Type="http://schemas.openxmlformats.org/officeDocument/2006/relationships/image" Target="/ppt/media/image3.jpeg" Id="R4cce0aee39584bbd" /><Relationship Type="http://schemas.openxmlformats.org/officeDocument/2006/relationships/image" Target="/ppt/media/image4.jpeg" Id="Re05d2e0cb43d4f78" /><Relationship Type="http://schemas.openxmlformats.org/officeDocument/2006/relationships/notesSlide" Target="/ppt/notesSlides/notesSlide1.xml" Id="Ra9e51852f77149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8a85ce04b04e67" /><Relationship Type="http://schemas.openxmlformats.org/officeDocument/2006/relationships/image" Target="/ppt/media/image5.jpeg" Id="Rde0abc2afc7d442e" /><Relationship Type="http://schemas.openxmlformats.org/officeDocument/2006/relationships/notesSlide" Target="/ppt/notesSlides/notesSlide2.xml" Id="Rdbb5695670054b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66e69d5c914a3d" /><Relationship Type="http://schemas.openxmlformats.org/officeDocument/2006/relationships/chart" Target="/ppt/slides/charts/chart1.xml" Id="Rfbe0eee0958e45b0" /><Relationship Type="http://schemas.openxmlformats.org/officeDocument/2006/relationships/notesSlide" Target="/ppt/notesSlides/notesSlide3.xml" Id="R3ee8d36e19594c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8066aa56ce49d7" /><Relationship Type="http://schemas.openxmlformats.org/officeDocument/2006/relationships/image" Target="/ppt/media/image6.jpeg" Id="Rc4fb88edd2a04ac3" /><Relationship Type="http://schemas.openxmlformats.org/officeDocument/2006/relationships/notesSlide" Target="/ppt/notesSlides/notesSlide4.xml" Id="R0cbd497150a14a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582e3af9b1431f" /><Relationship Type="http://schemas.openxmlformats.org/officeDocument/2006/relationships/image" Target="/ppt/media/image.png" Id="Ref1f0fab880f448f" /><Relationship Type="http://schemas.openxmlformats.org/officeDocument/2006/relationships/notesSlide" Target="/ppt/notesSlides/notesSlide5.xml" Id="R94b79eab0ab345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df5d7a53f44b7c" /><Relationship Type="http://schemas.openxmlformats.org/officeDocument/2006/relationships/image" Target="/ppt/media/image7.jpeg" Id="R329deec346b14a1c" /><Relationship Type="http://schemas.openxmlformats.org/officeDocument/2006/relationships/notesSlide" Target="/ppt/notesSlides/notesSlide6.xml" Id="R12b3712169264e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d30b4c31de467b" /><Relationship Type="http://schemas.openxmlformats.org/officeDocument/2006/relationships/notesSlide" Target="/ppt/notesSlides/notesSlide7.xml" Id="Rddf6ac2e9882468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fe61a71c3749ee" /><Relationship Type="http://schemas.openxmlformats.org/officeDocument/2006/relationships/notesSlide" Target="/ppt/notesSlides/notesSlide8.xml" Id="R1bbcec839b904db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Images</c:v>
          </c:tx>
          <c:spPr>
            <a:solidFill xmlns:a="http://schemas.openxmlformats.org/drawingml/2006/main">
              <a:srgbClr val="159A8A"/>
            </a:solidFill>
          </c:spPr>
          <c:invertIfNegative val="0"/>
          <c:cat>
            <c:strRef>
              <c:f>'Chart Data'!$A$2:$A$13</c:f>
              <c:strCache>
                <c:ptCount val="12"/>
                <c:pt idx="0">
                  <c:v>clothes</c:v>
                </c:pt>
                <c:pt idx="1">
                  <c:v>shoes</c:v>
                </c:pt>
                <c:pt idx="2">
                  <c:v>paper</c:v>
                </c:pt>
                <c:pt idx="3">
                  <c:v>biological</c:v>
                </c:pt>
                <c:pt idx="4">
                  <c:v>battery</c:v>
                </c:pt>
                <c:pt idx="5">
                  <c:v>cardboard</c:v>
                </c:pt>
                <c:pt idx="6">
                  <c:v>plastic</c:v>
                </c:pt>
                <c:pt idx="7">
                  <c:v>white-glass</c:v>
                </c:pt>
                <c:pt idx="8">
                  <c:v>metal</c:v>
                </c:pt>
                <c:pt idx="9">
                  <c:v>trash</c:v>
                </c:pt>
                <c:pt idx="10">
                  <c:v>green-glass</c:v>
                </c:pt>
                <c:pt idx="11">
                  <c:v>brown-glass</c:v>
                </c:pt>
              </c:strCache>
            </c:str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5325</c:v>
                </c:pt>
                <c:pt idx="1">
                  <c:v>1977</c:v>
                </c:pt>
                <c:pt idx="2">
                  <c:v>1050</c:v>
                </c:pt>
                <c:pt idx="3">
                  <c:v>985</c:v>
                </c:pt>
                <c:pt idx="4">
                  <c:v>945</c:v>
                </c:pt>
                <c:pt idx="5">
                  <c:v>891</c:v>
                </c:pt>
                <c:pt idx="6">
                  <c:v>865</c:v>
                </c:pt>
                <c:pt idx="7">
                  <c:v>775</c:v>
                </c:pt>
                <c:pt idx="8">
                  <c:v>769</c:v>
                </c:pt>
                <c:pt idx="9">
                  <c:v>697</c:v>
                </c:pt>
                <c:pt idx="10">
                  <c:v>629</c:v>
                </c:pt>
                <c:pt idx="11">
                  <c:v>607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8E1DC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8F5EE"/>
        </a:solidFill>
      </c:spPr>
    </c:plotArea>
    <c:plotVisOnly val="1"/>
  </c:chart>
  <c:spPr>
    <a:solidFill xmlns:a="http://schemas.openxmlformats.org/drawingml/2006/main">
      <a:srgbClr val="F8F5EE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674BDB-3EAF-4E96-B355-88CF3023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FB73F1-11C7-4DAE-96E9-F0B983AA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0AB72E-1EDF-4355-9F40-DA42525D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DEEP LEARNING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173D59-29C3-4914-9E0F-CE90ABB4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85875"/>
            <a:ext cx="53340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12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12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Garbage</a:t>
            </a:r>
          </a:p>
          <a:p xmlns:a="http://schemas.openxmlformats.org/drawingml/2006/main">
            <a:pPr>
              <a:defRPr sz="412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Classification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530EC7-4575-480F-811C-40D25E5E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7075"/>
            <a:ext cx="4838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486058"/>
                </a:solidFill>
                <a:latin typeface="Arial"/>
                <a:ea typeface="Arial"/>
                <a:cs typeface="Arial"/>
              </a:rPr>
              <a:t>Image classification with MobileNetV2, TensorFlow, Flask, and Render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B1B630-48FF-4154-A8BE-386803DF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459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B5BB57-FD21-404A-94FA-DCB5D595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12 waste classes    /    15,515 images    /    94.68% validation accuracy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965728-17B8-4C68-B032-C344C74DAF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b1ba13fbda4233"/>
          <a:srcRect xmlns:a="http://schemas.openxmlformats.org/drawingml/2006/main" l="17857" t="0" r="17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05600" y="72390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86C944-A4BC-4D75-B828-65940B8BC9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d2a18af4f04b1f"/>
          <a:srcRect xmlns:a="http://schemas.openxmlformats.org/drawingml/2006/main" l="0" t="12548" r="0" b="125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91600" y="72390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DB1491-2480-4910-AD25-96C9D5D0B5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ce0aee39584bbd"/>
          <a:srcRect xmlns:a="http://schemas.openxmlformats.org/drawingml/2006/main" l="16727" t="0" r="167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05600" y="300990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7319FE-5046-49A2-AC42-F0D85E091F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5d2e0cb43d4f78"/>
          <a:srcRect xmlns:a="http://schemas.openxmlformats.org/drawingml/2006/main" l="14474" t="0" r="144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91600" y="300990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</p:spTree>
    <p:extLst>
      <p:ext uri="{BB962C8B-B14F-4D97-AF65-F5344CB8AC3E}">
        <p14:creationId xmlns:p14="http://schemas.microsoft.com/office/powerpoint/2010/main" val="17545430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2A5382-C649-4EA1-96CB-0B567E86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Project objective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52E816-C389-4D65-9FBE-791B371A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86058"/>
                </a:solidFill>
                <a:latin typeface="Arial"/>
                <a:ea typeface="Arial"/>
                <a:cs typeface="Arial"/>
              </a:rPr>
              <a:t>Convert a trained waste-classification model into a usable browser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709377-F00A-4A90-86D4-C3C126FC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7DF64-125D-441E-B807-050C13EC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5000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The project takes a user-uploaded image and identifies the most likely waste category.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14C2F9-FCBD-4ABA-8062-54A312D8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8BD5D1-6D85-42E0-9521-D3884216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337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Classify waste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81F30D-1F70-4814-912D-978219C3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290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486058"/>
                </a:solidFill>
                <a:latin typeface="Arial"/>
                <a:ea typeface="Arial"/>
                <a:cs typeface="Arial"/>
              </a:rPr>
              <a:t>Recognize 12 categories, including plastic, glass, paper, metal, shoes, and clothes.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5711D2-48CE-4327-BEEC-6B3AEBA9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0025"/>
            <a:ext cx="4905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0DCFB1-2017-441D-AD90-23400083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433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B54FAE-EF53-4B21-8BE1-B70F781B9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338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Show confidence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5FA5AD-E82F-464A-A7D7-4EC7419A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291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486058"/>
                </a:solidFill>
                <a:latin typeface="Arial"/>
                <a:ea typeface="Arial"/>
                <a:cs typeface="Arial"/>
              </a:rPr>
              <a:t>Return the top five predicted labels so users can judge the model's certainty.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5A01B5-3189-41DD-B2DD-7CFACA81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4905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E69A03-471E-49D9-9A59-86431953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77B6D5-45C8-4365-8E2D-E75ABDA4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339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Make it accessible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FC2B4C-B53A-4398-B23A-2580DCEF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292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486058"/>
                </a:solidFill>
                <a:latin typeface="Arial"/>
                <a:ea typeface="Arial"/>
                <a:cs typeface="Arial"/>
              </a:rPr>
              <a:t>Serve saved Keras models through a Flask web application that accepts common image files.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1546AD-91BD-4767-97E9-084B4DEF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0275"/>
            <a:ext cx="4905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EE6488-EE46-4182-BEC0-F1F6145D15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0abc2afc7d442e"/>
          <a:srcRect xmlns:a="http://schemas.openxmlformats.org/drawingml/2006/main" l="15567" t="0" r="155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05600" y="1733550"/>
            <a:ext cx="4095750" cy="3943350"/>
          </a:xfrm>
          <a:prstGeom xmlns:a="http://schemas.openxmlformats.org/drawingml/2006/main" prst="roundRect">
            <a:avLst>
              <a:gd name="adj" fmla="val 2899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E64699-F114-4F29-BDF6-5AA0717A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19700"/>
            <a:ext cx="4095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6B52"/>
          </a:solidFill>
          <a:ln xmlns:a="http://schemas.openxmlformats.org/drawingml/2006/main" w="0">
            <a:solidFill>
              <a:srgbClr val="176B5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1344C1-40AB-4889-A54A-4E650B2D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3340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Dataset example: trash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3E5194-0F94-467D-9B83-F76CDD6B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48605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655704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25E92C-D49E-45B6-939E-92369139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Training dataset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BACDE4-EBAC-42B3-AC0F-900D7403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86058"/>
                </a:solidFill>
                <a:latin typeface="Arial"/>
                <a:ea typeface="Arial"/>
                <a:cs typeface="Arial"/>
              </a:rPr>
              <a:t>15,515 labelled images stored in one folder per waste class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3F796F-5B8D-4E1D-8CF3-56A5BA4F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080B6D-C36A-4C0C-9BB7-36E73388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571625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486058"/>
                </a:solidFill>
                <a:latin typeface="Arial"/>
                <a:ea typeface="Arial"/>
                <a:cs typeface="Arial"/>
              </a:rPr>
              <a:t>The classes are imbalanced. Class weights were used during training to reduce the influence of overrepresented categories.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A1687D3A-87CF-44CB-AB70-18454A7F8FDE}"/>
              </a:ext>
            </a:extLst>
          </p:cNvPr>
          <p:cNvGraphicFramePr/>
          <p:nvPr/>
        </p:nvGraphicFramePr>
        <p:xfrm>
          <a:off xmlns:a="http://schemas.openxmlformats.org/drawingml/2006/main" x="742950" y="2343150"/>
          <a:ext xmlns:a="http://schemas.openxmlformats.org/drawingml/2006/main" cx="70294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be0eee0958e45b0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D5EE4C-B61E-43F8-812A-B43ACDD7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95550"/>
            <a:ext cx="26670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506363-2E31-4A86-A433-CA65B885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62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Dataset highlights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AF9E5B-C78C-42AE-8783-ECBD85EF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766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Largest class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91FD2E-190E-46E4-BBE0-35E74F75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956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Clothes  5,325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236EA6-3ED3-48DF-B9A9-2325AE6A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195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Smallest class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41727A-FB55-4F00-8180-7AB74313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38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Brown-glass  607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6AE072-D5F0-4C7A-A79F-9EE3B6A8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105400"/>
            <a:ext cx="2619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86058"/>
                </a:solidFill>
                <a:latin typeface="Arial"/>
                <a:ea typeface="Arial"/>
                <a:cs typeface="Arial"/>
              </a:rPr>
              <a:t>20% of the dataset is reserved for validation.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9BFB94-9600-46FC-9A66-7596B00E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48605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013921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3944505-1460-49E4-A25D-002F9558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Model training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942523-500E-4B87-ACB0-D594903B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86058"/>
                </a:solidFill>
                <a:latin typeface="Arial"/>
                <a:ea typeface="Arial"/>
                <a:cs typeface="Arial"/>
              </a:rPr>
              <a:t>MobileNetV2 transfer learning with augmentation, class weighting, and fine-tuning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A54FBB-B402-4078-A0B6-15BEE406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51807A-6A4A-45BE-8B1F-7A75CF47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16383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97B8C1-974E-49E2-8973-5474A5A2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16383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B52"/>
          </a:solidFill>
          <a:ln xmlns:a="http://schemas.openxmlformats.org/drawingml/2006/main" w="0">
            <a:solidFill>
              <a:srgbClr val="176B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DE698A-2337-45D7-AB03-B38D67BB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5908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Dataset folders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3BEDF-1718-4441-BFBA-67851DA9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981325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12 labelled classes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92D2D7-E832-401E-BFA2-521761AB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09875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47CE6A-32F8-4E62-AE46-5715D8378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33625"/>
            <a:ext cx="16383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8A0F20-E8E8-4147-AE90-4068AA52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33625"/>
            <a:ext cx="16383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A8A"/>
          </a:solidFill>
          <a:ln xmlns:a="http://schemas.openxmlformats.org/drawingml/2006/main" w="0">
            <a:solidFill>
              <a:srgbClr val="159A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06F409-3BD0-4783-8BFF-480A8CB9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908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Augmentation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BECEC9-B6B1-480A-A7DF-A5D5B157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81325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Flip, rotation, zoom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006572-2769-4FB1-ADF1-46A5C3CD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809875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908F2E-9F4A-4F82-BADE-1608E17B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333625"/>
            <a:ext cx="16383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7D45B4-9D23-4F47-9AA8-7DE670B3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333625"/>
            <a:ext cx="16383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F6D6E5-5232-452F-85A5-ED224F49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5908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MobileNetV2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76F77D-3F94-4243-9AA4-04F64038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981325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ImageNet base 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A928C8-C0E5-43DA-AD33-A8133ED7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09875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BEB548-360C-4741-8276-18AB33FA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33625"/>
            <a:ext cx="16383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D20C25-BD84-4F28-96EB-430B3E98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33625"/>
            <a:ext cx="16383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C31A59-25F2-4530-A6B2-F51AAF7F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908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Fine-tuning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351D20-E7CC-4468-918E-DFBC07F5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81325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Last layers trainable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2D1C4B-4DF0-4E4B-BE0A-52F41BD3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809875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88FF76-79F9-49A8-B843-12AFBA14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333625"/>
            <a:ext cx="16383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502A9D-8719-44A8-BAB2-21B783B8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333625"/>
            <a:ext cx="16383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B52"/>
          </a:solidFill>
          <a:ln xmlns:a="http://schemas.openxmlformats.org/drawingml/2006/main" w="0">
            <a:solidFill>
              <a:srgbClr val="176B5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BDAA4A-EF81-4A0F-AAA2-7E09AF53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5908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Keras models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ED738A-F481-4092-90CD-9EEF0141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981325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Saved .keras artifacts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28B69B-2289-4259-97FF-54A710F6A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053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224 x 224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368607-6218-4D43-91F6-1AE94A27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RGB input size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82D5B4-8DEE-40EE-9D40-0C96EF20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053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7BF9B0-51E8-47FC-A079-CECEF411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577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Batch size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24734E-7E95-45E6-8739-7E2943D0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053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12 + 5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9DC2BF-B9F4-4C6D-8C14-A40771BA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577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Training and fine-tune epochs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5990A2-4822-463D-95B4-98A14D99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053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B3CE0E-6B00-4422-BF8C-981A98A2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577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Validation split</a:t>
            </a:r>
          </a:p>
        </p:txBody>
      </p:sp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E01000-31E3-4D0D-86AF-E71F90BFD4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fb88edd2a04ac3"/>
          <a:srcRect xmlns:a="http://schemas.openxmlformats.org/drawingml/2006/main" l="0" t="20120" r="0" b="201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15500" y="5334000"/>
            <a:ext cx="1028700" cy="819150"/>
          </a:xfrm>
          <a:prstGeom xmlns:a="http://schemas.openxmlformats.org/drawingml/2006/main" prst="roundRect">
            <a:avLst>
              <a:gd name="adj" fmla="val 9302"/>
            </a:avLst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1243F0F-5AC1-45E4-A2AE-0D2EFADD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6007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Example input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92EACC-16B1-4599-AD4B-3C411FAD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48605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199124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FB8EA3-4007-4E18-9F38-A061657C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Validation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FE237B-6086-48A1-8D21-107D90C1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86058"/>
                </a:solidFill>
                <a:latin typeface="Arial"/>
                <a:ea typeface="Arial"/>
                <a:cs typeface="Arial"/>
              </a:rPr>
              <a:t>The best saved model reaches 94.68% validation accuracy with a 0.172 validation loss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682818-0A5B-4EE2-80B3-28C016A4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C17A2B-D3D3-4DA4-A4A5-174B612E1D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1f0fab880f448f"/>
          <a:stretch xmlns:a="http://schemas.openxmlformats.org/drawingml/2006/main"/>
        </p:blipFill>
        <p:spPr>
          <a:xfrm xmlns:a="http://schemas.openxmlformats.org/drawingml/2006/main">
            <a:off x="533400" y="2308860"/>
            <a:ext cx="6743700" cy="269748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990F45-9706-4236-871E-180501BD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752600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76B52"/>
          </a:solidFill>
          <a:ln xmlns:a="http://schemas.openxmlformats.org/drawingml/2006/main" w="0">
            <a:solidFill>
              <a:srgbClr val="176B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8795E3-A78B-4064-BF22-37D49A26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85975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94.68%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331F27-9A01-4052-8554-D7F17D57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860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validation accuracy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5D9197-9803-4C67-9AED-83C8B2898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562350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CE9E4"/>
          </a:solidFill>
          <a:ln xmlns:a="http://schemas.openxmlformats.org/drawingml/2006/main" w="0">
            <a:solidFill>
              <a:srgbClr val="FCE9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AF9B04-619A-426D-98B7-65A2083E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9572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0.172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DB7154-94E9-41A1-A347-0F7624E1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577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86058"/>
                </a:solidFill>
                <a:latin typeface="Arial"/>
                <a:ea typeface="Arial"/>
                <a:cs typeface="Arial"/>
              </a:rPr>
              <a:t>validation loss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83FF8D-16DB-456E-932F-3635295A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4768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3,103 validation images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6D8E45-445D-44BD-A9B1-4BC7257C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8102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486058"/>
                </a:solidFill>
                <a:latin typeface="Arial"/>
                <a:ea typeface="Arial"/>
                <a:cs typeface="Arial"/>
              </a:rPr>
              <a:t>Training history includes 16 recorded epochs.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1A877A-709E-4B07-8A3C-3865B70C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48605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606274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B649F0-FF5D-487D-B412-4EB2C7E7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Web application integration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47B935-AB1C-4E04-B62E-0629A7C4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86058"/>
                </a:solidFill>
                <a:latin typeface="Arial"/>
                <a:ea typeface="Arial"/>
                <a:cs typeface="Arial"/>
              </a:rPr>
              <a:t>Flask loads the saved model once and returns ranked probabilities for every valid upload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6EA314-3744-4620-ADC9-86AA9478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A02BEC-7CF4-4964-B21A-8C9907B847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9deec346b14a1c"/>
          <a:srcRect xmlns:a="http://schemas.openxmlformats.org/drawingml/2006/main" l="0" t="13462" r="0" b="134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1962150"/>
            <a:ext cx="2228850" cy="2895600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9B05A2-B6AC-4590-B5D2-E42D6D62D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29200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Example upload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E14A48-E5E6-4D38-A0F1-717F5FB1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24475"/>
            <a:ext cx="222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JPG, PNG, BMP, or WEBP</a:t>
            </a:r>
          </a:p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Maximum file size: 8 MB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AE382D-BA3B-4DAF-9FBD-9DAA3A98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14600"/>
            <a:ext cx="13525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D63523-BEBE-473D-BE18-E8149814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14600"/>
            <a:ext cx="135255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B52"/>
          </a:solidFill>
          <a:ln xmlns:a="http://schemas.openxmlformats.org/drawingml/2006/main" w="0">
            <a:solidFill>
              <a:srgbClr val="176B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0851F8-1A9C-49DC-BBA8-39157660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717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Upload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8B3E76-CEB5-48C0-B2F3-C033FEC4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623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User chooses an image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16EB90-3F55-48F2-9E10-70FEF0A9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09900"/>
            <a:ext cx="228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04D187-113D-4DBA-92C4-60C61315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14600"/>
            <a:ext cx="13525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1C0E52-7EDB-4FDB-849D-67CE2E43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14600"/>
            <a:ext cx="135255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A8A"/>
          </a:solidFill>
          <a:ln xmlns:a="http://schemas.openxmlformats.org/drawingml/2006/main" w="0">
            <a:solidFill>
              <a:srgbClr val="159A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D1EC43-D17D-4C18-B327-D870FBAE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717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00C0AE-CC2C-423A-8B40-3BB847D0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623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Extension and size checks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DFC730-F10D-45BC-A585-A09EC97B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09900"/>
            <a:ext cx="228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DEE7CD-A948-479F-B33D-08C5235D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14600"/>
            <a:ext cx="13525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C3F1A7-BB32-4EFF-A93D-44780F4C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14600"/>
            <a:ext cx="135255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E862A9-7020-4F20-92FE-DCE630FD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717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Preprocess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8005C0-0225-49A2-B771-B8ECBA73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623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RGB resize to 224 x 224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D79CB1-E8D8-4EE8-BA25-5C4BF7822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09900"/>
            <a:ext cx="228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C23209-1560-4BD5-88F4-0AA8F9AA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13525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B6248B-3930-4847-B7D5-476BCAC5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135255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DC63EF-8F38-4040-90D3-6DFFBB21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717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Predict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2D4F5E-298E-4357-81E5-0BC77101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623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Keras model returns probabilities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7C4C45-C887-4691-91C4-CDC3A5FF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009900"/>
            <a:ext cx="228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24FE79-2F06-4391-91C2-59460EC3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514600"/>
            <a:ext cx="13525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040031-FD01-4FA0-B16C-97BC8585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514600"/>
            <a:ext cx="135255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B52"/>
          </a:solidFill>
          <a:ln xmlns:a="http://schemas.openxmlformats.org/drawingml/2006/main" w="0">
            <a:solidFill>
              <a:srgbClr val="176B5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86FAED-EC69-4027-89A5-46588085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7717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Display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BB66AE-554F-4B4B-93C7-4D3B6F7A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623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Top five labels and confidence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336F4C-2BBD-4303-8697-5D82C199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305300"/>
            <a:ext cx="700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31F"/>
                </a:solidFill>
                <a:latin typeface="Arial"/>
                <a:ea typeface="Arial"/>
                <a:cs typeface="Arial"/>
              </a:rPr>
              <a:t>The app defaults to best_garbage_classifier.keras and lets the user select either saved model.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4D1573-F20B-4F33-985B-9246F59C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143500"/>
            <a:ext cx="5695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7CF5F6-7027-476B-B4D8-B981454D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381625"/>
            <a:ext cx="600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Core stack: Flask  |  TensorFlow / Keras  |  Pillow  |  NumPy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044985-5AF5-4879-8317-5B2D9FD8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48605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862993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8A1BEB-78C3-4115-AC17-9532E88C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Live deployment on Render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E8903C-0FBA-4859-A006-43D59DA6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86058"/>
                </a:solidFill>
                <a:latin typeface="Arial"/>
                <a:ea typeface="Arial"/>
                <a:cs typeface="Arial"/>
              </a:rPr>
              <a:t>The repository contains the service definition and start command for a public Python web service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0D15B1-F2C2-4C8F-9ABE-5DD6BF89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9CBDFC-D240-4193-A4D2-47E948BB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20574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ED9C50-2F79-40E2-AEB5-34F8D1B4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20574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B52"/>
          </a:solidFill>
          <a:ln xmlns:a="http://schemas.openxmlformats.org/drawingml/2006/main" w="0">
            <a:solidFill>
              <a:srgbClr val="176B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8F9870-8E62-428C-9829-0EB7ED3F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24125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GitHub repository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BD49AB-DF1C-43A2-B5CC-6106736A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Source code, models, and configuration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2359E0-1EBB-4FE8-93E2-81B987BC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62250"/>
            <a:ext cx="4286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75055F-9105-411D-9F6D-D4CE3E27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66950"/>
            <a:ext cx="20574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85E7E8-C8AD-43C2-A64D-B6700259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66950"/>
            <a:ext cx="20574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A8A"/>
          </a:solidFill>
          <a:ln xmlns:a="http://schemas.openxmlformats.org/drawingml/2006/main" w="0">
            <a:solidFill>
              <a:srgbClr val="159A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A7AE8C-B0BF-475D-BBC0-69A71617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24125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Render build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B831E7-49BA-4DBE-85DB-374A0C5F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1465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pip install -r requirements.txt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8A720D-E5B7-4628-9C27-CEC3A1AF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62250"/>
            <a:ext cx="4286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79D30E-89B7-46B8-B774-7EC4ADA1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66950"/>
            <a:ext cx="20574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DF9FE5-95A6-4ED9-92D5-785394E8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66950"/>
            <a:ext cx="20574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7D7B85-FC9A-4D29-8706-D3BB17A3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24125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Gunicorn service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DA93F4-A017-4789-BA85-E20E5FAD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1465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Starts Flask on Render's assigned 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B3CF3A-DA57-4225-81E4-98732C25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62250"/>
            <a:ext cx="4286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080DD0-A9C7-43C1-BF8D-2B2EE63A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66950"/>
            <a:ext cx="20574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95A0FE-D174-4CA5-9CDC-5EA323C8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66950"/>
            <a:ext cx="20574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019447-94F5-4426-BCE2-3A67D928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24125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Public web app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329983-2A4F-4266-8035-1C842298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1465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Browser uploads an image for classification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2EE506-242C-4D9E-8906-D5C07643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343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Deployment files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4EE7FB-1978-4876-82D1-54FCC172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render.yaml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474D3D-48CB-490C-B92D-0204AC1C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83870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486058"/>
                </a:solidFill>
                <a:latin typeface="Arial"/>
                <a:ea typeface="Arial"/>
                <a:cs typeface="Arial"/>
              </a:rPr>
              <a:t>Defines build command, Gunicorn start command, and Python environment variable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4A213D-3887-49FF-B442-404A7BC7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runtime.txt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83FAF9-DDF5-4E9A-A748-5F8F8623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20065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486058"/>
                </a:solidFill>
                <a:latin typeface="Arial"/>
                <a:ea typeface="Arial"/>
                <a:cs typeface="Arial"/>
              </a:rPr>
              <a:t>Records Python 3.11.9 for compatible deployment tooling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D6607F-3686-4590-966B-802F6792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626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.python-version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6E174E-F9E9-4A22-AA8B-05B83A02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56260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486058"/>
                </a:solidFill>
                <a:latin typeface="Arial"/>
                <a:ea typeface="Arial"/>
                <a:cs typeface="Arial"/>
              </a:rPr>
              <a:t>Pins the project runtime to Python 3.11.9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3F8BDF-3042-4677-8F65-6B287F3A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245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Procfile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236E1D-084C-4489-88A4-240D9B64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92455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486058"/>
                </a:solidFill>
                <a:latin typeface="Arial"/>
                <a:ea typeface="Arial"/>
                <a:cs typeface="Arial"/>
              </a:rPr>
              <a:t>Provides a process command for compatible hosts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7F2EA4-2E77-453F-977D-265BB4A5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48605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811863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FF7E9E-F1C6-4EAA-B091-03B750FE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Render deployment issue and fix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FB8D3B-200A-49EE-B32C-16266ED9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86058"/>
                </a:solidFill>
                <a:latin typeface="Arial"/>
                <a:ea typeface="Arial"/>
                <a:cs typeface="Arial"/>
              </a:rPr>
              <a:t>Pin Python 3.11.9 because the default Python 3.14.3 build cannot install the requested TensorFlow package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621DD4-EA25-46CF-A6C6-FCE72732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63BAE8-5F68-441A-9B6E-F4893F16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46672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CE9E4"/>
          </a:solidFill>
          <a:ln xmlns:a="http://schemas.openxmlformats.org/drawingml/2006/main" w="0">
            <a:solidFill>
              <a:srgbClr val="FCE9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B1A95B-A81A-4138-A4A8-8C1FE8FEB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907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Why the build failed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0FD5DA-C02E-497B-ABEA-C9A57297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62250"/>
            <a:ext cx="381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31F"/>
                </a:solidFill>
                <a:latin typeface="Arial"/>
                <a:ea typeface="Arial"/>
                <a:cs typeface="Arial"/>
              </a:rPr>
              <a:t>Render selected Python 3.14.3 by default. The package installer then reported that no compatible tensorflow&gt;=2.15 distribution was available.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1FCA55-745A-4C98-ADA6-FF861867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57625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86058"/>
                </a:solidFill>
                <a:latin typeface="Arial"/>
                <a:ea typeface="Arial"/>
                <a:cs typeface="Arial"/>
              </a:rPr>
              <a:t>Observed build error:</a:t>
            </a:r>
          </a:p>
          <a:p xmlns:a="http://schemas.openxmlformats.org/drawingml/2006/main">
            <a:pPr>
              <a:defRPr sz="1125" b="1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86058"/>
                </a:solidFill>
                <a:latin typeface="Arial"/>
                <a:ea typeface="Arial"/>
                <a:cs typeface="Arial"/>
              </a:rPr>
              <a:t>No matching distribution found for tensorflow&gt;=2.15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EC4ED7-7274-4F7A-B98E-F5FFF5F1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47850"/>
            <a:ext cx="53149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E4F4F0"/>
          </a:solidFill>
          <a:ln xmlns:a="http://schemas.openxmlformats.org/drawingml/2006/main" w="0">
            <a:solidFill>
              <a:srgbClr val="E4F4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622A73-8AF2-4A15-92AB-3D706F74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1907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Configured solution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F74ACF-7C12-42BE-93F9-A516C438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743200"/>
            <a:ext cx="42386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31F"/>
                </a:solidFill>
                <a:latin typeface="Arial"/>
                <a:ea typeface="Arial"/>
                <a:cs typeface="Arial"/>
              </a:rPr>
              <a:t>1. Set the Render environment variable PYTHON_VERSION to 3.11.9.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31F"/>
                </a:solidFill>
                <a:latin typeface="Arial"/>
                <a:ea typeface="Arial"/>
                <a:cs typeface="Arial"/>
              </a:rPr>
              <a:t>2. Keep runtime.txt and .python-version set to 3.11.9.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31F"/>
                </a:solidFill>
                <a:latin typeface="Arial"/>
                <a:ea typeface="Arial"/>
                <a:cs typeface="Arial"/>
              </a:rPr>
              <a:t>3. Clear the build cache, then deploy again.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AF8996-16CE-4405-993F-F6C27E2F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81600"/>
            <a:ext cx="8763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76B52"/>
          </a:solidFill>
          <a:ln xmlns:a="http://schemas.openxmlformats.org/drawingml/2006/main" w="0">
            <a:solidFill>
              <a:srgbClr val="176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F2311B-3328-46A7-87A3-2EA8FA41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7210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Expected result after redeploy: TensorFlow installs on Python 3.11.9, and Gunicorn starts the Flask app.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CBFEFC-FA8C-405A-8142-D5FC483E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48605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178244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2026-10-11T18:49:52.2710000Z</dcterms:created>
  <dcterms:modified xsi:type="dcterms:W3CDTF">2026-10-11T18:49:52.2710000Z</dcterms:modified>
</coreProperties>
</file>